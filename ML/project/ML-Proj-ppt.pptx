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4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47" roundtripDataSignature="AMtx7mgB7XdgvCVGe9g7uA5S0nTNjczqp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AA6D5DF9-2DD3-4A98-8D5F-7929D9D3C23A}">
  <a:tblStyle styleId="{AA6D5DF9-2DD3-4A98-8D5F-7929D9D3C23A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customschemas.google.com/relationships/presentationmetadata" Target="metadata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aa7e3fc8be_0_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90" name="Google Shape;90;g3aa7e3fc8be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9a284b7f17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98" name="Google Shape;98;g39a284b7f17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9a284b7f17_1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21" name="Google Shape;121;g39a284b7f17_1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39a284b7f17_2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Define what a query is - images that </a:t>
            </a:r>
            <a:endParaRPr/>
          </a:p>
        </p:txBody>
      </p:sp>
      <p:sp>
        <p:nvSpPr>
          <p:cNvPr id="144" name="Google Shape;144;g39a284b7f17_2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39a3552e755_2_5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Define what a query is - images that </a:t>
            </a:r>
            <a:endParaRPr/>
          </a:p>
        </p:txBody>
      </p:sp>
      <p:sp>
        <p:nvSpPr>
          <p:cNvPr id="168" name="Google Shape;168;g39a3552e755_2_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ab687fb00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92" name="Google Shape;192;g3ab687fb00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ab687fb00f_0_1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19" name="Google Shape;219;g3ab687fb00f_0_1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9a3552e755_2_8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44" name="Google Shape;244;g39a3552e755_2_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g39a3552e755_2_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69" name="Google Shape;269;g39a3552e755_2_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39a284b7f17_2_9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94" name="Google Shape;294;g39a284b7f17_2_9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g3abb6a546c7_0_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17" name="Google Shape;317;g3abb6a546c7_0_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g3ab687fb00f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87" name="Google Shape;387;g3ab687fb00f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3abb6a546c7_0_1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10" name="Google Shape;410;g3abb6a546c7_0_1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Google Shape;444;g3abb6a546c7_0_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45" name="Google Shape;445;g3abb6a546c7_0_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" name="Google Shape;481;g3abb6a546c7_0_1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82" name="Google Shape;482;g3abb6a546c7_0_1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Google Shape;510;g3abb6a546c7_0_2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511" name="Google Shape;511;g3abb6a546c7_0_2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Google Shape;545;g3abb6a546c7_0_2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546" name="Google Shape;546;g3abb6a546c7_0_2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g3abb6a546c7_0_2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577" name="Google Shape;577;g3abb6a546c7_0_2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Google Shape;605;g3abb6a546c7_0_60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606" name="Google Shape;606;g3abb6a546c7_0_6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6" name="Google Shape;636;g3ab687fb00f_0_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637" name="Google Shape;637;g3ab687fb00f_0_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Google Shape;662;g39a284b7f17_11_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663" name="Google Shape;663;g39a284b7f17_11_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5" name="Google Shape;685;g39a3552e755_9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686" name="Google Shape;686;g39a3552e755_9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9" name="Google Shape;709;g39a284b7f17_11_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710" name="Google Shape;710;g39a284b7f17_11_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3" name="Google Shape;733;g39a3231195e_0_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734" name="Google Shape;734;g39a3231195e_0_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39a3231195e_0_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758" name="Google Shape;758;g39a3231195e_0_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1" name="Google Shape;781;g39a3231195e_0_1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782" name="Google Shape;782;g39a3231195e_0_1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Google Shape;804;g39a3231195e_0_2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805" name="Google Shape;805;g39a3231195e_0_2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8" name="Google Shape;828;g39a3231195e_0_2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829" name="Google Shape;829;g39a3231195e_0_2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4" name="Google Shape;854;g39a3231195e_0_2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855" name="Google Shape;855;g39a3231195e_0_2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9" name="Google Shape;879;g39a284b7f17_11_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880" name="Google Shape;880;g39a284b7f17_11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2" name="Google Shape;902;g3aba38fc11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903" name="Google Shape;903;g3aba38fc11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8" name="Google Shape;928;g3aa9fb5ca3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929" name="Google Shape;929;g3aa9fb5ca3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4" name="Google Shape;954;g3aa9fb5ca3f_0_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955" name="Google Shape;955;g3aa9fb5ca3f_0_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0" name="Google Shape;980;g39a337dd114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981" name="Google Shape;981;g39a337dd114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2" name="Google Shape;1022;g39a284b7f17_11_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023" name="Google Shape;1023;g39a284b7f17_11_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5" name="Google Shape;1045;g3aab165c69e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In current industry practice, tree-based approaches are only one category of commonly adopted solutions. Graph-based and hashing-based methods are also widely used at the industry level. </a:t>
            </a:r>
            <a:endParaRPr/>
          </a:p>
        </p:txBody>
      </p:sp>
      <p:sp>
        <p:nvSpPr>
          <p:cNvPr id="1046" name="Google Shape;1046;g3aab165c69e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2" name="Google Shape;1072;g3aab165c69e_0_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b="1">
                <a:solidFill>
                  <a:schemeClr val="dk1"/>
                </a:solidFill>
              </a:rPr>
              <a:t>HNSW</a:t>
            </a:r>
            <a:r>
              <a:rPr lang="en-US">
                <a:solidFill>
                  <a:schemeClr val="dk1"/>
                </a:solidFill>
              </a:rPr>
              <a:t> is widely regarded as the </a:t>
            </a:r>
            <a:r>
              <a:rPr lang="en-US" b="1">
                <a:solidFill>
                  <a:schemeClr val="dk1"/>
                </a:solidFill>
              </a:rPr>
              <a:t>industrial standard</a:t>
            </a:r>
            <a:r>
              <a:rPr lang="en-US">
                <a:solidFill>
                  <a:schemeClr val="dk1"/>
                </a:solidFill>
              </a:rPr>
              <a:t> today.  HNSW organizes data in a multi-layer graph. The upper layers allow very </a:t>
            </a:r>
            <a:r>
              <a:rPr lang="en-US" b="1">
                <a:solidFill>
                  <a:schemeClr val="dk1"/>
                </a:solidFill>
              </a:rPr>
              <a:t>fast coarse search</a:t>
            </a:r>
            <a:r>
              <a:rPr lang="en-US">
                <a:solidFill>
                  <a:schemeClr val="dk1"/>
                </a:solidFill>
              </a:rPr>
              <a:t>,  while the lower layers provide </a:t>
            </a:r>
            <a:r>
              <a:rPr lang="en-US" b="1">
                <a:solidFill>
                  <a:schemeClr val="dk1"/>
                </a:solidFill>
              </a:rPr>
              <a:t>accurate local refinement</a:t>
            </a:r>
            <a:r>
              <a:rPr lang="en-US">
                <a:solidFill>
                  <a:schemeClr val="dk1"/>
                </a:solidFill>
              </a:rPr>
              <a:t>.  Both the graph construction process and the search process follow a </a:t>
            </a:r>
            <a:r>
              <a:rPr lang="en-US" b="1">
                <a:solidFill>
                  <a:schemeClr val="dk1"/>
                </a:solidFill>
              </a:rPr>
              <a:t>top-down navigation strategy</a:t>
            </a:r>
            <a:r>
              <a:rPr lang="en-US">
                <a:solidFill>
                  <a:schemeClr val="dk1"/>
                </a:solidFill>
              </a:rPr>
              <a:t>.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1073" name="Google Shape;1073;g3aab165c69e_0_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Google Shape;1099;g3aab165c69e_0_7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>
                <a:solidFill>
                  <a:schemeClr val="dk1"/>
                </a:solidFill>
              </a:rPr>
              <a:t>Deep hashing aims to convert the high-dimensional feature vectors produced by neural networks into </a:t>
            </a:r>
            <a:r>
              <a:rPr lang="en-US" b="1">
                <a:solidFill>
                  <a:schemeClr val="dk1"/>
                </a:solidFill>
              </a:rPr>
              <a:t>compact binary codes；</a:t>
            </a:r>
            <a:r>
              <a:rPr lang="en-US" sz="1200">
                <a:solidFill>
                  <a:schemeClr val="dk1"/>
                </a:solidFill>
              </a:rPr>
              <a:t>Apply </a:t>
            </a:r>
            <a:r>
              <a:rPr lang="en-US" sz="1200" b="1">
                <a:solidFill>
                  <a:schemeClr val="dk1"/>
                </a:solidFill>
              </a:rPr>
              <a:t>binarization layer</a:t>
            </a:r>
            <a:r>
              <a:rPr lang="en-US" sz="1200">
                <a:solidFill>
                  <a:schemeClr val="dk1"/>
                </a:solidFill>
              </a:rPr>
              <a:t> → output binary code</a:t>
            </a:r>
            <a:r>
              <a:rPr lang="en-US" sz="1200" b="1">
                <a:solidFill>
                  <a:schemeClr val="dk1"/>
                </a:solidFill>
              </a:rPr>
              <a:t>;</a:t>
            </a:r>
            <a:r>
              <a:rPr lang="en-US" sz="1200">
                <a:solidFill>
                  <a:schemeClr val="dk1"/>
                </a:solidFill>
              </a:rPr>
              <a:t> Store code in database; Query = compute binary code → compare using fast Hamming distance</a:t>
            </a:r>
            <a:endParaRPr sz="1200" b="1">
              <a:solidFill>
                <a:schemeClr val="dk1"/>
              </a:solidFill>
            </a:endParaRPr>
          </a:p>
        </p:txBody>
      </p:sp>
      <p:sp>
        <p:nvSpPr>
          <p:cNvPr id="1100" name="Google Shape;1100;g3aab165c69e_0_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3" name="Google Shape;1133;g39a284b7f17_9_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34" name="Google Shape;1134;g39a284b7f17_9_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7" name="Google Shape;1157;g3ade42c3485_0_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58" name="Google Shape;1158;g3ade42c3485_0_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40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40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4" name="Google Shape;14;p4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4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4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" name="Google Shape;20;p4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4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4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4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2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6" name="Google Shape;26;p42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7" name="Google Shape;27;p4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4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4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3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43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3" name="Google Shape;33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44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44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9" name="Google Shape;39;p44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44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44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4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4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4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4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4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4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4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4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4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4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47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47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47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8" name="Google Shape;58;p4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4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4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48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48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48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5" name="Google Shape;65;p4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4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4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4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9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4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4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4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50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50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5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5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5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3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39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3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3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3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5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5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image" Target="../media/image5.png"/><Relationship Id="rId7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image" Target="../media/image5.png"/><Relationship Id="rId7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5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5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image" Target="../media/image14.png"/><Relationship Id="rId7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Relationship Id="rId9" Type="http://schemas.openxmlformats.org/officeDocument/2006/relationships/image" Target="../media/image15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5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7.png"/><Relationship Id="rId4" Type="http://schemas.openxmlformats.org/officeDocument/2006/relationships/image" Target="../media/image6.png"/><Relationship Id="rId9" Type="http://schemas.openxmlformats.org/officeDocument/2006/relationships/image" Target="../media/image17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5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7.png"/><Relationship Id="rId4" Type="http://schemas.openxmlformats.org/officeDocument/2006/relationships/image" Target="../media/image6.png"/><Relationship Id="rId9" Type="http://schemas.openxmlformats.org/officeDocument/2006/relationships/image" Target="../media/image19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5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7.png"/><Relationship Id="rId10" Type="http://schemas.openxmlformats.org/officeDocument/2006/relationships/image" Target="../media/image22.png"/><Relationship Id="rId4" Type="http://schemas.openxmlformats.org/officeDocument/2006/relationships/image" Target="../media/image6.png"/><Relationship Id="rId9" Type="http://schemas.openxmlformats.org/officeDocument/2006/relationships/image" Target="../media/image21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5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7.png"/><Relationship Id="rId4" Type="http://schemas.openxmlformats.org/officeDocument/2006/relationships/image" Target="../media/image6.png"/><Relationship Id="rId9" Type="http://schemas.openxmlformats.org/officeDocument/2006/relationships/image" Target="../media/image24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5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7.png"/><Relationship Id="rId4" Type="http://schemas.openxmlformats.org/officeDocument/2006/relationships/image" Target="../media/image6.png"/><Relationship Id="rId9" Type="http://schemas.openxmlformats.org/officeDocument/2006/relationships/image" Target="../media/image26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5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7.png"/><Relationship Id="rId4" Type="http://schemas.openxmlformats.org/officeDocument/2006/relationships/image" Target="../media/image6.png"/><Relationship Id="rId9" Type="http://schemas.openxmlformats.org/officeDocument/2006/relationships/image" Target="../media/image26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5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7.png"/><Relationship Id="rId10" Type="http://schemas.openxmlformats.org/officeDocument/2006/relationships/image" Target="../media/image30.png"/><Relationship Id="rId4" Type="http://schemas.openxmlformats.org/officeDocument/2006/relationships/image" Target="../media/image6.png"/><Relationship Id="rId9" Type="http://schemas.openxmlformats.org/officeDocument/2006/relationships/image" Target="../media/image29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5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5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5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5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5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5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7.png"/><Relationship Id="rId10" Type="http://schemas.openxmlformats.org/officeDocument/2006/relationships/image" Target="../media/image38.png"/><Relationship Id="rId4" Type="http://schemas.openxmlformats.org/officeDocument/2006/relationships/image" Target="../media/image6.png"/><Relationship Id="rId9" Type="http://schemas.openxmlformats.org/officeDocument/2006/relationships/image" Target="../media/image37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openxmlformats.org/officeDocument/2006/relationships/image" Target="../media/image5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7.png"/><Relationship Id="rId4" Type="http://schemas.openxmlformats.org/officeDocument/2006/relationships/image" Target="../media/image6.png"/><Relationship Id="rId9" Type="http://schemas.openxmlformats.org/officeDocument/2006/relationships/image" Target="../media/image40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13" Type="http://schemas.openxmlformats.org/officeDocument/2006/relationships/image" Target="../media/image46.png"/><Relationship Id="rId3" Type="http://schemas.openxmlformats.org/officeDocument/2006/relationships/image" Target="../media/image5.png"/><Relationship Id="rId7" Type="http://schemas.openxmlformats.org/officeDocument/2006/relationships/image" Target="../media/image3.png"/><Relationship Id="rId12" Type="http://schemas.openxmlformats.org/officeDocument/2006/relationships/image" Target="../media/image45.png"/><Relationship Id="rId2" Type="http://schemas.openxmlformats.org/officeDocument/2006/relationships/notesSlide" Target="../notesSlides/notesSlide35.xml"/><Relationship Id="rId16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11" Type="http://schemas.openxmlformats.org/officeDocument/2006/relationships/image" Target="../media/image44.png"/><Relationship Id="rId5" Type="http://schemas.openxmlformats.org/officeDocument/2006/relationships/image" Target="../media/image7.png"/><Relationship Id="rId15" Type="http://schemas.openxmlformats.org/officeDocument/2006/relationships/image" Target="../media/image48.png"/><Relationship Id="rId10" Type="http://schemas.openxmlformats.org/officeDocument/2006/relationships/image" Target="../media/image43.png"/><Relationship Id="rId4" Type="http://schemas.openxmlformats.org/officeDocument/2006/relationships/image" Target="../media/image6.png"/><Relationship Id="rId9" Type="http://schemas.openxmlformats.org/officeDocument/2006/relationships/image" Target="../media/image42.png"/><Relationship Id="rId14" Type="http://schemas.openxmlformats.org/officeDocument/2006/relationships/image" Target="../media/image47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image" Target="../media/image5.png"/><Relationship Id="rId7" Type="http://schemas.openxmlformats.org/officeDocument/2006/relationships/image" Target="../media/image2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image" Target="../media/image5.png"/><Relationship Id="rId7" Type="http://schemas.openxmlformats.org/officeDocument/2006/relationships/image" Target="../media/image2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1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4.png"/><Relationship Id="rId13" Type="http://schemas.openxmlformats.org/officeDocument/2006/relationships/image" Target="../media/image3.png"/><Relationship Id="rId3" Type="http://schemas.openxmlformats.org/officeDocument/2006/relationships/image" Target="../media/image5.png"/><Relationship Id="rId7" Type="http://schemas.openxmlformats.org/officeDocument/2006/relationships/image" Target="../media/image53.png"/><Relationship Id="rId12" Type="http://schemas.openxmlformats.org/officeDocument/2006/relationships/image" Target="../media/image2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2.png"/><Relationship Id="rId11" Type="http://schemas.openxmlformats.org/officeDocument/2006/relationships/image" Target="../media/image57.png"/><Relationship Id="rId5" Type="http://schemas.openxmlformats.org/officeDocument/2006/relationships/image" Target="../media/image7.png"/><Relationship Id="rId10" Type="http://schemas.openxmlformats.org/officeDocument/2006/relationships/image" Target="../media/image56.png"/><Relationship Id="rId4" Type="http://schemas.openxmlformats.org/officeDocument/2006/relationships/image" Target="../media/image6.png"/><Relationship Id="rId9" Type="http://schemas.openxmlformats.org/officeDocument/2006/relationships/image" Target="../media/image55.png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5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501782" y="-935852"/>
            <a:ext cx="13053689" cy="12579996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44000"/>
              </a:srgbClr>
            </a:outerShdw>
            <a:reflection endPos="30000" dist="38100" dir="5400000" fadeDir="5400012" sy="-100000" algn="bl" rotWithShape="0"/>
          </a:effectLst>
        </p:spPr>
      </p:pic>
      <p:sp>
        <p:nvSpPr>
          <p:cNvPr id="85" name="Google Shape;85;p1"/>
          <p:cNvSpPr txBox="1"/>
          <p:nvPr/>
        </p:nvSpPr>
        <p:spPr>
          <a:xfrm>
            <a:off x="-25" y="243875"/>
            <a:ext cx="6771900" cy="27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600"/>
              <a:buFont typeface="Arial"/>
              <a:buNone/>
            </a:pPr>
            <a:r>
              <a:rPr lang="en-US" sz="43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Efficient Image Retrieval Using Hierarchical K-Means Clustering</a:t>
            </a:r>
            <a:endParaRPr sz="4300" b="0" i="0" u="none" strike="noStrike" cap="none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86" name="Google Shape;86;p1"/>
          <p:cNvSpPr txBox="1"/>
          <p:nvPr/>
        </p:nvSpPr>
        <p:spPr>
          <a:xfrm>
            <a:off x="-25" y="2663400"/>
            <a:ext cx="6868500" cy="410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-US" sz="2400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TEAM PROJECT</a:t>
            </a:r>
            <a:endParaRPr sz="2000" b="0" i="0" u="none" strike="noStrike" cap="none">
              <a:solidFill>
                <a:srgbClr val="FFFFFF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0" marR="0" lvl="0" indent="0" algn="l" rtl="0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000" b="0" i="0" u="none" strike="noStrike" cap="non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Subject : </a:t>
            </a:r>
            <a:r>
              <a:rPr lang="en-US" sz="2000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MACHINE LEARNING PROFESSIONAL</a:t>
            </a:r>
            <a:endParaRPr sz="2000">
              <a:solidFill>
                <a:srgbClr val="FFFFFF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0" marR="0" lvl="0" indent="0" algn="l" rtl="0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000">
              <a:solidFill>
                <a:srgbClr val="FFFFFF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1700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Members: </a:t>
            </a:r>
            <a:endParaRPr sz="1700">
              <a:solidFill>
                <a:srgbClr val="FFFFFF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457200" lvl="0" indent="-336550" algn="l" rtl="0"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Georgia"/>
              <a:buChar char="●"/>
            </a:pPr>
            <a:r>
              <a:rPr lang="en-US" sz="1700">
                <a:solidFill>
                  <a:schemeClr val="lt1"/>
                </a:solidFill>
                <a:latin typeface="Georgia"/>
                <a:ea typeface="Georgia"/>
                <a:cs typeface="Georgia"/>
                <a:sym typeface="Georgia"/>
              </a:rPr>
              <a:t>Ronit Dutta (1010683)</a:t>
            </a:r>
            <a:endParaRPr sz="1700">
              <a:solidFill>
                <a:schemeClr val="lt1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Georgia"/>
              <a:buChar char="●"/>
            </a:pPr>
            <a:r>
              <a:rPr lang="en-US" sz="1700">
                <a:solidFill>
                  <a:schemeClr val="lt1"/>
                </a:solidFill>
                <a:latin typeface="Georgia"/>
                <a:ea typeface="Georgia"/>
                <a:cs typeface="Georgia"/>
                <a:sym typeface="Georgia"/>
              </a:rPr>
              <a:t>Nan Li (1009421)</a:t>
            </a:r>
            <a:endParaRPr sz="1700">
              <a:solidFill>
                <a:srgbClr val="FFFFFF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457200" lvl="0" indent="-336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Georgia"/>
              <a:buChar char="●"/>
            </a:pPr>
            <a:r>
              <a:rPr lang="en-US" sz="1700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Mohamed Mukhtar (1009406)</a:t>
            </a:r>
            <a:endParaRPr sz="1700">
              <a:solidFill>
                <a:srgbClr val="FFFFFF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457200" lvl="0" indent="-336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Georgia"/>
              <a:buChar char="●"/>
            </a:pPr>
            <a:r>
              <a:rPr lang="en-US" sz="1700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Afifah Mesha Putri (1010690)</a:t>
            </a:r>
            <a:endParaRPr sz="1700">
              <a:solidFill>
                <a:srgbClr val="FFFFFF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Georgia"/>
              <a:buChar char="●"/>
            </a:pPr>
            <a:r>
              <a:rPr lang="en-US" sz="1700">
                <a:solidFill>
                  <a:schemeClr val="lt1"/>
                </a:solidFill>
                <a:latin typeface="Georgia"/>
                <a:ea typeface="Georgia"/>
                <a:cs typeface="Georgia"/>
                <a:sym typeface="Georgia"/>
              </a:rPr>
              <a:t>Timothy Wee (1005545)</a:t>
            </a:r>
            <a:endParaRPr sz="1700">
              <a:solidFill>
                <a:srgbClr val="FFFFFF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pic>
        <p:nvPicPr>
          <p:cNvPr id="87" name="Google Shape;87;p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586925" y="2587993"/>
            <a:ext cx="4312870" cy="1682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g3aa7e3fc8be_0_2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g3aa7e3fc8be_0_22"/>
          <p:cNvSpPr txBox="1"/>
          <p:nvPr/>
        </p:nvSpPr>
        <p:spPr>
          <a:xfrm>
            <a:off x="-1" y="6234672"/>
            <a:ext cx="59811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Machine Learning Professional</a:t>
            </a:r>
            <a:b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Project</a:t>
            </a: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Presentation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94" name="Google Shape;94;g3aa7e3fc8be_0_22"/>
          <p:cNvPicPr preferRelativeResize="0"/>
          <p:nvPr/>
        </p:nvPicPr>
        <p:blipFill rotWithShape="1">
          <a:blip r:embed="rId4">
            <a:alphaModFix/>
          </a:blip>
          <a:srcRect r="2056"/>
          <a:stretch/>
        </p:blipFill>
        <p:spPr>
          <a:xfrm>
            <a:off x="3546225" y="46650"/>
            <a:ext cx="4994875" cy="6138949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g3aa7e3fc8be_0_2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0590875" y="6330524"/>
            <a:ext cx="1500023" cy="585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g39a284b7f17_0_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g39a284b7f17_0_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590934" y="6330522"/>
            <a:ext cx="1499906" cy="585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g39a284b7f17_0_5"/>
          <p:cNvSpPr txBox="1"/>
          <p:nvPr/>
        </p:nvSpPr>
        <p:spPr>
          <a:xfrm>
            <a:off x="-1" y="6288587"/>
            <a:ext cx="5981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Term Paper Presentation | Ronit Dutta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03" name="Google Shape;103;g39a284b7f17_0_5"/>
          <p:cNvSpPr txBox="1"/>
          <p:nvPr/>
        </p:nvSpPr>
        <p:spPr>
          <a:xfrm>
            <a:off x="0" y="0"/>
            <a:ext cx="12192000" cy="63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5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OUTLINE</a:t>
            </a:r>
            <a:endParaRPr sz="35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cxnSp>
        <p:nvCxnSpPr>
          <p:cNvPr id="104" name="Google Shape;104;g39a284b7f17_0_5"/>
          <p:cNvCxnSpPr/>
          <p:nvPr/>
        </p:nvCxnSpPr>
        <p:spPr>
          <a:xfrm rot="10800000" flipH="1">
            <a:off x="6" y="654189"/>
            <a:ext cx="6318000" cy="30600"/>
          </a:xfrm>
          <a:prstGeom prst="straightConnector1">
            <a:avLst/>
          </a:prstGeom>
          <a:noFill/>
          <a:ln w="9525" cap="flat" cmpd="sng">
            <a:solidFill>
              <a:srgbClr val="0E4D3B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05" name="Google Shape;105;g39a284b7f17_0_5"/>
          <p:cNvSpPr txBox="1"/>
          <p:nvPr/>
        </p:nvSpPr>
        <p:spPr>
          <a:xfrm>
            <a:off x="265800" y="1660150"/>
            <a:ext cx="11603400" cy="290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457200" lvl="0" indent="-3556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eorgia"/>
              <a:buAutoNum type="arabicPeriod"/>
            </a:pPr>
            <a:r>
              <a:rPr lang="en-US" sz="2000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Introduction &amp; Data Selection</a:t>
            </a:r>
            <a:endParaRPr sz="2000">
              <a:solidFill>
                <a:schemeClr val="dk1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457200" lvl="0" indent="-3556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eorgia"/>
              <a:buAutoNum type="arabicPeriod"/>
            </a:pPr>
            <a:r>
              <a:rPr lang="en-US" sz="2000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Mechanics</a:t>
            </a:r>
            <a:endParaRPr sz="2000">
              <a:solidFill>
                <a:schemeClr val="dk1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457200" lvl="0" indent="-3556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eorgia"/>
              <a:buAutoNum type="arabicPeriod"/>
            </a:pPr>
            <a:r>
              <a:rPr lang="en-US" sz="2000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Accuracy vs compute tradeoff</a:t>
            </a:r>
            <a:endParaRPr sz="2000">
              <a:solidFill>
                <a:schemeClr val="dk1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457200" lvl="0" indent="-3556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eorgia"/>
              <a:buAutoNum type="arabicPeriod"/>
            </a:pPr>
            <a:r>
              <a:rPr lang="en-US" sz="2000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Advantages, Disadvantages and Experimental Results</a:t>
            </a:r>
            <a:endParaRPr sz="2000">
              <a:solidFill>
                <a:schemeClr val="dk1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457200" lvl="0" indent="-3556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eorgia"/>
              <a:buAutoNum type="arabicPeriod"/>
            </a:pPr>
            <a:r>
              <a:rPr lang="en-US" sz="2000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Future directions</a:t>
            </a:r>
            <a:endParaRPr sz="2000">
              <a:solidFill>
                <a:schemeClr val="dk1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pic>
        <p:nvPicPr>
          <p:cNvPr id="106" name="Google Shape;106;g39a284b7f17_0_5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7" name="Google Shape;107;g39a284b7f17_0_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590934" y="6330522"/>
            <a:ext cx="1499906" cy="585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g39a284b7f17_0_5"/>
          <p:cNvSpPr txBox="1"/>
          <p:nvPr/>
        </p:nvSpPr>
        <p:spPr>
          <a:xfrm>
            <a:off x="-1" y="6288587"/>
            <a:ext cx="5981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Term Paper Presentation | Ronit Dutta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109" name="Google Shape;109;g39a284b7f17_0_5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g39a284b7f17_0_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590934" y="6330522"/>
            <a:ext cx="1499906" cy="585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Google Shape;111;g39a284b7f17_0_5"/>
          <p:cNvSpPr txBox="1"/>
          <p:nvPr/>
        </p:nvSpPr>
        <p:spPr>
          <a:xfrm>
            <a:off x="-1" y="6288587"/>
            <a:ext cx="59811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Machine Learning Professional</a:t>
            </a:r>
            <a:b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Project</a:t>
            </a: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Presentation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112" name="Google Shape;112;g39a284b7f17_0_5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590875" y="6341462"/>
            <a:ext cx="1500023" cy="585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3" name="Google Shape;113;g39a284b7f17_0_5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g39a284b7f17_0_5"/>
          <p:cNvSpPr txBox="1"/>
          <p:nvPr/>
        </p:nvSpPr>
        <p:spPr>
          <a:xfrm>
            <a:off x="-1" y="6288587"/>
            <a:ext cx="59811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Machine Learning Professional</a:t>
            </a:r>
            <a:b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Project</a:t>
            </a: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Presentation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115" name="Google Shape;115;g39a284b7f17_0_5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590875" y="6330524"/>
            <a:ext cx="1500023" cy="585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6" name="Google Shape;116;g39a284b7f17_0_5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sp>
        <p:nvSpPr>
          <p:cNvPr id="117" name="Google Shape;117;g39a284b7f17_0_5"/>
          <p:cNvSpPr txBox="1"/>
          <p:nvPr/>
        </p:nvSpPr>
        <p:spPr>
          <a:xfrm>
            <a:off x="-1" y="6234672"/>
            <a:ext cx="59811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Machine Learning Professional</a:t>
            </a:r>
            <a:b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Project</a:t>
            </a: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Presentation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118" name="Google Shape;118;g39a284b7f17_0_5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590875" y="6330524"/>
            <a:ext cx="1500023" cy="585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3" name="Google Shape;123;g39a284b7f17_11_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124" name="Google Shape;124;g39a284b7f17_11_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590934" y="6330522"/>
            <a:ext cx="1499906" cy="585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5" name="Google Shape;125;g39a284b7f17_11_0"/>
          <p:cNvSpPr txBox="1"/>
          <p:nvPr/>
        </p:nvSpPr>
        <p:spPr>
          <a:xfrm>
            <a:off x="-1" y="6288587"/>
            <a:ext cx="5981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Term Paper Presentation | Ronit Dutta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26" name="Google Shape;126;g39a284b7f17_11_0"/>
          <p:cNvSpPr txBox="1"/>
          <p:nvPr/>
        </p:nvSpPr>
        <p:spPr>
          <a:xfrm>
            <a:off x="0" y="0"/>
            <a:ext cx="12192000" cy="63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5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OUTLINE</a:t>
            </a:r>
            <a:endParaRPr sz="35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cxnSp>
        <p:nvCxnSpPr>
          <p:cNvPr id="127" name="Google Shape;127;g39a284b7f17_11_0"/>
          <p:cNvCxnSpPr/>
          <p:nvPr/>
        </p:nvCxnSpPr>
        <p:spPr>
          <a:xfrm rot="10800000" flipH="1">
            <a:off x="6" y="654189"/>
            <a:ext cx="6318000" cy="30600"/>
          </a:xfrm>
          <a:prstGeom prst="straightConnector1">
            <a:avLst/>
          </a:prstGeom>
          <a:noFill/>
          <a:ln w="9525" cap="flat" cmpd="sng">
            <a:solidFill>
              <a:srgbClr val="0E4D3B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28" name="Google Shape;128;g39a284b7f17_11_0"/>
          <p:cNvSpPr txBox="1"/>
          <p:nvPr/>
        </p:nvSpPr>
        <p:spPr>
          <a:xfrm>
            <a:off x="265800" y="1660150"/>
            <a:ext cx="11603400" cy="290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457200" lvl="0" indent="-3556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eorgia"/>
              <a:buAutoNum type="arabicPeriod"/>
            </a:pPr>
            <a:r>
              <a:rPr lang="en-US" sz="2000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Introduction &amp; Data Selection</a:t>
            </a:r>
            <a:endParaRPr sz="2000">
              <a:solidFill>
                <a:schemeClr val="dk1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457200" lvl="0" indent="-3556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2000"/>
              <a:buFont typeface="Georgia"/>
              <a:buAutoNum type="arabicPeriod"/>
            </a:pPr>
            <a:r>
              <a:rPr lang="en-US" sz="2000">
                <a:solidFill>
                  <a:srgbClr val="B7B7B7"/>
                </a:solidFill>
                <a:latin typeface="Georgia"/>
                <a:ea typeface="Georgia"/>
                <a:cs typeface="Georgia"/>
                <a:sym typeface="Georgia"/>
              </a:rPr>
              <a:t>Mechanics</a:t>
            </a:r>
            <a:endParaRPr sz="2000">
              <a:solidFill>
                <a:srgbClr val="B7B7B7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457200" lvl="0" indent="-3556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2000"/>
              <a:buFont typeface="Georgia"/>
              <a:buAutoNum type="arabicPeriod"/>
            </a:pPr>
            <a:r>
              <a:rPr lang="en-US" sz="2000">
                <a:solidFill>
                  <a:srgbClr val="B7B7B7"/>
                </a:solidFill>
                <a:latin typeface="Georgia"/>
                <a:ea typeface="Georgia"/>
                <a:cs typeface="Georgia"/>
                <a:sym typeface="Georgia"/>
              </a:rPr>
              <a:t>Accuracy vs compute tradeoff</a:t>
            </a:r>
            <a:endParaRPr sz="2000">
              <a:solidFill>
                <a:srgbClr val="B7B7B7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457200" lvl="0" indent="-3556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2000"/>
              <a:buFont typeface="Georgia"/>
              <a:buAutoNum type="arabicPeriod"/>
            </a:pPr>
            <a:r>
              <a:rPr lang="en-US" sz="2000">
                <a:solidFill>
                  <a:srgbClr val="B7B7B7"/>
                </a:solidFill>
                <a:latin typeface="Georgia"/>
                <a:ea typeface="Georgia"/>
                <a:cs typeface="Georgia"/>
                <a:sym typeface="Georgia"/>
              </a:rPr>
              <a:t>Advantages, Disadvantages and Experimental Results</a:t>
            </a:r>
            <a:endParaRPr sz="2000">
              <a:solidFill>
                <a:srgbClr val="B7B7B7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457200" lvl="0" indent="-3556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2000"/>
              <a:buFont typeface="Georgia"/>
              <a:buAutoNum type="arabicPeriod"/>
            </a:pPr>
            <a:r>
              <a:rPr lang="en-US" sz="2000">
                <a:solidFill>
                  <a:srgbClr val="B7B7B7"/>
                </a:solidFill>
                <a:latin typeface="Georgia"/>
                <a:ea typeface="Georgia"/>
                <a:cs typeface="Georgia"/>
                <a:sym typeface="Georgia"/>
              </a:rPr>
              <a:t>Future directions</a:t>
            </a:r>
            <a:endParaRPr sz="2000">
              <a:solidFill>
                <a:srgbClr val="B7B7B7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pic>
        <p:nvPicPr>
          <p:cNvPr id="129" name="Google Shape;129;g39a284b7f17_11_0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130" name="Google Shape;130;g39a284b7f17_11_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590934" y="6330522"/>
            <a:ext cx="1499906" cy="585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g39a284b7f17_11_0"/>
          <p:cNvSpPr txBox="1"/>
          <p:nvPr/>
        </p:nvSpPr>
        <p:spPr>
          <a:xfrm>
            <a:off x="-1" y="6288587"/>
            <a:ext cx="5981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Term Paper Presentation | Ronit Dutta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132" name="Google Shape;132;g39a284b7f17_11_0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g39a284b7f17_11_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590934" y="6330522"/>
            <a:ext cx="1499906" cy="585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g39a284b7f17_11_0"/>
          <p:cNvSpPr txBox="1"/>
          <p:nvPr/>
        </p:nvSpPr>
        <p:spPr>
          <a:xfrm>
            <a:off x="-1" y="6288587"/>
            <a:ext cx="59811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Machine Learning Professional</a:t>
            </a:r>
            <a:b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Project</a:t>
            </a: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Presentation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135" name="Google Shape;135;g39a284b7f17_11_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590875" y="6341462"/>
            <a:ext cx="1500023" cy="585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6" name="Google Shape;136;g39a284b7f17_11_0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sp>
        <p:nvSpPr>
          <p:cNvPr id="137" name="Google Shape;137;g39a284b7f17_11_0"/>
          <p:cNvSpPr txBox="1"/>
          <p:nvPr/>
        </p:nvSpPr>
        <p:spPr>
          <a:xfrm>
            <a:off x="-1" y="6288587"/>
            <a:ext cx="59811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Machine Learning Professional</a:t>
            </a:r>
            <a:b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Project</a:t>
            </a: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Presentation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138" name="Google Shape;138;g39a284b7f17_11_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590875" y="6330524"/>
            <a:ext cx="1500023" cy="585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9" name="Google Shape;139;g39a284b7f17_11_0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sp>
        <p:nvSpPr>
          <p:cNvPr id="140" name="Google Shape;140;g39a284b7f17_11_0"/>
          <p:cNvSpPr txBox="1"/>
          <p:nvPr/>
        </p:nvSpPr>
        <p:spPr>
          <a:xfrm>
            <a:off x="-1" y="6234672"/>
            <a:ext cx="59811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Machine Learning Professional</a:t>
            </a:r>
            <a:b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Project</a:t>
            </a: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Presentation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141" name="Google Shape;141;g39a284b7f17_11_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590875" y="6330524"/>
            <a:ext cx="1500023" cy="585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9a284b7f17_2_7"/>
          <p:cNvSpPr txBox="1"/>
          <p:nvPr/>
        </p:nvSpPr>
        <p:spPr>
          <a:xfrm>
            <a:off x="201100" y="1345200"/>
            <a:ext cx="5286600" cy="420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Content-based Image Retrieval (CBIR):</a:t>
            </a:r>
            <a:r>
              <a:rPr lang="en-US" sz="1800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 allows users to retrieve images from a large scale dataset, by describing the content of the image.</a:t>
            </a:r>
            <a:endParaRPr sz="1800">
              <a:solidFill>
                <a:schemeClr val="dk1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General approach: </a:t>
            </a:r>
            <a:r>
              <a:rPr lang="en-US" sz="1800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Modern CBIR strategies represent images as compact vectors, then utilise image-query similarity search.</a:t>
            </a:r>
            <a:endParaRPr sz="1800">
              <a:solidFill>
                <a:schemeClr val="dk1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pic>
        <p:nvPicPr>
          <p:cNvPr id="147" name="Google Shape;147;g39a284b7f17_2_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148" name="Google Shape;148;g39a284b7f17_2_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590934" y="6330522"/>
            <a:ext cx="1499906" cy="585000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g39a284b7f17_2_7"/>
          <p:cNvSpPr txBox="1"/>
          <p:nvPr/>
        </p:nvSpPr>
        <p:spPr>
          <a:xfrm>
            <a:off x="-1" y="6288587"/>
            <a:ext cx="5981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Term Paper Presentation | Ronit Dutta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0" name="Google Shape;150;g39a284b7f17_2_7"/>
          <p:cNvSpPr txBox="1"/>
          <p:nvPr/>
        </p:nvSpPr>
        <p:spPr>
          <a:xfrm>
            <a:off x="0" y="0"/>
            <a:ext cx="121920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Introduction</a:t>
            </a:r>
            <a:endParaRPr sz="32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cxnSp>
        <p:nvCxnSpPr>
          <p:cNvPr id="151" name="Google Shape;151;g39a284b7f17_2_7"/>
          <p:cNvCxnSpPr/>
          <p:nvPr/>
        </p:nvCxnSpPr>
        <p:spPr>
          <a:xfrm rot="10800000" flipH="1">
            <a:off x="6" y="654189"/>
            <a:ext cx="6318000" cy="30600"/>
          </a:xfrm>
          <a:prstGeom prst="straightConnector1">
            <a:avLst/>
          </a:prstGeom>
          <a:noFill/>
          <a:ln w="9525" cap="flat" cmpd="sng">
            <a:solidFill>
              <a:srgbClr val="0E4D3B"/>
            </a:solidFill>
            <a:prstDash val="solid"/>
            <a:miter lim="800000"/>
            <a:headEnd type="none" w="sm" len="sm"/>
            <a:tailEnd type="none" w="sm" len="sm"/>
          </a:ln>
        </p:spPr>
      </p:cxnSp>
      <p:pic>
        <p:nvPicPr>
          <p:cNvPr id="152" name="Google Shape;152;g39a284b7f17_2_7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153" name="Google Shape;153;g39a284b7f17_2_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590934" y="6330522"/>
            <a:ext cx="1499906" cy="585000"/>
          </a:xfrm>
          <a:prstGeom prst="rect">
            <a:avLst/>
          </a:prstGeom>
          <a:noFill/>
          <a:ln>
            <a:noFill/>
          </a:ln>
        </p:spPr>
      </p:pic>
      <p:sp>
        <p:nvSpPr>
          <p:cNvPr id="154" name="Google Shape;154;g39a284b7f17_2_7"/>
          <p:cNvSpPr txBox="1"/>
          <p:nvPr/>
        </p:nvSpPr>
        <p:spPr>
          <a:xfrm>
            <a:off x="-1" y="6288587"/>
            <a:ext cx="5981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Term Paper Presentation | Ronit Dutta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155" name="Google Shape;155;g39a284b7f17_2_7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156" name="Google Shape;156;g39a284b7f17_2_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590934" y="6330522"/>
            <a:ext cx="1499906" cy="585000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g39a284b7f17_2_7"/>
          <p:cNvSpPr txBox="1"/>
          <p:nvPr/>
        </p:nvSpPr>
        <p:spPr>
          <a:xfrm>
            <a:off x="-1" y="6288587"/>
            <a:ext cx="59811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Machine Learning Professional</a:t>
            </a:r>
            <a:b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Project</a:t>
            </a: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Presentation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158" name="Google Shape;158;g39a284b7f17_2_7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590875" y="6330524"/>
            <a:ext cx="1500023" cy="585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9" name="Google Shape;159;g39a284b7f17_2_7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g39a284b7f17_2_7"/>
          <p:cNvSpPr txBox="1"/>
          <p:nvPr/>
        </p:nvSpPr>
        <p:spPr>
          <a:xfrm>
            <a:off x="-1" y="6288587"/>
            <a:ext cx="59811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Machine Learning Professional</a:t>
            </a:r>
            <a:b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Project</a:t>
            </a: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Presentation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161" name="Google Shape;161;g39a284b7f17_2_7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590875" y="6330524"/>
            <a:ext cx="1500023" cy="585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2" name="Google Shape;162;g39a284b7f17_2_7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g39a284b7f17_2_7"/>
          <p:cNvSpPr txBox="1"/>
          <p:nvPr/>
        </p:nvSpPr>
        <p:spPr>
          <a:xfrm>
            <a:off x="-1" y="6234672"/>
            <a:ext cx="59811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Machine Learning Professional</a:t>
            </a:r>
            <a:b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Project</a:t>
            </a: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Presentation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164" name="Google Shape;164;g39a284b7f17_2_7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590875" y="6330524"/>
            <a:ext cx="1500023" cy="585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g39a284b7f17_2_7"/>
          <p:cNvPicPr preferRelativeResize="0"/>
          <p:nvPr/>
        </p:nvPicPr>
        <p:blipFill rotWithShape="1">
          <a:blip r:embed="rId8">
            <a:alphaModFix/>
          </a:blip>
          <a:srcRect l="29780" t="29588" b="5354"/>
          <a:stretch/>
        </p:blipFill>
        <p:spPr>
          <a:xfrm>
            <a:off x="5874000" y="1919750"/>
            <a:ext cx="6318000" cy="32926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39a3552e755_2_52"/>
          <p:cNvSpPr txBox="1"/>
          <p:nvPr/>
        </p:nvSpPr>
        <p:spPr>
          <a:xfrm>
            <a:off x="201100" y="1345200"/>
            <a:ext cx="5169600" cy="420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Challenge:</a:t>
            </a:r>
            <a:r>
              <a:rPr lang="en-US" sz="1800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 As image datasets grow extremely large, most CBIR strategies becomes slow and computationally expensive.</a:t>
            </a:r>
            <a:endParaRPr sz="1800">
              <a:solidFill>
                <a:schemeClr val="dk1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br>
              <a:rPr lang="en-US" sz="1800" b="1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</a:br>
            <a:r>
              <a:rPr lang="en-US" sz="1800" b="1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Research question:</a:t>
            </a:r>
            <a:r>
              <a:rPr lang="en-US" sz="1800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 how can we perform CBIR more quickly, with a lower computational cost?</a:t>
            </a:r>
            <a:endParaRPr sz="1800">
              <a:solidFill>
                <a:schemeClr val="dk1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pic>
        <p:nvPicPr>
          <p:cNvPr id="171" name="Google Shape;171;g39a3552e755_2_5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g39a3552e755_2_5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590934" y="6330522"/>
            <a:ext cx="1499906" cy="585000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g39a3552e755_2_52"/>
          <p:cNvSpPr txBox="1"/>
          <p:nvPr/>
        </p:nvSpPr>
        <p:spPr>
          <a:xfrm>
            <a:off x="-1" y="6288587"/>
            <a:ext cx="5981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Term Paper Presentation | Ronit Dutta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74" name="Google Shape;174;g39a3552e755_2_52"/>
          <p:cNvSpPr txBox="1"/>
          <p:nvPr/>
        </p:nvSpPr>
        <p:spPr>
          <a:xfrm>
            <a:off x="0" y="0"/>
            <a:ext cx="121920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Introduction</a:t>
            </a:r>
            <a:endParaRPr sz="32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cxnSp>
        <p:nvCxnSpPr>
          <p:cNvPr id="175" name="Google Shape;175;g39a3552e755_2_52"/>
          <p:cNvCxnSpPr/>
          <p:nvPr/>
        </p:nvCxnSpPr>
        <p:spPr>
          <a:xfrm rot="10800000" flipH="1">
            <a:off x="6" y="654189"/>
            <a:ext cx="6318000" cy="30600"/>
          </a:xfrm>
          <a:prstGeom prst="straightConnector1">
            <a:avLst/>
          </a:prstGeom>
          <a:noFill/>
          <a:ln w="9525" cap="flat" cmpd="sng">
            <a:solidFill>
              <a:srgbClr val="0E4D3B"/>
            </a:solidFill>
            <a:prstDash val="solid"/>
            <a:miter lim="800000"/>
            <a:headEnd type="none" w="sm" len="sm"/>
            <a:tailEnd type="none" w="sm" len="sm"/>
          </a:ln>
        </p:spPr>
      </p:cxnSp>
      <p:pic>
        <p:nvPicPr>
          <p:cNvPr id="176" name="Google Shape;176;g39a3552e755_2_52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177" name="Google Shape;177;g39a3552e755_2_5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590934" y="6330522"/>
            <a:ext cx="1499906" cy="585000"/>
          </a:xfrm>
          <a:prstGeom prst="rect">
            <a:avLst/>
          </a:prstGeom>
          <a:noFill/>
          <a:ln>
            <a:noFill/>
          </a:ln>
        </p:spPr>
      </p:pic>
      <p:sp>
        <p:nvSpPr>
          <p:cNvPr id="178" name="Google Shape;178;g39a3552e755_2_52"/>
          <p:cNvSpPr txBox="1"/>
          <p:nvPr/>
        </p:nvSpPr>
        <p:spPr>
          <a:xfrm>
            <a:off x="-1" y="6288587"/>
            <a:ext cx="5981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Term Paper Presentation | Ronit Dutta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179" name="Google Shape;179;g39a3552e755_2_52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180" name="Google Shape;180;g39a3552e755_2_5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590934" y="6330522"/>
            <a:ext cx="1499906" cy="585000"/>
          </a:xfrm>
          <a:prstGeom prst="rect">
            <a:avLst/>
          </a:prstGeom>
          <a:noFill/>
          <a:ln>
            <a:noFill/>
          </a:ln>
        </p:spPr>
      </p:pic>
      <p:sp>
        <p:nvSpPr>
          <p:cNvPr id="181" name="Google Shape;181;g39a3552e755_2_52"/>
          <p:cNvSpPr txBox="1"/>
          <p:nvPr/>
        </p:nvSpPr>
        <p:spPr>
          <a:xfrm>
            <a:off x="-1" y="6288587"/>
            <a:ext cx="59811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Machine Learning Professional</a:t>
            </a:r>
            <a:b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Project</a:t>
            </a: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Presentation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182" name="Google Shape;182;g39a3552e755_2_52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590875" y="6330524"/>
            <a:ext cx="1500023" cy="585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3" name="Google Shape;183;g39a3552e755_2_52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sp>
        <p:nvSpPr>
          <p:cNvPr id="184" name="Google Shape;184;g39a3552e755_2_52"/>
          <p:cNvSpPr txBox="1"/>
          <p:nvPr/>
        </p:nvSpPr>
        <p:spPr>
          <a:xfrm>
            <a:off x="-1" y="6288587"/>
            <a:ext cx="59811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Machine Learning Professional</a:t>
            </a:r>
            <a:b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Project</a:t>
            </a: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Presentation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185" name="Google Shape;185;g39a3552e755_2_52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590875" y="6330524"/>
            <a:ext cx="1500023" cy="585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6" name="Google Shape;186;g39a3552e755_2_52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sp>
        <p:nvSpPr>
          <p:cNvPr id="187" name="Google Shape;187;g39a3552e755_2_52"/>
          <p:cNvSpPr txBox="1"/>
          <p:nvPr/>
        </p:nvSpPr>
        <p:spPr>
          <a:xfrm>
            <a:off x="-1" y="6234672"/>
            <a:ext cx="59811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Machine Learning Professional</a:t>
            </a:r>
            <a:b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Project</a:t>
            </a: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Presentation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188" name="Google Shape;188;g39a3552e755_2_52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590875" y="6330524"/>
            <a:ext cx="1500023" cy="585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9" name="Google Shape;189;g39a3552e755_2_52"/>
          <p:cNvPicPr preferRelativeResize="0"/>
          <p:nvPr/>
        </p:nvPicPr>
        <p:blipFill rotWithShape="1">
          <a:blip r:embed="rId8">
            <a:alphaModFix/>
          </a:blip>
          <a:srcRect r="18817"/>
          <a:stretch/>
        </p:blipFill>
        <p:spPr>
          <a:xfrm>
            <a:off x="5550000" y="1791225"/>
            <a:ext cx="6642002" cy="3579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4" name="Google Shape;194;g3ab687fb00f_0_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195" name="Google Shape;195;g3ab687fb00f_0_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590934" y="6330522"/>
            <a:ext cx="1499906" cy="585000"/>
          </a:xfrm>
          <a:prstGeom prst="rect">
            <a:avLst/>
          </a:prstGeom>
          <a:noFill/>
          <a:ln>
            <a:noFill/>
          </a:ln>
        </p:spPr>
      </p:pic>
      <p:sp>
        <p:nvSpPr>
          <p:cNvPr id="196" name="Google Shape;196;g3ab687fb00f_0_0"/>
          <p:cNvSpPr txBox="1"/>
          <p:nvPr/>
        </p:nvSpPr>
        <p:spPr>
          <a:xfrm>
            <a:off x="-1" y="6288587"/>
            <a:ext cx="5981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Term Paper Presentation | Ronit Dutta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97" name="Google Shape;197;g3ab687fb00f_0_0"/>
          <p:cNvSpPr txBox="1"/>
          <p:nvPr/>
        </p:nvSpPr>
        <p:spPr>
          <a:xfrm>
            <a:off x="0" y="0"/>
            <a:ext cx="121920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Core Motivations</a:t>
            </a:r>
            <a:endParaRPr sz="32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cxnSp>
        <p:nvCxnSpPr>
          <p:cNvPr id="198" name="Google Shape;198;g3ab687fb00f_0_0"/>
          <p:cNvCxnSpPr/>
          <p:nvPr/>
        </p:nvCxnSpPr>
        <p:spPr>
          <a:xfrm rot="10800000" flipH="1">
            <a:off x="6" y="654189"/>
            <a:ext cx="6318000" cy="30600"/>
          </a:xfrm>
          <a:prstGeom prst="straightConnector1">
            <a:avLst/>
          </a:prstGeom>
          <a:noFill/>
          <a:ln w="9525" cap="flat" cmpd="sng">
            <a:solidFill>
              <a:srgbClr val="0E4D3B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99" name="Google Shape;199;g3ab687fb00f_0_0"/>
          <p:cNvSpPr txBox="1"/>
          <p:nvPr/>
        </p:nvSpPr>
        <p:spPr>
          <a:xfrm>
            <a:off x="201100" y="1345200"/>
            <a:ext cx="6052200" cy="420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eorgia"/>
              <a:buAutoNum type="arabicPeriod"/>
            </a:pPr>
            <a:r>
              <a:rPr lang="en-US" sz="1800" b="1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Computational Cost:</a:t>
            </a:r>
            <a:r>
              <a:rPr lang="en-US" sz="1800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 Computing similarity between query and all database images is prohibitively expensive</a:t>
            </a:r>
            <a:endParaRPr sz="1800">
              <a:solidFill>
                <a:schemeClr val="dk1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eorgia"/>
              <a:buAutoNum type="arabicPeriod"/>
            </a:pPr>
            <a:r>
              <a:rPr lang="en-US" sz="1800" b="1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Scale:</a:t>
            </a:r>
            <a:r>
              <a:rPr lang="en-US" sz="1800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 Internet-scale datasets with exponentially growing images and videos</a:t>
            </a:r>
            <a:endParaRPr sz="1800">
              <a:solidFill>
                <a:schemeClr val="dk1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eorgia"/>
              <a:buAutoNum type="arabicPeriod"/>
            </a:pPr>
            <a:r>
              <a:rPr lang="en-US" sz="1800" b="1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Real-time Requirement:</a:t>
            </a:r>
            <a:r>
              <a:rPr lang="en-US" sz="1800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 Fields like visual localisation in robotics need fast retrieval</a:t>
            </a:r>
            <a:endParaRPr sz="1800">
              <a:solidFill>
                <a:schemeClr val="dk1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eorgia"/>
              <a:buAutoNum type="arabicPeriod"/>
            </a:pPr>
            <a:r>
              <a:rPr lang="en-US" sz="1800" b="1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Research Gap:</a:t>
            </a:r>
            <a:r>
              <a:rPr lang="en-US" sz="1800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 While much is done to improve accuracy, retrieval speed improvements lag behind. Speed is needed for real-world applications</a:t>
            </a:r>
            <a:endParaRPr sz="1800">
              <a:solidFill>
                <a:schemeClr val="dk1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pic>
        <p:nvPicPr>
          <p:cNvPr id="200" name="Google Shape;200;g3ab687fb00f_0_0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201" name="Google Shape;201;g3ab687fb00f_0_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590934" y="6330522"/>
            <a:ext cx="1499906" cy="585000"/>
          </a:xfrm>
          <a:prstGeom prst="rect">
            <a:avLst/>
          </a:prstGeom>
          <a:noFill/>
          <a:ln>
            <a:noFill/>
          </a:ln>
        </p:spPr>
      </p:pic>
      <p:sp>
        <p:nvSpPr>
          <p:cNvPr id="202" name="Google Shape;202;g3ab687fb00f_0_0"/>
          <p:cNvSpPr txBox="1"/>
          <p:nvPr/>
        </p:nvSpPr>
        <p:spPr>
          <a:xfrm>
            <a:off x="-1" y="6288587"/>
            <a:ext cx="5981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Term Paper Presentation | Ronit Dutta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203" name="Google Shape;203;g3ab687fb00f_0_0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204" name="Google Shape;204;g3ab687fb00f_0_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590934" y="6330522"/>
            <a:ext cx="1499906" cy="585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5" name="Google Shape;205;g3ab687fb00f_0_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318000" y="1607602"/>
            <a:ext cx="5622451" cy="3546647"/>
          </a:xfrm>
          <a:prstGeom prst="rect">
            <a:avLst/>
          </a:prstGeom>
          <a:noFill/>
          <a:ln>
            <a:noFill/>
          </a:ln>
        </p:spPr>
      </p:pic>
      <p:sp>
        <p:nvSpPr>
          <p:cNvPr id="206" name="Google Shape;206;g3ab687fb00f_0_0"/>
          <p:cNvSpPr txBox="1"/>
          <p:nvPr/>
        </p:nvSpPr>
        <p:spPr>
          <a:xfrm>
            <a:off x="-1" y="6288587"/>
            <a:ext cx="59811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Machine Learning Professional</a:t>
            </a:r>
            <a:b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Project</a:t>
            </a: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Presentation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207" name="Google Shape;207;g3ab687fb00f_0_0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208" name="Google Shape;208;g3ab687fb00f_0_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590934" y="6330522"/>
            <a:ext cx="1499906" cy="585000"/>
          </a:xfrm>
          <a:prstGeom prst="rect">
            <a:avLst/>
          </a:prstGeom>
          <a:noFill/>
          <a:ln>
            <a:noFill/>
          </a:ln>
        </p:spPr>
      </p:pic>
      <p:sp>
        <p:nvSpPr>
          <p:cNvPr id="209" name="Google Shape;209;g3ab687fb00f_0_0"/>
          <p:cNvSpPr txBox="1"/>
          <p:nvPr/>
        </p:nvSpPr>
        <p:spPr>
          <a:xfrm>
            <a:off x="-1" y="6288587"/>
            <a:ext cx="59811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Machine Learning Professional</a:t>
            </a:r>
            <a:b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Project</a:t>
            </a: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Presentation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210" name="Google Shape;210;g3ab687fb00f_0_0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0590875" y="6330524"/>
            <a:ext cx="1500023" cy="585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1" name="Google Shape;211;g3ab687fb00f_0_0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g3ab687fb00f_0_0"/>
          <p:cNvSpPr txBox="1"/>
          <p:nvPr/>
        </p:nvSpPr>
        <p:spPr>
          <a:xfrm>
            <a:off x="-1" y="6288587"/>
            <a:ext cx="59811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Machine Learning Professional</a:t>
            </a:r>
            <a:b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Project</a:t>
            </a: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Presentation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213" name="Google Shape;213;g3ab687fb00f_0_0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0590875" y="6330524"/>
            <a:ext cx="1500023" cy="585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4" name="Google Shape;214;g3ab687fb00f_0_0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sp>
        <p:nvSpPr>
          <p:cNvPr id="215" name="Google Shape;215;g3ab687fb00f_0_0"/>
          <p:cNvSpPr txBox="1"/>
          <p:nvPr/>
        </p:nvSpPr>
        <p:spPr>
          <a:xfrm>
            <a:off x="-1" y="6234672"/>
            <a:ext cx="59811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Machine Learning Professional</a:t>
            </a:r>
            <a:b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Project</a:t>
            </a: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Presentation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216" name="Google Shape;216;g3ab687fb00f_0_0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0590875" y="6330524"/>
            <a:ext cx="1500023" cy="585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1" name="Google Shape;221;g3ab687fb00f_0_14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222" name="Google Shape;222;g3ab687fb00f_0_14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590934" y="6330522"/>
            <a:ext cx="1499906" cy="585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3" name="Google Shape;223;g3ab687fb00f_0_140"/>
          <p:cNvSpPr txBox="1"/>
          <p:nvPr/>
        </p:nvSpPr>
        <p:spPr>
          <a:xfrm>
            <a:off x="-1" y="6288587"/>
            <a:ext cx="5981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Term Paper Presentation | Ronit Dutta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24" name="Google Shape;224;g3ab687fb00f_0_140"/>
          <p:cNvSpPr txBox="1"/>
          <p:nvPr/>
        </p:nvSpPr>
        <p:spPr>
          <a:xfrm>
            <a:off x="0" y="0"/>
            <a:ext cx="121920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Data Selection</a:t>
            </a:r>
            <a:endParaRPr sz="32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cxnSp>
        <p:nvCxnSpPr>
          <p:cNvPr id="225" name="Google Shape;225;g3ab687fb00f_0_140"/>
          <p:cNvCxnSpPr/>
          <p:nvPr/>
        </p:nvCxnSpPr>
        <p:spPr>
          <a:xfrm rot="10800000" flipH="1">
            <a:off x="6" y="654189"/>
            <a:ext cx="6318000" cy="30600"/>
          </a:xfrm>
          <a:prstGeom prst="straightConnector1">
            <a:avLst/>
          </a:prstGeom>
          <a:noFill/>
          <a:ln w="9525" cap="flat" cmpd="sng">
            <a:solidFill>
              <a:srgbClr val="0E4D3B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26" name="Google Shape;226;g3ab687fb00f_0_140"/>
          <p:cNvSpPr txBox="1"/>
          <p:nvPr/>
        </p:nvSpPr>
        <p:spPr>
          <a:xfrm>
            <a:off x="265800" y="1270475"/>
            <a:ext cx="6211800" cy="290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For categorical-level retrieval, three datasets were chosen: </a:t>
            </a:r>
            <a:endParaRPr sz="1800">
              <a:solidFill>
                <a:schemeClr val="dk1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Caltech-UCSD Birds (CUB)</a:t>
            </a:r>
            <a:r>
              <a:rPr lang="en-US" sz="1800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 - 11,788 images of 200 bird species</a:t>
            </a:r>
            <a:endParaRPr sz="1800">
              <a:solidFill>
                <a:schemeClr val="dk1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The Stanford Cars dataset (CARS)</a:t>
            </a:r>
            <a:r>
              <a:rPr lang="en-US" sz="1800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 - 8,131 images categorised into 98 car types.</a:t>
            </a:r>
            <a:br>
              <a:rPr lang="en-US" sz="1800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</a:br>
            <a:r>
              <a:rPr lang="en-US" sz="1800" b="1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Inshop</a:t>
            </a:r>
            <a:r>
              <a:rPr lang="en-US" sz="1800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 - 12612 clothing item images, 3985 classes</a:t>
            </a:r>
            <a:endParaRPr sz="1800">
              <a:solidFill>
                <a:schemeClr val="dk1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These three datasets are </a:t>
            </a:r>
            <a:r>
              <a:rPr lang="en-US" sz="1800" b="1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standard test datasets, </a:t>
            </a:r>
            <a:r>
              <a:rPr lang="en-US" sz="1800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allowing authors to </a:t>
            </a:r>
            <a:r>
              <a:rPr lang="en-US" sz="1800" b="1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benchmark accuracy and speed</a:t>
            </a:r>
            <a:r>
              <a:rPr lang="en-US" sz="1800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 of their approach against more traditional approaches.</a:t>
            </a:r>
            <a:endParaRPr sz="1800" b="1">
              <a:solidFill>
                <a:schemeClr val="dk1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pic>
        <p:nvPicPr>
          <p:cNvPr id="227" name="Google Shape;227;g3ab687fb00f_0_140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228" name="Google Shape;228;g3ab687fb00f_0_14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590934" y="6330522"/>
            <a:ext cx="1499906" cy="585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g3ab687fb00f_0_140"/>
          <p:cNvSpPr txBox="1"/>
          <p:nvPr/>
        </p:nvSpPr>
        <p:spPr>
          <a:xfrm>
            <a:off x="-1" y="6288587"/>
            <a:ext cx="5981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Term Paper Presentation | Ronit Dutta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230" name="Google Shape;230;g3ab687fb00f_0_140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231" name="Google Shape;231;g3ab687fb00f_0_14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590934" y="6330522"/>
            <a:ext cx="1499906" cy="585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2" name="Google Shape;232;g3ab687fb00f_0_14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659825" y="1458163"/>
            <a:ext cx="5267726" cy="3100625"/>
          </a:xfrm>
          <a:prstGeom prst="rect">
            <a:avLst/>
          </a:prstGeom>
          <a:noFill/>
          <a:ln>
            <a:noFill/>
          </a:ln>
        </p:spPr>
      </p:pic>
      <p:sp>
        <p:nvSpPr>
          <p:cNvPr id="233" name="Google Shape;233;g3ab687fb00f_0_140"/>
          <p:cNvSpPr txBox="1"/>
          <p:nvPr/>
        </p:nvSpPr>
        <p:spPr>
          <a:xfrm>
            <a:off x="-1" y="6288587"/>
            <a:ext cx="59811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Machine Learning Professional</a:t>
            </a:r>
            <a:b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Project</a:t>
            </a: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Presentation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34" name="Google Shape;234;g3ab687fb00f_0_140"/>
          <p:cNvSpPr txBox="1"/>
          <p:nvPr/>
        </p:nvSpPr>
        <p:spPr>
          <a:xfrm>
            <a:off x="6659825" y="4649538"/>
            <a:ext cx="6211800" cy="4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1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Caltech-UCSD Birds (CUB)</a:t>
            </a:r>
            <a:r>
              <a:rPr lang="en-US" sz="1000" i="1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 - 11,788 images of 200 bird species</a:t>
            </a:r>
            <a:endParaRPr sz="1000" i="1">
              <a:solidFill>
                <a:schemeClr val="dk1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pic>
        <p:nvPicPr>
          <p:cNvPr id="235" name="Google Shape;235;g3ab687fb00f_0_140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0590875" y="6330524"/>
            <a:ext cx="1500023" cy="585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6" name="Google Shape;236;g3ab687fb00f_0_140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sp>
        <p:nvSpPr>
          <p:cNvPr id="237" name="Google Shape;237;g3ab687fb00f_0_140"/>
          <p:cNvSpPr txBox="1"/>
          <p:nvPr/>
        </p:nvSpPr>
        <p:spPr>
          <a:xfrm>
            <a:off x="-1" y="6288587"/>
            <a:ext cx="59811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Machine Learning Professional</a:t>
            </a:r>
            <a:b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Project</a:t>
            </a: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Presentation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238" name="Google Shape;238;g3ab687fb00f_0_140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0590875" y="6330524"/>
            <a:ext cx="1500023" cy="585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Google Shape;239;g3ab687fb00f_0_140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sp>
        <p:nvSpPr>
          <p:cNvPr id="240" name="Google Shape;240;g3ab687fb00f_0_140"/>
          <p:cNvSpPr txBox="1"/>
          <p:nvPr/>
        </p:nvSpPr>
        <p:spPr>
          <a:xfrm>
            <a:off x="-1" y="6234672"/>
            <a:ext cx="59811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Machine Learning Professional</a:t>
            </a:r>
            <a:b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Project</a:t>
            </a: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Presentation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241" name="Google Shape;241;g3ab687fb00f_0_140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0590875" y="6330524"/>
            <a:ext cx="1500023" cy="585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6" name="Google Shape;246;g39a3552e755_2_8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247" name="Google Shape;247;g39a3552e755_2_8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590934" y="6330522"/>
            <a:ext cx="1499906" cy="585000"/>
          </a:xfrm>
          <a:prstGeom prst="rect">
            <a:avLst/>
          </a:prstGeom>
          <a:noFill/>
          <a:ln>
            <a:noFill/>
          </a:ln>
        </p:spPr>
      </p:pic>
      <p:sp>
        <p:nvSpPr>
          <p:cNvPr id="248" name="Google Shape;248;g39a3552e755_2_81"/>
          <p:cNvSpPr txBox="1"/>
          <p:nvPr/>
        </p:nvSpPr>
        <p:spPr>
          <a:xfrm>
            <a:off x="-1" y="6288587"/>
            <a:ext cx="5981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Term Paper Presentation | Ronit Dutta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49" name="Google Shape;249;g39a3552e755_2_81"/>
          <p:cNvSpPr txBox="1"/>
          <p:nvPr/>
        </p:nvSpPr>
        <p:spPr>
          <a:xfrm>
            <a:off x="0" y="0"/>
            <a:ext cx="121920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Data Selection</a:t>
            </a:r>
            <a:endParaRPr sz="32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cxnSp>
        <p:nvCxnSpPr>
          <p:cNvPr id="250" name="Google Shape;250;g39a3552e755_2_81"/>
          <p:cNvCxnSpPr/>
          <p:nvPr/>
        </p:nvCxnSpPr>
        <p:spPr>
          <a:xfrm rot="10800000" flipH="1">
            <a:off x="6" y="654189"/>
            <a:ext cx="6318000" cy="30600"/>
          </a:xfrm>
          <a:prstGeom prst="straightConnector1">
            <a:avLst/>
          </a:prstGeom>
          <a:noFill/>
          <a:ln w="9525" cap="flat" cmpd="sng">
            <a:solidFill>
              <a:srgbClr val="0E4D3B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51" name="Google Shape;251;g39a3552e755_2_81"/>
          <p:cNvSpPr txBox="1"/>
          <p:nvPr/>
        </p:nvSpPr>
        <p:spPr>
          <a:xfrm>
            <a:off x="106200" y="1403625"/>
            <a:ext cx="6211800" cy="290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For Particular Object Retrieval, four datasets were chosen: </a:t>
            </a:r>
            <a:endParaRPr sz="1800">
              <a:solidFill>
                <a:schemeClr val="dk1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Oxford </a:t>
            </a:r>
            <a:r>
              <a:rPr lang="en-US" sz="1800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-</a:t>
            </a:r>
            <a:r>
              <a:rPr lang="en-US" sz="1800" b="1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 </a:t>
            </a:r>
            <a:r>
              <a:rPr lang="en-US" sz="1800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 5063 images, 11 classes</a:t>
            </a:r>
            <a:br>
              <a:rPr lang="en-US" sz="1800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</a:br>
            <a:r>
              <a:rPr lang="en-US" sz="1800" b="1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Paris </a:t>
            </a:r>
            <a:r>
              <a:rPr lang="en-US" sz="1800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-</a:t>
            </a:r>
            <a:r>
              <a:rPr lang="en-US" sz="1800" b="1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 </a:t>
            </a:r>
            <a:r>
              <a:rPr lang="en-US" sz="1800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6392 images, 11 classes</a:t>
            </a:r>
            <a:endParaRPr sz="1800">
              <a:solidFill>
                <a:schemeClr val="dk1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The Oxford and Paris datasets are well-known benchmarks used in particular object image retrieval tasks. </a:t>
            </a:r>
            <a:br>
              <a:rPr lang="en-US" sz="1800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</a:br>
            <a:br>
              <a:rPr lang="en-US" sz="1800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</a:br>
            <a:r>
              <a:rPr lang="en-US" sz="1800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Both datasets contain images categorised into landmark or object classes, and include query images for evaluation.</a:t>
            </a:r>
            <a:endParaRPr sz="1800">
              <a:solidFill>
                <a:schemeClr val="dk1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pic>
        <p:nvPicPr>
          <p:cNvPr id="252" name="Google Shape;252;g39a3552e755_2_81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253" name="Google Shape;253;g39a3552e755_2_8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590934" y="6330522"/>
            <a:ext cx="1499906" cy="585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g39a3552e755_2_81"/>
          <p:cNvSpPr txBox="1"/>
          <p:nvPr/>
        </p:nvSpPr>
        <p:spPr>
          <a:xfrm>
            <a:off x="-1" y="6288587"/>
            <a:ext cx="5981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Term Paper Presentation | Ronit Dutta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255" name="Google Shape;255;g39a3552e755_2_81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256" name="Google Shape;256;g39a3552e755_2_8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590934" y="6330522"/>
            <a:ext cx="1499906" cy="585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7" name="Google Shape;257;g39a3552e755_2_81"/>
          <p:cNvSpPr txBox="1"/>
          <p:nvPr/>
        </p:nvSpPr>
        <p:spPr>
          <a:xfrm>
            <a:off x="-1" y="6288587"/>
            <a:ext cx="59811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Machine Learning Professional</a:t>
            </a:r>
            <a:b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Project</a:t>
            </a: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Presentation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58" name="Google Shape;258;g39a3552e755_2_81"/>
          <p:cNvSpPr txBox="1"/>
          <p:nvPr/>
        </p:nvSpPr>
        <p:spPr>
          <a:xfrm>
            <a:off x="6670650" y="5398263"/>
            <a:ext cx="6211800" cy="4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1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Oxford Dataset - </a:t>
            </a:r>
            <a:r>
              <a:rPr lang="en-US" sz="1000" i="1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5063 images, 11 classes</a:t>
            </a:r>
            <a:endParaRPr sz="1000" i="1">
              <a:solidFill>
                <a:schemeClr val="dk1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pic>
        <p:nvPicPr>
          <p:cNvPr id="259" name="Google Shape;259;g39a3552e755_2_81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590875" y="6330524"/>
            <a:ext cx="1500023" cy="585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0" name="Google Shape;260;g39a3552e755_2_81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sp>
        <p:nvSpPr>
          <p:cNvPr id="261" name="Google Shape;261;g39a3552e755_2_81"/>
          <p:cNvSpPr txBox="1"/>
          <p:nvPr/>
        </p:nvSpPr>
        <p:spPr>
          <a:xfrm>
            <a:off x="-1" y="6288587"/>
            <a:ext cx="59811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Machine Learning Professional</a:t>
            </a:r>
            <a:b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Project</a:t>
            </a: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Presentation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262" name="Google Shape;262;g39a3552e755_2_81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590875" y="6330524"/>
            <a:ext cx="1500023" cy="585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3" name="Google Shape;263;g39a3552e755_2_81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sp>
        <p:nvSpPr>
          <p:cNvPr id="264" name="Google Shape;264;g39a3552e755_2_81"/>
          <p:cNvSpPr txBox="1"/>
          <p:nvPr/>
        </p:nvSpPr>
        <p:spPr>
          <a:xfrm>
            <a:off x="-1" y="6234672"/>
            <a:ext cx="59811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Machine Learning Professional</a:t>
            </a:r>
            <a:b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Project</a:t>
            </a: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Presentation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265" name="Google Shape;265;g39a3552e755_2_81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590875" y="6330524"/>
            <a:ext cx="1500023" cy="585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6" name="Google Shape;266;g39a3552e755_2_81"/>
          <p:cNvPicPr preferRelativeResize="0"/>
          <p:nvPr/>
        </p:nvPicPr>
        <p:blipFill rotWithShape="1">
          <a:blip r:embed="rId8">
            <a:alphaModFix/>
          </a:blip>
          <a:srcRect l="4219" r="5233"/>
          <a:stretch/>
        </p:blipFill>
        <p:spPr>
          <a:xfrm>
            <a:off x="6768950" y="956150"/>
            <a:ext cx="4022450" cy="4442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1" name="Google Shape;271;g39a3552e755_2_2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272" name="Google Shape;272;g39a3552e755_2_2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590934" y="6330522"/>
            <a:ext cx="1499906" cy="585000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g39a3552e755_2_28"/>
          <p:cNvSpPr txBox="1"/>
          <p:nvPr/>
        </p:nvSpPr>
        <p:spPr>
          <a:xfrm>
            <a:off x="-1" y="6288587"/>
            <a:ext cx="5981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Term Paper Presentation | Ronit Dutta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74" name="Google Shape;274;g39a3552e755_2_28"/>
          <p:cNvSpPr txBox="1"/>
          <p:nvPr/>
        </p:nvSpPr>
        <p:spPr>
          <a:xfrm>
            <a:off x="0" y="0"/>
            <a:ext cx="121920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Data Selection</a:t>
            </a:r>
            <a:endParaRPr sz="32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cxnSp>
        <p:nvCxnSpPr>
          <p:cNvPr id="275" name="Google Shape;275;g39a3552e755_2_28"/>
          <p:cNvCxnSpPr/>
          <p:nvPr/>
        </p:nvCxnSpPr>
        <p:spPr>
          <a:xfrm rot="10800000" flipH="1">
            <a:off x="6" y="654189"/>
            <a:ext cx="6318000" cy="30600"/>
          </a:xfrm>
          <a:prstGeom prst="straightConnector1">
            <a:avLst/>
          </a:prstGeom>
          <a:noFill/>
          <a:ln w="9525" cap="flat" cmpd="sng">
            <a:solidFill>
              <a:srgbClr val="0E4D3B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76" name="Google Shape;276;g39a3552e755_2_28"/>
          <p:cNvSpPr txBox="1"/>
          <p:nvPr/>
        </p:nvSpPr>
        <p:spPr>
          <a:xfrm>
            <a:off x="173975" y="914225"/>
            <a:ext cx="6211800" cy="290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Two newer datasets were also used:</a:t>
            </a:r>
            <a:endParaRPr sz="1800">
              <a:solidFill>
                <a:schemeClr val="dk1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br>
              <a:rPr lang="en-US" sz="1800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</a:br>
            <a:r>
              <a:rPr lang="en-US" sz="1800" b="1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ROxford</a:t>
            </a:r>
            <a:r>
              <a:rPr lang="en-US" sz="1800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 - Revisited version of Oxford with 4993 images, 13 categories, 70 queries.</a:t>
            </a:r>
            <a:br>
              <a:rPr lang="en-US" sz="1800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</a:br>
            <a:r>
              <a:rPr lang="en-US" sz="1800" b="1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RParis </a:t>
            </a:r>
            <a:r>
              <a:rPr lang="en-US" sz="1800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- Revisited version of Paris with 6322 images, 12 classes, 70 queries.</a:t>
            </a:r>
            <a:endParaRPr sz="1800">
              <a:solidFill>
                <a:schemeClr val="dk1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Revisited datasets (ROxford and RParis) stratify queries into easy, medium, and hard, reflecting increasing difficulty in retrieval due to factors like occlusion or distortion.</a:t>
            </a:r>
            <a:endParaRPr sz="1800" b="1">
              <a:solidFill>
                <a:schemeClr val="dk1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pic>
        <p:nvPicPr>
          <p:cNvPr id="277" name="Google Shape;277;g39a3552e755_2_28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278" name="Google Shape;278;g39a3552e755_2_2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590934" y="6330522"/>
            <a:ext cx="1499906" cy="585000"/>
          </a:xfrm>
          <a:prstGeom prst="rect">
            <a:avLst/>
          </a:prstGeom>
          <a:noFill/>
          <a:ln>
            <a:noFill/>
          </a:ln>
        </p:spPr>
      </p:pic>
      <p:sp>
        <p:nvSpPr>
          <p:cNvPr id="279" name="Google Shape;279;g39a3552e755_2_28"/>
          <p:cNvSpPr txBox="1"/>
          <p:nvPr/>
        </p:nvSpPr>
        <p:spPr>
          <a:xfrm>
            <a:off x="-1" y="6288587"/>
            <a:ext cx="5981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Term Paper Presentation | Ronit Dutta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280" name="Google Shape;280;g39a3552e755_2_28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281" name="Google Shape;281;g39a3552e755_2_2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590934" y="6330522"/>
            <a:ext cx="1499906" cy="585000"/>
          </a:xfrm>
          <a:prstGeom prst="rect">
            <a:avLst/>
          </a:prstGeom>
          <a:noFill/>
          <a:ln>
            <a:noFill/>
          </a:ln>
        </p:spPr>
      </p:pic>
      <p:sp>
        <p:nvSpPr>
          <p:cNvPr id="282" name="Google Shape;282;g39a3552e755_2_28"/>
          <p:cNvSpPr txBox="1"/>
          <p:nvPr/>
        </p:nvSpPr>
        <p:spPr>
          <a:xfrm>
            <a:off x="-1" y="6288587"/>
            <a:ext cx="59811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Machine Learning Professional</a:t>
            </a:r>
            <a:b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Project</a:t>
            </a: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Presentation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3" name="Google Shape;283;g39a3552e755_2_28"/>
          <p:cNvSpPr txBox="1"/>
          <p:nvPr/>
        </p:nvSpPr>
        <p:spPr>
          <a:xfrm>
            <a:off x="6659825" y="5039213"/>
            <a:ext cx="6211800" cy="4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1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RParis </a:t>
            </a:r>
            <a:r>
              <a:rPr lang="en-US" sz="1000" i="1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- 6322 images, 12 classes</a:t>
            </a:r>
            <a:endParaRPr sz="1000" i="1">
              <a:solidFill>
                <a:schemeClr val="dk1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pic>
        <p:nvPicPr>
          <p:cNvPr id="284" name="Google Shape;284;g39a3552e755_2_28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590875" y="6330524"/>
            <a:ext cx="1500023" cy="585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5" name="Google Shape;285;g39a3552e755_2_28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sp>
        <p:nvSpPr>
          <p:cNvPr id="286" name="Google Shape;286;g39a3552e755_2_28"/>
          <p:cNvSpPr txBox="1"/>
          <p:nvPr/>
        </p:nvSpPr>
        <p:spPr>
          <a:xfrm>
            <a:off x="-1" y="6288587"/>
            <a:ext cx="59811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Machine Learning Professional</a:t>
            </a:r>
            <a:b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Project</a:t>
            </a: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Presentation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287" name="Google Shape;287;g39a3552e755_2_28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590875" y="6330524"/>
            <a:ext cx="1500023" cy="585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8" name="Google Shape;288;g39a3552e755_2_28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g39a3552e755_2_28"/>
          <p:cNvSpPr txBox="1"/>
          <p:nvPr/>
        </p:nvSpPr>
        <p:spPr>
          <a:xfrm>
            <a:off x="-1" y="6234672"/>
            <a:ext cx="59811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Machine Learning Professional</a:t>
            </a:r>
            <a:b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Project</a:t>
            </a: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Presentation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290" name="Google Shape;290;g39a3552e755_2_28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590875" y="6330524"/>
            <a:ext cx="1500023" cy="585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91" name="Google Shape;291;g39a3552e755_2_28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6538175" y="737400"/>
            <a:ext cx="5460595" cy="414941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6" name="Google Shape;296;g39a284b7f17_2_9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297" name="Google Shape;297;g39a284b7f17_2_9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590934" y="6330522"/>
            <a:ext cx="1499906" cy="585000"/>
          </a:xfrm>
          <a:prstGeom prst="rect">
            <a:avLst/>
          </a:prstGeom>
          <a:noFill/>
          <a:ln>
            <a:noFill/>
          </a:ln>
        </p:spPr>
      </p:pic>
      <p:sp>
        <p:nvSpPr>
          <p:cNvPr id="298" name="Google Shape;298;g39a284b7f17_2_90"/>
          <p:cNvSpPr txBox="1"/>
          <p:nvPr/>
        </p:nvSpPr>
        <p:spPr>
          <a:xfrm>
            <a:off x="-1" y="6288587"/>
            <a:ext cx="5981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Term Paper Presentation | Ronit Dutta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99" name="Google Shape;299;g39a284b7f17_2_90"/>
          <p:cNvSpPr txBox="1"/>
          <p:nvPr/>
        </p:nvSpPr>
        <p:spPr>
          <a:xfrm>
            <a:off x="0" y="0"/>
            <a:ext cx="12192000" cy="63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5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OUTLINE</a:t>
            </a:r>
            <a:endParaRPr sz="35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cxnSp>
        <p:nvCxnSpPr>
          <p:cNvPr id="300" name="Google Shape;300;g39a284b7f17_2_90"/>
          <p:cNvCxnSpPr/>
          <p:nvPr/>
        </p:nvCxnSpPr>
        <p:spPr>
          <a:xfrm rot="10800000" flipH="1">
            <a:off x="6" y="654189"/>
            <a:ext cx="6318000" cy="30600"/>
          </a:xfrm>
          <a:prstGeom prst="straightConnector1">
            <a:avLst/>
          </a:prstGeom>
          <a:noFill/>
          <a:ln w="9525" cap="flat" cmpd="sng">
            <a:solidFill>
              <a:srgbClr val="0E4D3B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01" name="Google Shape;301;g39a284b7f17_2_90"/>
          <p:cNvSpPr txBox="1"/>
          <p:nvPr/>
        </p:nvSpPr>
        <p:spPr>
          <a:xfrm>
            <a:off x="265800" y="1660150"/>
            <a:ext cx="11603400" cy="290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457200" lvl="0" indent="-3556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2000"/>
              <a:buFont typeface="Georgia"/>
              <a:buAutoNum type="arabicPeriod"/>
            </a:pPr>
            <a:r>
              <a:rPr lang="en-US" sz="2000">
                <a:solidFill>
                  <a:srgbClr val="B7B7B7"/>
                </a:solidFill>
                <a:latin typeface="Georgia"/>
                <a:ea typeface="Georgia"/>
                <a:cs typeface="Georgia"/>
                <a:sym typeface="Georgia"/>
              </a:rPr>
              <a:t>Introduction &amp; Data Selection</a:t>
            </a:r>
            <a:endParaRPr sz="2000">
              <a:solidFill>
                <a:srgbClr val="B7B7B7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457200" lvl="0" indent="-3556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eorgia"/>
              <a:buAutoNum type="arabicPeriod"/>
            </a:pPr>
            <a:r>
              <a:rPr lang="en-US" sz="2000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Mechanics</a:t>
            </a:r>
            <a:endParaRPr sz="2000">
              <a:solidFill>
                <a:schemeClr val="dk1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457200" lvl="0" indent="-3556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2000"/>
              <a:buFont typeface="Georgia"/>
              <a:buAutoNum type="arabicPeriod"/>
            </a:pPr>
            <a:r>
              <a:rPr lang="en-US" sz="2000">
                <a:solidFill>
                  <a:srgbClr val="B7B7B7"/>
                </a:solidFill>
                <a:latin typeface="Georgia"/>
                <a:ea typeface="Georgia"/>
                <a:cs typeface="Georgia"/>
                <a:sym typeface="Georgia"/>
              </a:rPr>
              <a:t>Accuracy vs compute tradeoff</a:t>
            </a:r>
            <a:endParaRPr sz="2000">
              <a:solidFill>
                <a:srgbClr val="B7B7B7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457200" lvl="0" indent="-3556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2000"/>
              <a:buFont typeface="Georgia"/>
              <a:buAutoNum type="arabicPeriod"/>
            </a:pPr>
            <a:r>
              <a:rPr lang="en-US" sz="2000">
                <a:solidFill>
                  <a:srgbClr val="B7B7B7"/>
                </a:solidFill>
                <a:latin typeface="Georgia"/>
                <a:ea typeface="Georgia"/>
                <a:cs typeface="Georgia"/>
                <a:sym typeface="Georgia"/>
              </a:rPr>
              <a:t>Advantages, Disadvantages and Experimental Results</a:t>
            </a:r>
            <a:endParaRPr sz="2000">
              <a:solidFill>
                <a:srgbClr val="B7B7B7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457200" lvl="0" indent="-3556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2000"/>
              <a:buFont typeface="Georgia"/>
              <a:buAutoNum type="arabicPeriod"/>
            </a:pPr>
            <a:r>
              <a:rPr lang="en-US" sz="2000">
                <a:solidFill>
                  <a:srgbClr val="B7B7B7"/>
                </a:solidFill>
                <a:latin typeface="Georgia"/>
                <a:ea typeface="Georgia"/>
                <a:cs typeface="Georgia"/>
                <a:sym typeface="Georgia"/>
              </a:rPr>
              <a:t>Future directions</a:t>
            </a:r>
            <a:endParaRPr sz="2000">
              <a:solidFill>
                <a:srgbClr val="B7B7B7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pic>
        <p:nvPicPr>
          <p:cNvPr id="302" name="Google Shape;302;g39a284b7f17_2_90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303" name="Google Shape;303;g39a284b7f17_2_9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590934" y="6330522"/>
            <a:ext cx="1499906" cy="585000"/>
          </a:xfrm>
          <a:prstGeom prst="rect">
            <a:avLst/>
          </a:prstGeom>
          <a:noFill/>
          <a:ln>
            <a:noFill/>
          </a:ln>
        </p:spPr>
      </p:pic>
      <p:sp>
        <p:nvSpPr>
          <p:cNvPr id="304" name="Google Shape;304;g39a284b7f17_2_90"/>
          <p:cNvSpPr txBox="1"/>
          <p:nvPr/>
        </p:nvSpPr>
        <p:spPr>
          <a:xfrm>
            <a:off x="-1" y="6288587"/>
            <a:ext cx="5981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Term Paper Presentation | Ronit Dutta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305" name="Google Shape;305;g39a284b7f17_2_90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306" name="Google Shape;306;g39a284b7f17_2_9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590934" y="6330522"/>
            <a:ext cx="1499906" cy="585000"/>
          </a:xfrm>
          <a:prstGeom prst="rect">
            <a:avLst/>
          </a:prstGeom>
          <a:noFill/>
          <a:ln>
            <a:noFill/>
          </a:ln>
        </p:spPr>
      </p:pic>
      <p:sp>
        <p:nvSpPr>
          <p:cNvPr id="307" name="Google Shape;307;g39a284b7f17_2_90"/>
          <p:cNvSpPr txBox="1"/>
          <p:nvPr/>
        </p:nvSpPr>
        <p:spPr>
          <a:xfrm>
            <a:off x="-1" y="6288587"/>
            <a:ext cx="59811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Machine Learning Professional</a:t>
            </a:r>
            <a:b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Project</a:t>
            </a: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Presentation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308" name="Google Shape;308;g39a284b7f17_2_9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590875" y="6341462"/>
            <a:ext cx="1500023" cy="585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9" name="Google Shape;309;g39a284b7f17_2_90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sp>
        <p:nvSpPr>
          <p:cNvPr id="310" name="Google Shape;310;g39a284b7f17_2_90"/>
          <p:cNvSpPr txBox="1"/>
          <p:nvPr/>
        </p:nvSpPr>
        <p:spPr>
          <a:xfrm>
            <a:off x="-1" y="6288587"/>
            <a:ext cx="59811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Machine Learning Professional</a:t>
            </a:r>
            <a:b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Project</a:t>
            </a: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Presentation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311" name="Google Shape;311;g39a284b7f17_2_9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590875" y="6330524"/>
            <a:ext cx="1500023" cy="585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2" name="Google Shape;312;g39a284b7f17_2_90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sp>
        <p:nvSpPr>
          <p:cNvPr id="313" name="Google Shape;313;g39a284b7f17_2_90"/>
          <p:cNvSpPr txBox="1"/>
          <p:nvPr/>
        </p:nvSpPr>
        <p:spPr>
          <a:xfrm>
            <a:off x="-1" y="6234672"/>
            <a:ext cx="59811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Machine Learning Professional</a:t>
            </a:r>
            <a:b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Project</a:t>
            </a: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Presentation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314" name="Google Shape;314;g39a284b7f17_2_9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590875" y="6330524"/>
            <a:ext cx="1500023" cy="585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3abb6a546c7_0_50"/>
          <p:cNvSpPr txBox="1"/>
          <p:nvPr/>
        </p:nvSpPr>
        <p:spPr>
          <a:xfrm>
            <a:off x="1075450" y="5906713"/>
            <a:ext cx="949800" cy="276300"/>
          </a:xfrm>
          <a:prstGeom prst="rect">
            <a:avLst/>
          </a:prstGeom>
          <a:solidFill>
            <a:srgbClr val="6FA8D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-&gt; END</a:t>
            </a:r>
            <a:endParaRPr sz="12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g3abb6a546c7_0_50"/>
          <p:cNvSpPr/>
          <p:nvPr/>
        </p:nvSpPr>
        <p:spPr>
          <a:xfrm>
            <a:off x="4944975" y="4062304"/>
            <a:ext cx="5465325" cy="1986717"/>
          </a:xfrm>
          <a:prstGeom prst="flowChartProcess">
            <a:avLst/>
          </a:prstGeom>
          <a:noFill/>
          <a:ln w="179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85975" tIns="85975" rIns="85975" bIns="8597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316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g3abb6a546c7_0_50"/>
          <p:cNvSpPr/>
          <p:nvPr/>
        </p:nvSpPr>
        <p:spPr>
          <a:xfrm>
            <a:off x="1075450" y="4232913"/>
            <a:ext cx="3507150" cy="1645525"/>
          </a:xfrm>
          <a:prstGeom prst="flowChartProcess">
            <a:avLst/>
          </a:prstGeom>
          <a:noFill/>
          <a:ln w="169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81475" tIns="81475" rIns="81475" bIns="8147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47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" name="Google Shape;322;g3abb6a546c7_0_50"/>
          <p:cNvSpPr/>
          <p:nvPr/>
        </p:nvSpPr>
        <p:spPr>
          <a:xfrm>
            <a:off x="5965669" y="4144208"/>
            <a:ext cx="3201600" cy="837900"/>
          </a:xfrm>
          <a:prstGeom prst="rect">
            <a:avLst/>
          </a:prstGeom>
          <a:solidFill>
            <a:schemeClr val="lt2"/>
          </a:solidFill>
          <a:ln w="179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81000" tIns="81000" rIns="81000" bIns="81000" anchor="ctr" anchorCtr="0">
            <a:noAutofit/>
          </a:bodyPr>
          <a:lstStyle/>
          <a:p>
            <a:pPr marL="161262" lvl="0" indent="-121255" algn="ctr" rtl="0">
              <a:spcBef>
                <a:spcPts val="0"/>
              </a:spcBef>
              <a:spcAft>
                <a:spcPts val="0"/>
              </a:spcAft>
              <a:buSzPts val="1063"/>
              <a:buFont typeface="Calibri"/>
              <a:buAutoNum type="arabicPeriod"/>
            </a:pPr>
            <a:r>
              <a:rPr lang="en-US" sz="1063">
                <a:latin typeface="Calibri"/>
                <a:ea typeface="Calibri"/>
                <a:cs typeface="Calibri"/>
                <a:sym typeface="Calibri"/>
              </a:rPr>
              <a:t>Calculate the similarity between query set and pairwise similarity vector for </a:t>
            </a:r>
            <a:r>
              <a:rPr lang="en-US" sz="1063" b="1">
                <a:latin typeface="Calibri"/>
                <a:ea typeface="Calibri"/>
                <a:cs typeface="Calibri"/>
                <a:sym typeface="Calibri"/>
              </a:rPr>
              <a:t>internal </a:t>
            </a:r>
            <a:r>
              <a:rPr lang="en-US" sz="1063">
                <a:latin typeface="Calibri"/>
                <a:ea typeface="Calibri"/>
                <a:cs typeface="Calibri"/>
                <a:sym typeface="Calibri"/>
              </a:rPr>
              <a:t>centroid node. </a:t>
            </a:r>
            <a:endParaRPr sz="1063">
              <a:latin typeface="Calibri"/>
              <a:ea typeface="Calibri"/>
              <a:cs typeface="Calibri"/>
              <a:sym typeface="Calibri"/>
            </a:endParaRPr>
          </a:p>
          <a:p>
            <a:pPr marL="161262" lvl="0" indent="-121255" algn="ctr" rtl="0">
              <a:spcBef>
                <a:spcPts val="0"/>
              </a:spcBef>
              <a:spcAft>
                <a:spcPts val="0"/>
              </a:spcAft>
              <a:buSzPts val="1063"/>
              <a:buFont typeface="Calibri"/>
              <a:buAutoNum type="arabicPeriod"/>
            </a:pPr>
            <a:r>
              <a:rPr lang="en-US" sz="1063" b="1">
                <a:latin typeface="Calibri"/>
                <a:ea typeface="Calibri"/>
                <a:cs typeface="Calibri"/>
                <a:sym typeface="Calibri"/>
              </a:rPr>
              <a:t>Sort </a:t>
            </a:r>
            <a:r>
              <a:rPr lang="en-US" sz="1063" i="1">
                <a:latin typeface="Calibri"/>
                <a:ea typeface="Calibri"/>
                <a:cs typeface="Calibri"/>
                <a:sym typeface="Calibri"/>
              </a:rPr>
              <a:t>{&lt;v_q , μ_k&gt;}</a:t>
            </a:r>
            <a:r>
              <a:rPr lang="en-US" sz="1063">
                <a:latin typeface="Calibri"/>
                <a:ea typeface="Calibri"/>
                <a:cs typeface="Calibri"/>
                <a:sym typeface="Calibri"/>
              </a:rPr>
              <a:t> vector. Select </a:t>
            </a:r>
            <a:r>
              <a:rPr lang="en-US" sz="1063" b="1">
                <a:latin typeface="Calibri"/>
                <a:ea typeface="Calibri"/>
                <a:cs typeface="Calibri"/>
                <a:sym typeface="Calibri"/>
              </a:rPr>
              <a:t>argmin/argmax.</a:t>
            </a:r>
            <a:endParaRPr sz="1063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g3abb6a546c7_0_50"/>
          <p:cNvSpPr/>
          <p:nvPr/>
        </p:nvSpPr>
        <p:spPr>
          <a:xfrm>
            <a:off x="7267667" y="1028488"/>
            <a:ext cx="3033966" cy="2695500"/>
          </a:xfrm>
          <a:prstGeom prst="flowChartProcess">
            <a:avLst/>
          </a:prstGeom>
          <a:solidFill>
            <a:srgbClr val="B89B9B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" name="Google Shape;324;g3abb6a546c7_0_50"/>
          <p:cNvSpPr/>
          <p:nvPr/>
        </p:nvSpPr>
        <p:spPr>
          <a:xfrm>
            <a:off x="201425" y="2931675"/>
            <a:ext cx="6711200" cy="891100"/>
          </a:xfrm>
          <a:prstGeom prst="flowChartProcess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g3abb6a546c7_0_50"/>
          <p:cNvSpPr/>
          <p:nvPr/>
        </p:nvSpPr>
        <p:spPr>
          <a:xfrm>
            <a:off x="201425" y="929700"/>
            <a:ext cx="6711200" cy="1645525"/>
          </a:xfrm>
          <a:prstGeom prst="flowChartProcess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" name="Google Shape;326;g3abb6a546c7_0_50"/>
          <p:cNvSpPr/>
          <p:nvPr/>
        </p:nvSpPr>
        <p:spPr>
          <a:xfrm>
            <a:off x="4806730" y="1096729"/>
            <a:ext cx="1768200" cy="12105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86100" tIns="86100" rIns="86100" bIns="861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30" b="1">
                <a:latin typeface="Calibri"/>
                <a:ea typeface="Calibri"/>
                <a:cs typeface="Calibri"/>
                <a:sym typeface="Calibri"/>
              </a:rPr>
              <a:t>Data Output : </a:t>
            </a:r>
            <a:endParaRPr sz="1130" b="1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30">
                <a:latin typeface="Calibri"/>
                <a:ea typeface="Calibri"/>
                <a:cs typeface="Calibri"/>
                <a:sym typeface="Calibri"/>
              </a:rPr>
              <a:t>Vector descriptor of vector space dimension Δ for every image in the database</a:t>
            </a:r>
            <a:endParaRPr sz="113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27" name="Google Shape;327;g3abb6a546c7_0_5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328" name="Google Shape;328;g3abb6a546c7_0_5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590934" y="6330522"/>
            <a:ext cx="1499906" cy="585000"/>
          </a:xfrm>
          <a:prstGeom prst="rect">
            <a:avLst/>
          </a:prstGeom>
          <a:noFill/>
          <a:ln>
            <a:noFill/>
          </a:ln>
        </p:spPr>
      </p:pic>
      <p:sp>
        <p:nvSpPr>
          <p:cNvPr id="329" name="Google Shape;329;g3abb6a546c7_0_50"/>
          <p:cNvSpPr txBox="1"/>
          <p:nvPr/>
        </p:nvSpPr>
        <p:spPr>
          <a:xfrm>
            <a:off x="-1" y="6288587"/>
            <a:ext cx="5981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Term Paper Presentation | Ronit Dutta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30" name="Google Shape;330;g3abb6a546c7_0_50"/>
          <p:cNvSpPr txBox="1"/>
          <p:nvPr/>
        </p:nvSpPr>
        <p:spPr>
          <a:xfrm>
            <a:off x="0" y="-25950"/>
            <a:ext cx="121920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26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Implementation Mechanics review — STEP 1</a:t>
            </a:r>
            <a:endParaRPr sz="26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cxnSp>
        <p:nvCxnSpPr>
          <p:cNvPr id="331" name="Google Shape;331;g3abb6a546c7_0_50"/>
          <p:cNvCxnSpPr/>
          <p:nvPr/>
        </p:nvCxnSpPr>
        <p:spPr>
          <a:xfrm rot="10800000" flipH="1">
            <a:off x="6" y="451339"/>
            <a:ext cx="6318000" cy="30600"/>
          </a:xfrm>
          <a:prstGeom prst="straightConnector1">
            <a:avLst/>
          </a:prstGeom>
          <a:noFill/>
          <a:ln w="9525" cap="flat" cmpd="sng">
            <a:solidFill>
              <a:srgbClr val="0E4D3B"/>
            </a:solidFill>
            <a:prstDash val="solid"/>
            <a:miter lim="800000"/>
            <a:headEnd type="none" w="sm" len="sm"/>
            <a:tailEnd type="none" w="sm" len="sm"/>
          </a:ln>
        </p:spPr>
      </p:cxnSp>
      <p:pic>
        <p:nvPicPr>
          <p:cNvPr id="332" name="Google Shape;332;g3abb6a546c7_0_50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333" name="Google Shape;333;g3abb6a546c7_0_5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590934" y="6330522"/>
            <a:ext cx="1499906" cy="585000"/>
          </a:xfrm>
          <a:prstGeom prst="rect">
            <a:avLst/>
          </a:prstGeom>
          <a:noFill/>
          <a:ln>
            <a:noFill/>
          </a:ln>
        </p:spPr>
      </p:pic>
      <p:sp>
        <p:nvSpPr>
          <p:cNvPr id="334" name="Google Shape;334;g3abb6a546c7_0_50"/>
          <p:cNvSpPr txBox="1"/>
          <p:nvPr/>
        </p:nvSpPr>
        <p:spPr>
          <a:xfrm>
            <a:off x="-1" y="6288587"/>
            <a:ext cx="5981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Term Paper Presentation | Ronit Dutta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335" name="Google Shape;335;g3abb6a546c7_0_50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336" name="Google Shape;336;g3abb6a546c7_0_5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590934" y="6330522"/>
            <a:ext cx="1499906" cy="585000"/>
          </a:xfrm>
          <a:prstGeom prst="rect">
            <a:avLst/>
          </a:prstGeom>
          <a:noFill/>
          <a:ln>
            <a:noFill/>
          </a:ln>
        </p:spPr>
      </p:pic>
      <p:sp>
        <p:nvSpPr>
          <p:cNvPr id="337" name="Google Shape;337;g3abb6a546c7_0_50"/>
          <p:cNvSpPr txBox="1"/>
          <p:nvPr/>
        </p:nvSpPr>
        <p:spPr>
          <a:xfrm>
            <a:off x="-1" y="6288587"/>
            <a:ext cx="59811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Machine Learning Professional</a:t>
            </a:r>
            <a:b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Project</a:t>
            </a: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Presentation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338" name="Google Shape;338;g3abb6a546c7_0_5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590875" y="6330524"/>
            <a:ext cx="1500023" cy="585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39" name="Google Shape;339;g3abb6a546c7_0_50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sp>
        <p:nvSpPr>
          <p:cNvPr id="340" name="Google Shape;340;g3abb6a546c7_0_50"/>
          <p:cNvSpPr txBox="1"/>
          <p:nvPr/>
        </p:nvSpPr>
        <p:spPr>
          <a:xfrm>
            <a:off x="-1" y="6288587"/>
            <a:ext cx="59811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Machine Learning Professional</a:t>
            </a:r>
            <a:b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Project</a:t>
            </a: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Presentation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341" name="Google Shape;341;g3abb6a546c7_0_5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590875" y="6330524"/>
            <a:ext cx="1500023" cy="585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42" name="Google Shape;342;g3abb6a546c7_0_50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sp>
        <p:nvSpPr>
          <p:cNvPr id="343" name="Google Shape;343;g3abb6a546c7_0_50"/>
          <p:cNvSpPr txBox="1"/>
          <p:nvPr/>
        </p:nvSpPr>
        <p:spPr>
          <a:xfrm>
            <a:off x="-1" y="6234672"/>
            <a:ext cx="59811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Machine Learning Professional</a:t>
            </a:r>
            <a:b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Project</a:t>
            </a: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Presentation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344" name="Google Shape;344;g3abb6a546c7_0_5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590875" y="6330524"/>
            <a:ext cx="1500023" cy="585000"/>
          </a:xfrm>
          <a:prstGeom prst="rect">
            <a:avLst/>
          </a:prstGeom>
          <a:noFill/>
          <a:ln>
            <a:noFill/>
          </a:ln>
        </p:spPr>
      </p:pic>
      <p:sp>
        <p:nvSpPr>
          <p:cNvPr id="345" name="Google Shape;345;g3abb6a546c7_0_50"/>
          <p:cNvSpPr/>
          <p:nvPr/>
        </p:nvSpPr>
        <p:spPr>
          <a:xfrm>
            <a:off x="435675" y="1096734"/>
            <a:ext cx="1768200" cy="12105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86100" tIns="86100" rIns="86100" bIns="861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30" b="1">
                <a:latin typeface="Calibri"/>
                <a:ea typeface="Calibri"/>
                <a:cs typeface="Calibri"/>
                <a:sym typeface="Calibri"/>
              </a:rPr>
              <a:t>Data Input : </a:t>
            </a:r>
            <a:endParaRPr sz="1130" b="1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30">
                <a:latin typeface="Calibri"/>
                <a:ea typeface="Calibri"/>
                <a:cs typeface="Calibri"/>
                <a:sym typeface="Calibri"/>
              </a:rPr>
              <a:t>Image dataset of size D. Total number of images N. Candidate image is d_j and label for the same is y_j.</a:t>
            </a:r>
            <a:endParaRPr sz="113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g3abb6a546c7_0_50"/>
          <p:cNvSpPr/>
          <p:nvPr/>
        </p:nvSpPr>
        <p:spPr>
          <a:xfrm>
            <a:off x="2672925" y="1007925"/>
            <a:ext cx="1768200" cy="2721300"/>
          </a:xfrm>
          <a:prstGeom prst="rect">
            <a:avLst/>
          </a:prstGeom>
          <a:solidFill>
            <a:srgbClr val="B89B9B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86100" tIns="86100" rIns="86100" bIns="86100" anchor="ctr" anchorCtr="0">
            <a:noAutofit/>
          </a:bodyPr>
          <a:lstStyle/>
          <a:p>
            <a:pPr marL="53823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30" b="1">
                <a:latin typeface="Calibri"/>
                <a:ea typeface="Calibri"/>
                <a:cs typeface="Calibri"/>
                <a:sym typeface="Calibri"/>
              </a:rPr>
              <a:t>Encoding Machine : </a:t>
            </a:r>
            <a:endParaRPr sz="1130" b="1">
              <a:latin typeface="Calibri"/>
              <a:ea typeface="Calibri"/>
              <a:cs typeface="Calibri"/>
              <a:sym typeface="Calibri"/>
            </a:endParaRPr>
          </a:p>
          <a:p>
            <a:pPr marL="161471" lvl="0" indent="-125589" algn="ctr" rtl="0">
              <a:spcBef>
                <a:spcPts val="0"/>
              </a:spcBef>
              <a:spcAft>
                <a:spcPts val="0"/>
              </a:spcAft>
              <a:buSzPts val="1130"/>
              <a:buFont typeface="Calibri"/>
              <a:buAutoNum type="arabicPeriod"/>
            </a:pPr>
            <a:r>
              <a:rPr lang="en-US" sz="1130">
                <a:latin typeface="Calibri"/>
                <a:ea typeface="Calibri"/>
                <a:cs typeface="Calibri"/>
                <a:sym typeface="Calibri"/>
              </a:rPr>
              <a:t>Path 1 : R-GEM method</a:t>
            </a:r>
            <a:endParaRPr sz="1130">
              <a:latin typeface="Calibri"/>
              <a:ea typeface="Calibri"/>
              <a:cs typeface="Calibri"/>
              <a:sym typeface="Calibri"/>
            </a:endParaRPr>
          </a:p>
          <a:p>
            <a:pPr marL="161471" lvl="0" indent="-125589" algn="ctr" rtl="0">
              <a:spcBef>
                <a:spcPts val="0"/>
              </a:spcBef>
              <a:spcAft>
                <a:spcPts val="0"/>
              </a:spcAft>
              <a:buSzPts val="1130"/>
              <a:buFont typeface="Calibri"/>
              <a:buAutoNum type="arabicPeriod"/>
            </a:pPr>
            <a:r>
              <a:rPr lang="en-US" sz="1130">
                <a:latin typeface="Calibri"/>
                <a:ea typeface="Calibri"/>
                <a:cs typeface="Calibri"/>
                <a:sym typeface="Calibri"/>
              </a:rPr>
              <a:t>Path 2 : ViT method</a:t>
            </a:r>
            <a:endParaRPr sz="113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" name="Google Shape;347;g3abb6a546c7_0_50"/>
          <p:cNvSpPr txBox="1"/>
          <p:nvPr/>
        </p:nvSpPr>
        <p:spPr>
          <a:xfrm>
            <a:off x="2443325" y="653400"/>
            <a:ext cx="2363400" cy="27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Step 1 : Dataset encoding</a:t>
            </a:r>
            <a:endParaRPr sz="1200">
              <a:solidFill>
                <a:schemeClr val="dk1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348" name="Google Shape;348;g3abb6a546c7_0_50"/>
          <p:cNvSpPr/>
          <p:nvPr/>
        </p:nvSpPr>
        <p:spPr>
          <a:xfrm>
            <a:off x="435675" y="3106860"/>
            <a:ext cx="1768200" cy="3693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86100" tIns="86100" rIns="86100" bIns="861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30" b="1">
                <a:latin typeface="Calibri"/>
                <a:ea typeface="Calibri"/>
                <a:cs typeface="Calibri"/>
                <a:sym typeface="Calibri"/>
              </a:rPr>
              <a:t>Query (single/set)</a:t>
            </a:r>
            <a:endParaRPr sz="113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g3abb6a546c7_0_50"/>
          <p:cNvSpPr/>
          <p:nvPr/>
        </p:nvSpPr>
        <p:spPr>
          <a:xfrm>
            <a:off x="4806725" y="3001449"/>
            <a:ext cx="1768200" cy="7278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86100" tIns="86100" rIns="86100" bIns="861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30" b="1">
                <a:latin typeface="Calibri"/>
                <a:ea typeface="Calibri"/>
                <a:cs typeface="Calibri"/>
                <a:sym typeface="Calibri"/>
              </a:rPr>
              <a:t>Query output : </a:t>
            </a:r>
            <a:endParaRPr sz="1130" b="1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30">
                <a:latin typeface="Calibri"/>
                <a:ea typeface="Calibri"/>
                <a:cs typeface="Calibri"/>
                <a:sym typeface="Calibri"/>
              </a:rPr>
              <a:t>Vector of space dimension </a:t>
            </a:r>
            <a:r>
              <a:rPr lang="en-US" sz="113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Δ for each query q_i in set Q or single query.</a:t>
            </a:r>
            <a:endParaRPr sz="1130"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50" name="Google Shape;350;g3abb6a546c7_0_50"/>
          <p:cNvCxnSpPr/>
          <p:nvPr/>
        </p:nvCxnSpPr>
        <p:spPr>
          <a:xfrm>
            <a:off x="2212625" y="1705650"/>
            <a:ext cx="4404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351" name="Google Shape;351;g3abb6a546c7_0_50"/>
          <p:cNvCxnSpPr>
            <a:endCxn id="326" idx="1"/>
          </p:cNvCxnSpPr>
          <p:nvPr/>
        </p:nvCxnSpPr>
        <p:spPr>
          <a:xfrm rot="10800000" flipH="1">
            <a:off x="4441030" y="1701979"/>
            <a:ext cx="365700" cy="93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352" name="Google Shape;352;g3abb6a546c7_0_50"/>
          <p:cNvCxnSpPr/>
          <p:nvPr/>
        </p:nvCxnSpPr>
        <p:spPr>
          <a:xfrm>
            <a:off x="2218200" y="3310725"/>
            <a:ext cx="4404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353" name="Google Shape;353;g3abb6a546c7_0_50"/>
          <p:cNvCxnSpPr/>
          <p:nvPr/>
        </p:nvCxnSpPr>
        <p:spPr>
          <a:xfrm rot="10800000" flipH="1">
            <a:off x="4441030" y="3286854"/>
            <a:ext cx="365700" cy="93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54" name="Google Shape;354;g3abb6a546c7_0_50"/>
          <p:cNvSpPr txBox="1"/>
          <p:nvPr/>
        </p:nvSpPr>
        <p:spPr>
          <a:xfrm>
            <a:off x="2443325" y="3822775"/>
            <a:ext cx="2363400" cy="27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Step 2 : Query encoding</a:t>
            </a:r>
            <a:endParaRPr sz="1200">
              <a:solidFill>
                <a:schemeClr val="dk1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355" name="Google Shape;355;g3abb6a546c7_0_50"/>
          <p:cNvSpPr/>
          <p:nvPr/>
        </p:nvSpPr>
        <p:spPr>
          <a:xfrm>
            <a:off x="7550335" y="1142532"/>
            <a:ext cx="2301000" cy="1190700"/>
          </a:xfrm>
          <a:prstGeom prst="rect">
            <a:avLst/>
          </a:prstGeom>
          <a:solidFill>
            <a:schemeClr val="lt2"/>
          </a:solidFill>
          <a:ln w="171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7225" tIns="77225" rIns="77225" bIns="772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13" b="1">
                <a:latin typeface="Calibri"/>
                <a:ea typeface="Calibri"/>
                <a:cs typeface="Calibri"/>
                <a:sym typeface="Calibri"/>
              </a:rPr>
              <a:t>HKM tree (level “L”): </a:t>
            </a:r>
            <a:endParaRPr sz="1013" b="1">
              <a:latin typeface="Calibri"/>
              <a:ea typeface="Calibri"/>
              <a:cs typeface="Calibri"/>
              <a:sym typeface="Calibri"/>
            </a:endParaRPr>
          </a:p>
          <a:p>
            <a:pPr marL="153813" lvl="0" indent="-115653" algn="l" rtl="0">
              <a:spcBef>
                <a:spcPts val="0"/>
              </a:spcBef>
              <a:spcAft>
                <a:spcPts val="0"/>
              </a:spcAft>
              <a:buSzPts val="1014"/>
              <a:buFont typeface="Calibri"/>
              <a:buAutoNum type="arabicPeriod"/>
            </a:pPr>
            <a:r>
              <a:rPr lang="en-US" sz="1013">
                <a:latin typeface="Calibri"/>
                <a:ea typeface="Calibri"/>
                <a:cs typeface="Calibri"/>
                <a:sym typeface="Calibri"/>
              </a:rPr>
              <a:t>Set hyperparameters for k-means aka branching ratio (</a:t>
            </a:r>
            <a:r>
              <a:rPr lang="en-US" sz="1013" b="1">
                <a:latin typeface="Calibri"/>
                <a:ea typeface="Calibri"/>
                <a:cs typeface="Calibri"/>
                <a:sym typeface="Calibri"/>
              </a:rPr>
              <a:t>k</a:t>
            </a:r>
            <a:r>
              <a:rPr lang="en-US" sz="1013">
                <a:latin typeface="Calibri"/>
                <a:ea typeface="Calibri"/>
                <a:cs typeface="Calibri"/>
                <a:sym typeface="Calibri"/>
              </a:rPr>
              <a:t>) and tree depth (</a:t>
            </a:r>
            <a:r>
              <a:rPr lang="en-US" sz="1013" b="1">
                <a:latin typeface="Calibri"/>
                <a:ea typeface="Calibri"/>
                <a:cs typeface="Calibri"/>
                <a:sym typeface="Calibri"/>
              </a:rPr>
              <a:t>L</a:t>
            </a:r>
            <a:r>
              <a:rPr lang="en-US" sz="1013">
                <a:latin typeface="Calibri"/>
                <a:ea typeface="Calibri"/>
                <a:cs typeface="Calibri"/>
                <a:sym typeface="Calibri"/>
              </a:rPr>
              <a:t>).</a:t>
            </a:r>
            <a:endParaRPr sz="1013">
              <a:latin typeface="Calibri"/>
              <a:ea typeface="Calibri"/>
              <a:cs typeface="Calibri"/>
              <a:sym typeface="Calibri"/>
            </a:endParaRPr>
          </a:p>
          <a:p>
            <a:pPr marL="153813" lvl="0" indent="-115653" algn="l" rtl="0">
              <a:spcBef>
                <a:spcPts val="0"/>
              </a:spcBef>
              <a:spcAft>
                <a:spcPts val="0"/>
              </a:spcAft>
              <a:buSzPts val="1014"/>
              <a:buFont typeface="Calibri"/>
              <a:buAutoNum type="arabicPeriod"/>
            </a:pPr>
            <a:r>
              <a:rPr lang="en-US" sz="1013">
                <a:latin typeface="Calibri"/>
                <a:ea typeface="Calibri"/>
                <a:cs typeface="Calibri"/>
                <a:sym typeface="Calibri"/>
              </a:rPr>
              <a:t>Calculate appropriate centroids using image global descriptors.</a:t>
            </a:r>
            <a:endParaRPr sz="1013">
              <a:latin typeface="Calibri"/>
              <a:ea typeface="Calibri"/>
              <a:cs typeface="Calibri"/>
              <a:sym typeface="Calibri"/>
            </a:endParaRPr>
          </a:p>
          <a:p>
            <a:pPr marL="153813" lvl="0" indent="-115653" algn="l" rtl="0">
              <a:spcBef>
                <a:spcPts val="0"/>
              </a:spcBef>
              <a:spcAft>
                <a:spcPts val="0"/>
              </a:spcAft>
              <a:buSzPts val="1014"/>
              <a:buFont typeface="Calibri"/>
              <a:buAutoNum type="arabicPeriod"/>
            </a:pPr>
            <a:r>
              <a:rPr lang="en-US" sz="1013">
                <a:latin typeface="Calibri"/>
                <a:ea typeface="Calibri"/>
                <a:cs typeface="Calibri"/>
                <a:sym typeface="Calibri"/>
              </a:rPr>
              <a:t>Set up appropriate cluster bucket for each centroid.</a:t>
            </a:r>
            <a:endParaRPr sz="1013"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56" name="Google Shape;356;g3abb6a546c7_0_50"/>
          <p:cNvCxnSpPr>
            <a:stCxn id="355" idx="2"/>
            <a:endCxn id="357" idx="0"/>
          </p:cNvCxnSpPr>
          <p:nvPr/>
        </p:nvCxnSpPr>
        <p:spPr>
          <a:xfrm>
            <a:off x="8700835" y="2333232"/>
            <a:ext cx="0" cy="188700"/>
          </a:xfrm>
          <a:prstGeom prst="straightConnector1">
            <a:avLst/>
          </a:prstGeom>
          <a:noFill/>
          <a:ln w="1710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57" name="Google Shape;357;g3abb6a546c7_0_50"/>
          <p:cNvSpPr/>
          <p:nvPr/>
        </p:nvSpPr>
        <p:spPr>
          <a:xfrm>
            <a:off x="7550335" y="2522001"/>
            <a:ext cx="2301000" cy="524700"/>
          </a:xfrm>
          <a:prstGeom prst="rect">
            <a:avLst/>
          </a:prstGeom>
          <a:solidFill>
            <a:schemeClr val="lt2"/>
          </a:solidFill>
          <a:ln w="171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7225" tIns="77225" rIns="77225" bIns="772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13" b="1">
                <a:latin typeface="Calibri"/>
                <a:ea typeface="Calibri"/>
                <a:cs typeface="Calibri"/>
                <a:sym typeface="Calibri"/>
              </a:rPr>
              <a:t>Go down to the next level </a:t>
            </a:r>
            <a:br>
              <a:rPr lang="en-US" sz="1013" b="1">
                <a:latin typeface="Calibri"/>
                <a:ea typeface="Calibri"/>
                <a:cs typeface="Calibri"/>
                <a:sym typeface="Calibri"/>
              </a:rPr>
            </a:br>
            <a:r>
              <a:rPr lang="en-US" sz="1013">
                <a:latin typeface="Calibri"/>
                <a:ea typeface="Calibri"/>
                <a:cs typeface="Calibri"/>
                <a:sym typeface="Calibri"/>
              </a:rPr>
              <a:t>for </a:t>
            </a:r>
            <a:r>
              <a:rPr lang="en-US" sz="1013" b="1">
                <a:latin typeface="Calibri"/>
                <a:ea typeface="Calibri"/>
                <a:cs typeface="Calibri"/>
                <a:sym typeface="Calibri"/>
              </a:rPr>
              <a:t>each branch </a:t>
            </a:r>
            <a:r>
              <a:rPr lang="en-US" sz="1013">
                <a:latin typeface="Calibri"/>
                <a:ea typeface="Calibri"/>
                <a:cs typeface="Calibri"/>
                <a:sym typeface="Calibri"/>
              </a:rPr>
              <a:t>with total descriptors </a:t>
            </a:r>
            <a:br>
              <a:rPr lang="en-US" sz="1013">
                <a:latin typeface="Calibri"/>
                <a:ea typeface="Calibri"/>
                <a:cs typeface="Calibri"/>
                <a:sym typeface="Calibri"/>
              </a:rPr>
            </a:br>
            <a:r>
              <a:rPr lang="en-US" sz="1013">
                <a:latin typeface="Calibri"/>
                <a:ea typeface="Calibri"/>
                <a:cs typeface="Calibri"/>
                <a:sym typeface="Calibri"/>
              </a:rPr>
              <a:t>in sets of bucket size b_k </a:t>
            </a:r>
            <a:r>
              <a:rPr lang="en-US" sz="1013" b="1">
                <a:latin typeface="Calibri"/>
                <a:ea typeface="Calibri"/>
                <a:cs typeface="Calibri"/>
                <a:sym typeface="Calibri"/>
              </a:rPr>
              <a:t>RECURSIVELY.</a:t>
            </a:r>
            <a:endParaRPr sz="1013" b="1"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58" name="Google Shape;358;g3abb6a546c7_0_50"/>
          <p:cNvCxnSpPr>
            <a:stCxn id="357" idx="3"/>
          </p:cNvCxnSpPr>
          <p:nvPr/>
        </p:nvCxnSpPr>
        <p:spPr>
          <a:xfrm>
            <a:off x="9851335" y="2784351"/>
            <a:ext cx="600" cy="600"/>
          </a:xfrm>
          <a:prstGeom prst="bentConnector2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59" name="Google Shape;359;g3abb6a546c7_0_50"/>
          <p:cNvCxnSpPr>
            <a:stCxn id="357" idx="3"/>
            <a:endCxn id="355" idx="3"/>
          </p:cNvCxnSpPr>
          <p:nvPr/>
        </p:nvCxnSpPr>
        <p:spPr>
          <a:xfrm rot="10800000" flipH="1">
            <a:off x="9851335" y="1737951"/>
            <a:ext cx="600" cy="1046400"/>
          </a:xfrm>
          <a:prstGeom prst="curvedConnector3">
            <a:avLst>
              <a:gd name="adj1" fmla="val 39687500"/>
            </a:avLst>
          </a:prstGeom>
          <a:noFill/>
          <a:ln w="1710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360" name="Google Shape;360;g3abb6a546c7_0_50"/>
          <p:cNvCxnSpPr>
            <a:stCxn id="326" idx="3"/>
            <a:endCxn id="355" idx="1"/>
          </p:cNvCxnSpPr>
          <p:nvPr/>
        </p:nvCxnSpPr>
        <p:spPr>
          <a:xfrm>
            <a:off x="6574930" y="1701979"/>
            <a:ext cx="975300" cy="36000"/>
          </a:xfrm>
          <a:prstGeom prst="straightConnector1">
            <a:avLst/>
          </a:prstGeom>
          <a:noFill/>
          <a:ln w="1710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61" name="Google Shape;361;g3abb6a546c7_0_50"/>
          <p:cNvSpPr txBox="1"/>
          <p:nvPr/>
        </p:nvSpPr>
        <p:spPr>
          <a:xfrm>
            <a:off x="7573050" y="752188"/>
            <a:ext cx="2363400" cy="27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Step 3 : OFFLINE :- HKM Tree</a:t>
            </a:r>
            <a:endParaRPr sz="1200">
              <a:solidFill>
                <a:schemeClr val="dk1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362" name="Google Shape;362;g3abb6a546c7_0_50"/>
          <p:cNvSpPr/>
          <p:nvPr/>
        </p:nvSpPr>
        <p:spPr>
          <a:xfrm>
            <a:off x="10810625" y="1908500"/>
            <a:ext cx="1143000" cy="11262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86100" tIns="86100" rIns="86100" bIns="861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30" b="1">
                <a:latin typeface="Calibri"/>
                <a:ea typeface="Calibri"/>
                <a:cs typeface="Calibri"/>
                <a:sym typeface="Calibri"/>
              </a:rPr>
              <a:t>HKM TREE - </a:t>
            </a:r>
            <a:endParaRPr sz="1030" b="1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30">
                <a:latin typeface="Calibri"/>
                <a:ea typeface="Calibri"/>
                <a:cs typeface="Calibri"/>
                <a:sym typeface="Calibri"/>
              </a:rPr>
              <a:t>Constructed using recursive k-means at each SUB-LEVEL</a:t>
            </a:r>
            <a:endParaRPr sz="1030"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63" name="Google Shape;363;g3abb6a546c7_0_50"/>
          <p:cNvCxnSpPr>
            <a:stCxn id="323" idx="3"/>
            <a:endCxn id="362" idx="1"/>
          </p:cNvCxnSpPr>
          <p:nvPr/>
        </p:nvCxnSpPr>
        <p:spPr>
          <a:xfrm>
            <a:off x="10301633" y="2376238"/>
            <a:ext cx="509100" cy="954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64" name="Google Shape;364;g3abb6a546c7_0_50"/>
          <p:cNvSpPr txBox="1"/>
          <p:nvPr/>
        </p:nvSpPr>
        <p:spPr>
          <a:xfrm>
            <a:off x="7287593" y="3177325"/>
            <a:ext cx="29343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7975" tIns="87975" rIns="87975" bIns="8797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10">
                <a:solidFill>
                  <a:schemeClr val="dk1"/>
                </a:solidFill>
              </a:rPr>
              <a:t>You repeat the k-means step for every internal node. Full process: </a:t>
            </a:r>
            <a:r>
              <a:rPr lang="en-US" sz="1010" b="1">
                <a:solidFill>
                  <a:schemeClr val="dk1"/>
                </a:solidFill>
              </a:rPr>
              <a:t>offline HKM indexing.</a:t>
            </a:r>
            <a:endParaRPr sz="101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g3abb6a546c7_0_50"/>
          <p:cNvSpPr/>
          <p:nvPr/>
        </p:nvSpPr>
        <p:spPr>
          <a:xfrm>
            <a:off x="10410300" y="4168638"/>
            <a:ext cx="1781700" cy="5121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86100" tIns="86100" rIns="86100" bIns="861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30">
                <a:latin typeface="Calibri"/>
                <a:ea typeface="Calibri"/>
                <a:cs typeface="Calibri"/>
                <a:sym typeface="Calibri"/>
              </a:rPr>
              <a:t>Choose similarity metric : cosine/ distance.</a:t>
            </a:r>
            <a:endParaRPr sz="113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6" name="Google Shape;366;g3abb6a546c7_0_50"/>
          <p:cNvSpPr/>
          <p:nvPr/>
        </p:nvSpPr>
        <p:spPr>
          <a:xfrm>
            <a:off x="5025593" y="5218231"/>
            <a:ext cx="2045700" cy="736200"/>
          </a:xfrm>
          <a:prstGeom prst="rect">
            <a:avLst/>
          </a:prstGeom>
          <a:solidFill>
            <a:schemeClr val="lt2"/>
          </a:solidFill>
          <a:ln w="179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81000" tIns="81000" rIns="81000" bIns="810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63">
                <a:latin typeface="Calibri"/>
                <a:ea typeface="Calibri"/>
                <a:cs typeface="Calibri"/>
                <a:sym typeface="Calibri"/>
              </a:rPr>
              <a:t>Choose </a:t>
            </a:r>
            <a:r>
              <a:rPr lang="en-US" sz="1063" b="1">
                <a:latin typeface="Calibri"/>
                <a:ea typeface="Calibri"/>
                <a:cs typeface="Calibri"/>
                <a:sym typeface="Calibri"/>
              </a:rPr>
              <a:t>BEST candidate (INTENSIVE SEARCH)</a:t>
            </a:r>
            <a:r>
              <a:rPr lang="en-US" sz="1063"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US" sz="1063">
                <a:latin typeface="Calibri"/>
                <a:ea typeface="Calibri"/>
                <a:cs typeface="Calibri"/>
                <a:sym typeface="Calibri"/>
              </a:rPr>
            </a:br>
            <a:r>
              <a:rPr lang="en-US" sz="1063">
                <a:latin typeface="Calibri"/>
                <a:ea typeface="Calibri"/>
                <a:cs typeface="Calibri"/>
                <a:sym typeface="Calibri"/>
              </a:rPr>
              <a:t>(or try different search strategy)</a:t>
            </a:r>
            <a:endParaRPr sz="1063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g3abb6a546c7_0_50"/>
          <p:cNvSpPr/>
          <p:nvPr/>
        </p:nvSpPr>
        <p:spPr>
          <a:xfrm>
            <a:off x="7587278" y="5218230"/>
            <a:ext cx="2736000" cy="736200"/>
          </a:xfrm>
          <a:prstGeom prst="rect">
            <a:avLst/>
          </a:prstGeom>
          <a:solidFill>
            <a:schemeClr val="lt2"/>
          </a:solidFill>
          <a:ln w="179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81000" tIns="81000" rIns="81000" bIns="81000" anchor="ctr" anchorCtr="0">
            <a:noAutofit/>
          </a:bodyPr>
          <a:lstStyle/>
          <a:p>
            <a:pPr marL="60309" lvl="0" indent="-127810" algn="ctr" rtl="0">
              <a:spcBef>
                <a:spcPts val="0"/>
              </a:spcBef>
              <a:spcAft>
                <a:spcPts val="0"/>
              </a:spcAft>
              <a:buSzPts val="1063"/>
              <a:buFont typeface="Calibri"/>
              <a:buAutoNum type="arabicPeriod"/>
            </a:pPr>
            <a:r>
              <a:rPr lang="en-US" sz="1063">
                <a:latin typeface="Calibri"/>
                <a:ea typeface="Calibri"/>
                <a:cs typeface="Calibri"/>
                <a:sym typeface="Calibri"/>
              </a:rPr>
              <a:t>Go down that “</a:t>
            </a:r>
            <a:r>
              <a:rPr lang="en-US" sz="1063" b="1">
                <a:latin typeface="Calibri"/>
                <a:ea typeface="Calibri"/>
                <a:cs typeface="Calibri"/>
                <a:sym typeface="Calibri"/>
              </a:rPr>
              <a:t>BEST” </a:t>
            </a:r>
            <a:r>
              <a:rPr lang="en-US" sz="1063">
                <a:latin typeface="Calibri"/>
                <a:ea typeface="Calibri"/>
                <a:cs typeface="Calibri"/>
                <a:sym typeface="Calibri"/>
              </a:rPr>
              <a:t>candidate and then explore the k-centroids of the next level</a:t>
            </a:r>
            <a:endParaRPr sz="1063">
              <a:latin typeface="Calibri"/>
              <a:ea typeface="Calibri"/>
              <a:cs typeface="Calibri"/>
              <a:sym typeface="Calibri"/>
            </a:endParaRPr>
          </a:p>
          <a:p>
            <a:pPr marL="60309" lvl="0" indent="-127810" algn="ctr" rtl="0">
              <a:spcBef>
                <a:spcPts val="0"/>
              </a:spcBef>
              <a:spcAft>
                <a:spcPts val="0"/>
              </a:spcAft>
              <a:buSzPts val="1063"/>
              <a:buFont typeface="Calibri"/>
              <a:buAutoNum type="arabicPeriod"/>
            </a:pPr>
            <a:r>
              <a:rPr lang="en-US" sz="1063">
                <a:latin typeface="Calibri"/>
                <a:ea typeface="Calibri"/>
                <a:cs typeface="Calibri"/>
                <a:sym typeface="Calibri"/>
              </a:rPr>
              <a:t>Repeat loop</a:t>
            </a:r>
            <a:endParaRPr sz="1063"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68" name="Google Shape;368;g3abb6a546c7_0_50"/>
          <p:cNvCxnSpPr>
            <a:stCxn id="362" idx="2"/>
            <a:endCxn id="365" idx="0"/>
          </p:cNvCxnSpPr>
          <p:nvPr/>
        </p:nvCxnSpPr>
        <p:spPr>
          <a:xfrm flipH="1">
            <a:off x="11301125" y="3034700"/>
            <a:ext cx="81000" cy="11340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369" name="Google Shape;369;g3abb6a546c7_0_50"/>
          <p:cNvCxnSpPr>
            <a:endCxn id="322" idx="3"/>
          </p:cNvCxnSpPr>
          <p:nvPr/>
        </p:nvCxnSpPr>
        <p:spPr>
          <a:xfrm rot="5400000" flipH="1">
            <a:off x="9151219" y="4579208"/>
            <a:ext cx="648600" cy="616500"/>
          </a:xfrm>
          <a:prstGeom prst="curvedConnector2">
            <a:avLst/>
          </a:prstGeom>
          <a:noFill/>
          <a:ln w="17925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370" name="Google Shape;370;g3abb6a546c7_0_50"/>
          <p:cNvCxnSpPr>
            <a:stCxn id="322" idx="1"/>
          </p:cNvCxnSpPr>
          <p:nvPr/>
        </p:nvCxnSpPr>
        <p:spPr>
          <a:xfrm flipH="1">
            <a:off x="5545669" y="4563158"/>
            <a:ext cx="420000" cy="654900"/>
          </a:xfrm>
          <a:prstGeom prst="curvedConnector2">
            <a:avLst/>
          </a:prstGeom>
          <a:noFill/>
          <a:ln w="17925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371" name="Google Shape;371;g3abb6a546c7_0_50"/>
          <p:cNvCxnSpPr>
            <a:stCxn id="366" idx="3"/>
            <a:endCxn id="367" idx="1"/>
          </p:cNvCxnSpPr>
          <p:nvPr/>
        </p:nvCxnSpPr>
        <p:spPr>
          <a:xfrm>
            <a:off x="7071293" y="5586331"/>
            <a:ext cx="516000" cy="600"/>
          </a:xfrm>
          <a:prstGeom prst="curvedConnector3">
            <a:avLst>
              <a:gd name="adj1" fmla="val 49987"/>
            </a:avLst>
          </a:prstGeom>
          <a:noFill/>
          <a:ln w="17925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372" name="Google Shape;372;g3abb6a546c7_0_50"/>
          <p:cNvCxnSpPr>
            <a:stCxn id="365" idx="1"/>
            <a:endCxn id="322" idx="3"/>
          </p:cNvCxnSpPr>
          <p:nvPr/>
        </p:nvCxnSpPr>
        <p:spPr>
          <a:xfrm flipH="1">
            <a:off x="9167400" y="4424688"/>
            <a:ext cx="1242900" cy="1386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73" name="Google Shape;373;g3abb6a546c7_0_50"/>
          <p:cNvSpPr txBox="1"/>
          <p:nvPr/>
        </p:nvSpPr>
        <p:spPr>
          <a:xfrm>
            <a:off x="10410300" y="4993563"/>
            <a:ext cx="1500000" cy="51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Step 4 : ONLINE : Tree Traversal</a:t>
            </a:r>
            <a:endParaRPr sz="1200">
              <a:solidFill>
                <a:schemeClr val="dk1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374" name="Google Shape;374;g3abb6a546c7_0_50"/>
          <p:cNvSpPr/>
          <p:nvPr/>
        </p:nvSpPr>
        <p:spPr>
          <a:xfrm>
            <a:off x="1532750" y="5439825"/>
            <a:ext cx="2592600" cy="275400"/>
          </a:xfrm>
          <a:prstGeom prst="rect">
            <a:avLst/>
          </a:prstGeom>
          <a:solidFill>
            <a:schemeClr val="lt2"/>
          </a:solidFill>
          <a:ln w="169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6750" tIns="76750" rIns="76750" bIns="7675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7" b="1">
                <a:latin typeface="Calibri"/>
                <a:ea typeface="Calibri"/>
                <a:cs typeface="Calibri"/>
                <a:sym typeface="Calibri"/>
              </a:rPr>
              <a:t>argsort </a:t>
            </a:r>
            <a:r>
              <a:rPr lang="en-US" sz="1107">
                <a:latin typeface="Calibri"/>
                <a:ea typeface="Calibri"/>
                <a:cs typeface="Calibri"/>
                <a:sym typeface="Calibri"/>
              </a:rPr>
              <a:t>and </a:t>
            </a:r>
            <a:r>
              <a:rPr lang="en-US" sz="1107" b="1">
                <a:latin typeface="Calibri"/>
                <a:ea typeface="Calibri"/>
                <a:cs typeface="Calibri"/>
                <a:sym typeface="Calibri"/>
              </a:rPr>
              <a:t>retrieve top-1</a:t>
            </a:r>
            <a:r>
              <a:rPr lang="en-US" sz="1107">
                <a:latin typeface="Calibri"/>
                <a:ea typeface="Calibri"/>
                <a:cs typeface="Calibri"/>
                <a:sym typeface="Calibri"/>
              </a:rPr>
              <a:t>. (</a:t>
            </a:r>
            <a:r>
              <a:rPr lang="en-US" sz="1107" b="1">
                <a:latin typeface="Calibri"/>
                <a:ea typeface="Calibri"/>
                <a:cs typeface="Calibri"/>
                <a:sym typeface="Calibri"/>
              </a:rPr>
              <a:t>INTENSIVE</a:t>
            </a:r>
            <a:r>
              <a:rPr lang="en-US" sz="1107">
                <a:latin typeface="Calibri"/>
                <a:ea typeface="Calibri"/>
                <a:cs typeface="Calibri"/>
                <a:sym typeface="Calibri"/>
              </a:rPr>
              <a:t>)</a:t>
            </a:r>
            <a:endParaRPr sz="1107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5" name="Google Shape;375;g3abb6a546c7_0_50"/>
          <p:cNvSpPr/>
          <p:nvPr/>
        </p:nvSpPr>
        <p:spPr>
          <a:xfrm>
            <a:off x="1145875" y="4396125"/>
            <a:ext cx="3366300" cy="275400"/>
          </a:xfrm>
          <a:prstGeom prst="rect">
            <a:avLst/>
          </a:prstGeom>
          <a:solidFill>
            <a:schemeClr val="lt2"/>
          </a:solidFill>
          <a:ln w="169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6750" tIns="76750" rIns="76750" bIns="7675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7">
                <a:latin typeface="Calibri"/>
                <a:ea typeface="Calibri"/>
                <a:cs typeface="Calibri"/>
                <a:sym typeface="Calibri"/>
              </a:rPr>
              <a:t>Choose </a:t>
            </a:r>
            <a:r>
              <a:rPr lang="en-US" sz="1107" b="1">
                <a:latin typeface="Calibri"/>
                <a:ea typeface="Calibri"/>
                <a:cs typeface="Calibri"/>
                <a:sym typeface="Calibri"/>
              </a:rPr>
              <a:t>BEST </a:t>
            </a:r>
            <a:r>
              <a:rPr lang="en-US" sz="1107">
                <a:latin typeface="Calibri"/>
                <a:ea typeface="Calibri"/>
                <a:cs typeface="Calibri"/>
                <a:sym typeface="Calibri"/>
              </a:rPr>
              <a:t>internal node (</a:t>
            </a:r>
            <a:r>
              <a:rPr lang="en-US" sz="1063" b="1" i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μ</a:t>
            </a:r>
            <a:r>
              <a:rPr lang="en-US" sz="1107" b="1">
                <a:latin typeface="Calibri"/>
                <a:ea typeface="Calibri"/>
                <a:cs typeface="Calibri"/>
                <a:sym typeface="Calibri"/>
              </a:rPr>
              <a:t>*</a:t>
            </a:r>
            <a:r>
              <a:rPr lang="en-US" sz="1107">
                <a:latin typeface="Calibri"/>
                <a:ea typeface="Calibri"/>
                <a:cs typeface="Calibri"/>
                <a:sym typeface="Calibri"/>
              </a:rPr>
              <a:t>). </a:t>
            </a:r>
            <a:r>
              <a:rPr lang="en-US" sz="1107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Explore it’s leaf nodes</a:t>
            </a:r>
            <a:endParaRPr sz="1107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6" name="Google Shape;376;g3abb6a546c7_0_50"/>
          <p:cNvSpPr/>
          <p:nvPr/>
        </p:nvSpPr>
        <p:spPr>
          <a:xfrm>
            <a:off x="1532738" y="4934650"/>
            <a:ext cx="2592600" cy="276300"/>
          </a:xfrm>
          <a:prstGeom prst="rect">
            <a:avLst/>
          </a:prstGeom>
          <a:solidFill>
            <a:schemeClr val="lt2"/>
          </a:solidFill>
          <a:ln w="169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6750" tIns="76750" rIns="76750" bIns="7675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7">
                <a:latin typeface="Calibri"/>
                <a:ea typeface="Calibri"/>
                <a:cs typeface="Calibri"/>
                <a:sym typeface="Calibri"/>
              </a:rPr>
              <a:t>Calculate </a:t>
            </a:r>
            <a:r>
              <a:rPr lang="en-US" sz="1107" b="1">
                <a:latin typeface="Calibri"/>
                <a:ea typeface="Calibri"/>
                <a:cs typeface="Calibri"/>
                <a:sym typeface="Calibri"/>
              </a:rPr>
              <a:t>similarity vector</a:t>
            </a:r>
            <a:r>
              <a:rPr lang="en-US" sz="1107"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107" i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{&lt;v_q , v*_d&gt;}.</a:t>
            </a:r>
            <a:endParaRPr sz="1107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" name="Google Shape;377;g3abb6a546c7_0_50"/>
          <p:cNvSpPr txBox="1"/>
          <p:nvPr/>
        </p:nvSpPr>
        <p:spPr>
          <a:xfrm>
            <a:off x="201425" y="651188"/>
            <a:ext cx="975300" cy="276300"/>
          </a:xfrm>
          <a:prstGeom prst="rect">
            <a:avLst/>
          </a:prstGeom>
          <a:solidFill>
            <a:srgbClr val="6FA8D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BEGIN -&gt;</a:t>
            </a:r>
            <a:endParaRPr sz="12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78" name="Google Shape;378;g3abb6a546c7_0_50"/>
          <p:cNvCxnSpPr>
            <a:stCxn id="375" idx="2"/>
            <a:endCxn id="376" idx="0"/>
          </p:cNvCxnSpPr>
          <p:nvPr/>
        </p:nvCxnSpPr>
        <p:spPr>
          <a:xfrm>
            <a:off x="2829025" y="4671525"/>
            <a:ext cx="0" cy="2631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379" name="Google Shape;379;g3abb6a546c7_0_50"/>
          <p:cNvCxnSpPr>
            <a:stCxn id="376" idx="2"/>
            <a:endCxn id="374" idx="0"/>
          </p:cNvCxnSpPr>
          <p:nvPr/>
        </p:nvCxnSpPr>
        <p:spPr>
          <a:xfrm>
            <a:off x="2829038" y="5210950"/>
            <a:ext cx="0" cy="2289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380" name="Google Shape;380;g3abb6a546c7_0_50"/>
          <p:cNvCxnSpPr>
            <a:stCxn id="320" idx="1"/>
            <a:endCxn id="321" idx="3"/>
          </p:cNvCxnSpPr>
          <p:nvPr/>
        </p:nvCxnSpPr>
        <p:spPr>
          <a:xfrm rot="10800000">
            <a:off x="4582575" y="5055663"/>
            <a:ext cx="3624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81" name="Google Shape;381;g3abb6a546c7_0_50"/>
          <p:cNvSpPr txBox="1"/>
          <p:nvPr/>
        </p:nvSpPr>
        <p:spPr>
          <a:xfrm>
            <a:off x="0" y="4544350"/>
            <a:ext cx="1075500" cy="89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Step 5 : </a:t>
            </a:r>
            <a:br>
              <a:rPr lang="en-US" sz="1200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</a:br>
            <a:r>
              <a:rPr lang="en-US" sz="1200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Leaf level traversal</a:t>
            </a:r>
            <a:endParaRPr sz="1200">
              <a:solidFill>
                <a:schemeClr val="dk1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382" name="Google Shape;382;g3abb6a546c7_0_50"/>
          <p:cNvSpPr/>
          <p:nvPr/>
        </p:nvSpPr>
        <p:spPr>
          <a:xfrm>
            <a:off x="7390070" y="3225266"/>
            <a:ext cx="2780700" cy="396000"/>
          </a:xfrm>
          <a:prstGeom prst="roundRect">
            <a:avLst>
              <a:gd name="adj" fmla="val 16667"/>
            </a:avLst>
          </a:prstGeom>
          <a:noFill/>
          <a:ln w="204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8050" tIns="98050" rIns="98050" bIns="9805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501"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83" name="Google Shape;383;g3abb6a546c7_0_50"/>
          <p:cNvCxnSpPr>
            <a:endCxn id="345" idx="1"/>
          </p:cNvCxnSpPr>
          <p:nvPr/>
        </p:nvCxnSpPr>
        <p:spPr>
          <a:xfrm rot="5400000">
            <a:off x="174375" y="1184184"/>
            <a:ext cx="779100" cy="256500"/>
          </a:xfrm>
          <a:prstGeom prst="curvedConnector4">
            <a:avLst>
              <a:gd name="adj1" fmla="val 11157"/>
              <a:gd name="adj2" fmla="val 269854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384" name="Google Shape;384;g3abb6a546c7_0_50"/>
          <p:cNvCxnSpPr>
            <a:endCxn id="319" idx="3"/>
          </p:cNvCxnSpPr>
          <p:nvPr/>
        </p:nvCxnSpPr>
        <p:spPr>
          <a:xfrm flipH="1">
            <a:off x="2025250" y="5735863"/>
            <a:ext cx="816600" cy="309000"/>
          </a:xfrm>
          <a:prstGeom prst="curvedConnector3">
            <a:avLst>
              <a:gd name="adj1" fmla="val 3864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9" name="Google Shape;389;g3ab687fb00f_0_4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390" name="Google Shape;390;g3ab687fb00f_0_4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590934" y="6330522"/>
            <a:ext cx="1499906" cy="585000"/>
          </a:xfrm>
          <a:prstGeom prst="rect">
            <a:avLst/>
          </a:prstGeom>
          <a:noFill/>
          <a:ln>
            <a:noFill/>
          </a:ln>
        </p:spPr>
      </p:pic>
      <p:sp>
        <p:nvSpPr>
          <p:cNvPr id="391" name="Google Shape;391;g3ab687fb00f_0_40"/>
          <p:cNvSpPr txBox="1"/>
          <p:nvPr/>
        </p:nvSpPr>
        <p:spPr>
          <a:xfrm>
            <a:off x="-1" y="6288587"/>
            <a:ext cx="5981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Term Paper Presentation | Ronit Dutta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92" name="Google Shape;392;g3ab687fb00f_0_40"/>
          <p:cNvSpPr txBox="1"/>
          <p:nvPr/>
        </p:nvSpPr>
        <p:spPr>
          <a:xfrm>
            <a:off x="0" y="0"/>
            <a:ext cx="121920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Retrieval strategies</a:t>
            </a:r>
            <a:endParaRPr sz="3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cxnSp>
        <p:nvCxnSpPr>
          <p:cNvPr id="393" name="Google Shape;393;g3ab687fb00f_0_40"/>
          <p:cNvCxnSpPr/>
          <p:nvPr/>
        </p:nvCxnSpPr>
        <p:spPr>
          <a:xfrm rot="10800000" flipH="1">
            <a:off x="6" y="654189"/>
            <a:ext cx="6318000" cy="30600"/>
          </a:xfrm>
          <a:prstGeom prst="straightConnector1">
            <a:avLst/>
          </a:prstGeom>
          <a:noFill/>
          <a:ln w="9525" cap="flat" cmpd="sng">
            <a:solidFill>
              <a:srgbClr val="0E4D3B"/>
            </a:solidFill>
            <a:prstDash val="solid"/>
            <a:miter lim="800000"/>
            <a:headEnd type="none" w="sm" len="sm"/>
            <a:tailEnd type="none" w="sm" len="sm"/>
          </a:ln>
        </p:spPr>
      </p:cxnSp>
      <p:pic>
        <p:nvPicPr>
          <p:cNvPr id="394" name="Google Shape;394;g3ab687fb00f_0_40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395" name="Google Shape;395;g3ab687fb00f_0_4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590934" y="6330522"/>
            <a:ext cx="1499906" cy="585000"/>
          </a:xfrm>
          <a:prstGeom prst="rect">
            <a:avLst/>
          </a:prstGeom>
          <a:noFill/>
          <a:ln>
            <a:noFill/>
          </a:ln>
        </p:spPr>
      </p:pic>
      <p:sp>
        <p:nvSpPr>
          <p:cNvPr id="396" name="Google Shape;396;g3ab687fb00f_0_40"/>
          <p:cNvSpPr txBox="1"/>
          <p:nvPr/>
        </p:nvSpPr>
        <p:spPr>
          <a:xfrm>
            <a:off x="-1" y="6288587"/>
            <a:ext cx="5981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Term Paper Presentation | Ronit Dutta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397" name="Google Shape;397;g3ab687fb00f_0_40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398" name="Google Shape;398;g3ab687fb00f_0_4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590934" y="6330522"/>
            <a:ext cx="1499906" cy="585000"/>
          </a:xfrm>
          <a:prstGeom prst="rect">
            <a:avLst/>
          </a:prstGeom>
          <a:noFill/>
          <a:ln>
            <a:noFill/>
          </a:ln>
        </p:spPr>
      </p:pic>
      <p:sp>
        <p:nvSpPr>
          <p:cNvPr id="399" name="Google Shape;399;g3ab687fb00f_0_40"/>
          <p:cNvSpPr txBox="1"/>
          <p:nvPr/>
        </p:nvSpPr>
        <p:spPr>
          <a:xfrm>
            <a:off x="-1" y="6288587"/>
            <a:ext cx="59811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Machine Learning Professional</a:t>
            </a:r>
            <a:b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Project</a:t>
            </a: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Presentation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400" name="Google Shape;400;g3ab687fb00f_0_4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590875" y="6330524"/>
            <a:ext cx="1500023" cy="585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01" name="Google Shape;401;g3ab687fb00f_0_40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sp>
        <p:nvSpPr>
          <p:cNvPr id="402" name="Google Shape;402;g3ab687fb00f_0_40"/>
          <p:cNvSpPr txBox="1"/>
          <p:nvPr/>
        </p:nvSpPr>
        <p:spPr>
          <a:xfrm>
            <a:off x="-1" y="6288587"/>
            <a:ext cx="59811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Machine Learning Professional</a:t>
            </a:r>
            <a:b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Project</a:t>
            </a: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Presentation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403" name="Google Shape;403;g3ab687fb00f_0_4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590875" y="6330524"/>
            <a:ext cx="1500023" cy="585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04" name="Google Shape;404;g3ab687fb00f_0_40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sp>
        <p:nvSpPr>
          <p:cNvPr id="405" name="Google Shape;405;g3ab687fb00f_0_40"/>
          <p:cNvSpPr txBox="1"/>
          <p:nvPr/>
        </p:nvSpPr>
        <p:spPr>
          <a:xfrm>
            <a:off x="-1" y="6234672"/>
            <a:ext cx="59811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Machine Learning Professional</a:t>
            </a:r>
            <a:b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Project</a:t>
            </a: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Presentation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406" name="Google Shape;406;g3ab687fb00f_0_4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590875" y="6330524"/>
            <a:ext cx="1500023" cy="5850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407" name="Google Shape;407;g3ab687fb00f_0_40"/>
          <p:cNvGraphicFramePr/>
          <p:nvPr/>
        </p:nvGraphicFramePr>
        <p:xfrm>
          <a:off x="594513" y="1619300"/>
          <a:ext cx="11002975" cy="3342200"/>
        </p:xfrm>
        <a:graphic>
          <a:graphicData uri="http://schemas.openxmlformats.org/drawingml/2006/table">
            <a:tbl>
              <a:tblPr>
                <a:noFill/>
                <a:tableStyleId>{AA6D5DF9-2DD3-4A98-8D5F-7929D9D3C23A}</a:tableStyleId>
              </a:tblPr>
              <a:tblGrid>
                <a:gridCol w="15590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31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3307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115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b="1"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Category Level Retrieval</a:t>
                      </a:r>
                      <a:endParaRPr b="1">
                        <a:latin typeface="Georgia"/>
                        <a:ea typeface="Georgia"/>
                        <a:cs typeface="Georgia"/>
                        <a:sym typeface="Georgia"/>
                      </a:endParaRPr>
                    </a:p>
                  </a:txBody>
                  <a:tcPr marL="91425" marR="91425" marT="91425" marB="91425" anchor="ctr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b="1"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Particular Object Level Retrieval</a:t>
                      </a:r>
                      <a:endParaRPr b="1">
                        <a:latin typeface="Georgia"/>
                        <a:ea typeface="Georgia"/>
                        <a:cs typeface="Georgia"/>
                        <a:sym typeface="Georgia"/>
                      </a:endParaRPr>
                    </a:p>
                  </a:txBody>
                  <a:tcPr marL="91425" marR="91425" marT="91425" marB="91425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595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Goal / Intuition</a:t>
                      </a:r>
                      <a:endParaRPr>
                        <a:latin typeface="Georgia"/>
                        <a:ea typeface="Georgia"/>
                        <a:cs typeface="Georgia"/>
                        <a:sym typeface="Georgia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Retrieve images with the same semantic category. (semantic / content similarity)</a:t>
                      </a:r>
                      <a:endParaRPr>
                        <a:latin typeface="Georgia"/>
                        <a:ea typeface="Georgia"/>
                        <a:cs typeface="Georgia"/>
                        <a:sym typeface="Georgia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Retrieve the same specific instance/object (e.g. exact landmark). (instance-level, fine-grained appearance matching.)</a:t>
                      </a:r>
                      <a:endParaRPr>
                        <a:latin typeface="Georgia"/>
                        <a:ea typeface="Georgia"/>
                        <a:cs typeface="Georgia"/>
                        <a:sym typeface="Georgia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37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Dataset</a:t>
                      </a:r>
                      <a:endParaRPr>
                        <a:latin typeface="Georgia"/>
                        <a:ea typeface="Georgia"/>
                        <a:cs typeface="Georgia"/>
                        <a:sym typeface="Georgia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CUB, CARS, In-Shop.</a:t>
                      </a:r>
                      <a:endParaRPr>
                        <a:latin typeface="Georgia"/>
                        <a:ea typeface="Georgia"/>
                        <a:cs typeface="Georgia"/>
                        <a:sym typeface="Georgia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Oxford, Paris, ROxford, RParis.</a:t>
                      </a:r>
                      <a:endParaRPr>
                        <a:latin typeface="Georgia"/>
                        <a:ea typeface="Georgia"/>
                        <a:cs typeface="Georgia"/>
                        <a:sym typeface="Georgia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37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Backbone</a:t>
                      </a:r>
                      <a:endParaRPr>
                        <a:latin typeface="Georgia"/>
                        <a:ea typeface="Georgia"/>
                        <a:cs typeface="Georgia"/>
                        <a:sym typeface="Georgia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UNICOM - CLIP/ViT (</a:t>
                      </a:r>
                      <a:r>
                        <a:rPr lang="en-US" i="1"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Vision Transformer</a:t>
                      </a:r>
                      <a:r>
                        <a:rPr lang="en-US"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) -based.</a:t>
                      </a:r>
                      <a:endParaRPr>
                        <a:latin typeface="Georgia"/>
                        <a:ea typeface="Georgia"/>
                        <a:cs typeface="Georgia"/>
                        <a:sym typeface="Georgia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R-GeM (CNN + GeM pooling).</a:t>
                      </a:r>
                      <a:endParaRPr>
                        <a:latin typeface="Georgia"/>
                        <a:ea typeface="Georgia"/>
                        <a:cs typeface="Georgia"/>
                        <a:sym typeface="Georgia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37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Metric</a:t>
                      </a:r>
                      <a:endParaRPr>
                        <a:latin typeface="Georgia"/>
                        <a:ea typeface="Georgia"/>
                        <a:cs typeface="Georgia"/>
                        <a:sym typeface="Georgia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Recall@1.</a:t>
                      </a:r>
                      <a:endParaRPr>
                        <a:latin typeface="Georgia"/>
                        <a:ea typeface="Georgia"/>
                        <a:cs typeface="Georgia"/>
                        <a:sym typeface="Georgia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mAP (mean Average Precision)</a:t>
                      </a:r>
                      <a:endParaRPr>
                        <a:latin typeface="Georgia"/>
                        <a:ea typeface="Georgia"/>
                        <a:cs typeface="Georgia"/>
                        <a:sym typeface="Georgia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4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2" name="Google Shape;412;g3abb6a546c7_0_115"/>
          <p:cNvPicPr preferRelativeResize="0"/>
          <p:nvPr/>
        </p:nvPicPr>
        <p:blipFill rotWithShape="1">
          <a:blip r:embed="rId3">
            <a:alphaModFix/>
          </a:blip>
          <a:srcRect r="3456"/>
          <a:stretch/>
        </p:blipFill>
        <p:spPr>
          <a:xfrm>
            <a:off x="18900" y="1308913"/>
            <a:ext cx="5738050" cy="3255150"/>
          </a:xfrm>
          <a:prstGeom prst="rect">
            <a:avLst/>
          </a:prstGeom>
          <a:noFill/>
          <a:ln>
            <a:noFill/>
          </a:ln>
        </p:spPr>
      </p:pic>
      <p:sp>
        <p:nvSpPr>
          <p:cNvPr id="413" name="Google Shape;413;g3abb6a546c7_0_115"/>
          <p:cNvSpPr/>
          <p:nvPr/>
        </p:nvSpPr>
        <p:spPr>
          <a:xfrm>
            <a:off x="5840850" y="738638"/>
            <a:ext cx="6029700" cy="52641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14" name="Google Shape;414;g3abb6a546c7_0_11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415" name="Google Shape;415;g3abb6a546c7_0_115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0590934" y="6330522"/>
            <a:ext cx="1499906" cy="585000"/>
          </a:xfrm>
          <a:prstGeom prst="rect">
            <a:avLst/>
          </a:prstGeom>
          <a:noFill/>
          <a:ln>
            <a:noFill/>
          </a:ln>
        </p:spPr>
      </p:pic>
      <p:sp>
        <p:nvSpPr>
          <p:cNvPr id="416" name="Google Shape;416;g3abb6a546c7_0_115"/>
          <p:cNvSpPr txBox="1"/>
          <p:nvPr/>
        </p:nvSpPr>
        <p:spPr>
          <a:xfrm>
            <a:off x="-1" y="6288587"/>
            <a:ext cx="5981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Term Paper Presentation | Ronit Dutta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417" name="Google Shape;417;g3abb6a546c7_0_115"/>
          <p:cNvSpPr txBox="1"/>
          <p:nvPr/>
        </p:nvSpPr>
        <p:spPr>
          <a:xfrm>
            <a:off x="18896" y="1"/>
            <a:ext cx="11469000" cy="50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6000" tIns="43000" rIns="86000" bIns="430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10"/>
              <a:buFont typeface="Arial"/>
              <a:buNone/>
            </a:pPr>
            <a:r>
              <a:rPr lang="en-US" sz="2728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STEP 1 : Encoding - ViT based (category wise retrieval)</a:t>
            </a:r>
            <a:endParaRPr sz="2728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cxnSp>
        <p:nvCxnSpPr>
          <p:cNvPr id="418" name="Google Shape;418;g3abb6a546c7_0_115"/>
          <p:cNvCxnSpPr/>
          <p:nvPr/>
        </p:nvCxnSpPr>
        <p:spPr>
          <a:xfrm rot="10800000" flipH="1">
            <a:off x="18902" y="469776"/>
            <a:ext cx="5943300" cy="28800"/>
          </a:xfrm>
          <a:prstGeom prst="straightConnector1">
            <a:avLst/>
          </a:prstGeom>
          <a:noFill/>
          <a:ln w="8950" cap="flat" cmpd="sng">
            <a:solidFill>
              <a:srgbClr val="0E4D3B"/>
            </a:solidFill>
            <a:prstDash val="solid"/>
            <a:miter lim="800000"/>
            <a:headEnd type="none" w="sm" len="sm"/>
            <a:tailEnd type="none" w="sm" len="sm"/>
          </a:ln>
        </p:spPr>
      </p:cxnSp>
      <p:pic>
        <p:nvPicPr>
          <p:cNvPr id="419" name="Google Shape;419;g3abb6a546c7_0_115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420" name="Google Shape;420;g3abb6a546c7_0_115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0590934" y="6330522"/>
            <a:ext cx="1499906" cy="585000"/>
          </a:xfrm>
          <a:prstGeom prst="rect">
            <a:avLst/>
          </a:prstGeom>
          <a:noFill/>
          <a:ln>
            <a:noFill/>
          </a:ln>
        </p:spPr>
      </p:pic>
      <p:sp>
        <p:nvSpPr>
          <p:cNvPr id="421" name="Google Shape;421;g3abb6a546c7_0_115"/>
          <p:cNvSpPr txBox="1"/>
          <p:nvPr/>
        </p:nvSpPr>
        <p:spPr>
          <a:xfrm>
            <a:off x="-1" y="6288587"/>
            <a:ext cx="5981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Term Paper Presentation | Ronit Dutta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422" name="Google Shape;422;g3abb6a546c7_0_115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423" name="Google Shape;423;g3abb6a546c7_0_115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0590934" y="6330522"/>
            <a:ext cx="1499906" cy="585000"/>
          </a:xfrm>
          <a:prstGeom prst="rect">
            <a:avLst/>
          </a:prstGeom>
          <a:noFill/>
          <a:ln>
            <a:noFill/>
          </a:ln>
        </p:spPr>
      </p:pic>
      <p:sp>
        <p:nvSpPr>
          <p:cNvPr id="424" name="Google Shape;424;g3abb6a546c7_0_115"/>
          <p:cNvSpPr txBox="1"/>
          <p:nvPr/>
        </p:nvSpPr>
        <p:spPr>
          <a:xfrm>
            <a:off x="-1" y="6288587"/>
            <a:ext cx="59811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Machine Learning Professional</a:t>
            </a:r>
            <a:b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Project</a:t>
            </a: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Presentation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425" name="Google Shape;425;g3abb6a546c7_0_115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0590875" y="6330524"/>
            <a:ext cx="1500023" cy="585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26" name="Google Shape;426;g3abb6a546c7_0_115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sp>
        <p:nvSpPr>
          <p:cNvPr id="427" name="Google Shape;427;g3abb6a546c7_0_115"/>
          <p:cNvSpPr txBox="1"/>
          <p:nvPr/>
        </p:nvSpPr>
        <p:spPr>
          <a:xfrm>
            <a:off x="-1" y="6288587"/>
            <a:ext cx="59811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Machine Learning Professional</a:t>
            </a:r>
            <a:b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Project</a:t>
            </a: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Presentation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428" name="Google Shape;428;g3abb6a546c7_0_115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0590875" y="6330524"/>
            <a:ext cx="1500023" cy="585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29" name="Google Shape;429;g3abb6a546c7_0_115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sp>
        <p:nvSpPr>
          <p:cNvPr id="430" name="Google Shape;430;g3abb6a546c7_0_115"/>
          <p:cNvSpPr txBox="1"/>
          <p:nvPr/>
        </p:nvSpPr>
        <p:spPr>
          <a:xfrm>
            <a:off x="-1" y="6234672"/>
            <a:ext cx="59811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Machine Learning Professional</a:t>
            </a:r>
            <a:b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Project</a:t>
            </a: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Presentation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431" name="Google Shape;431;g3abb6a546c7_0_115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0590875" y="6330524"/>
            <a:ext cx="1500023" cy="585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32" name="Google Shape;432;g3abb6a546c7_0_115"/>
          <p:cNvPicPr preferRelativeResize="0"/>
          <p:nvPr/>
        </p:nvPicPr>
        <p:blipFill rotWithShape="1">
          <a:blip r:embed="rId9">
            <a:alphaModFix/>
          </a:blip>
          <a:srcRect r="3716" b="84950"/>
          <a:stretch/>
        </p:blipFill>
        <p:spPr>
          <a:xfrm>
            <a:off x="5865775" y="801563"/>
            <a:ext cx="5889300" cy="693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33" name="Google Shape;433;g3abb6a546c7_0_115"/>
          <p:cNvPicPr preferRelativeResize="0"/>
          <p:nvPr/>
        </p:nvPicPr>
        <p:blipFill rotWithShape="1">
          <a:blip r:embed="rId9">
            <a:alphaModFix/>
          </a:blip>
          <a:srcRect t="47131" r="3716" b="35891"/>
          <a:stretch/>
        </p:blipFill>
        <p:spPr>
          <a:xfrm>
            <a:off x="5865775" y="3390863"/>
            <a:ext cx="5889300" cy="781899"/>
          </a:xfrm>
          <a:prstGeom prst="rect">
            <a:avLst/>
          </a:prstGeom>
          <a:noFill/>
          <a:ln>
            <a:noFill/>
          </a:ln>
        </p:spPr>
      </p:pic>
      <p:pic>
        <p:nvPicPr>
          <p:cNvPr id="434" name="Google Shape;434;g3abb6a546c7_0_115"/>
          <p:cNvPicPr preferRelativeResize="0"/>
          <p:nvPr/>
        </p:nvPicPr>
        <p:blipFill rotWithShape="1">
          <a:blip r:embed="rId9">
            <a:alphaModFix/>
          </a:blip>
          <a:srcRect t="14678" r="3716" b="68344"/>
          <a:stretch/>
        </p:blipFill>
        <p:spPr>
          <a:xfrm>
            <a:off x="5865775" y="1683313"/>
            <a:ext cx="5889300" cy="781899"/>
          </a:xfrm>
          <a:prstGeom prst="rect">
            <a:avLst/>
          </a:prstGeom>
          <a:noFill/>
          <a:ln>
            <a:noFill/>
          </a:ln>
        </p:spPr>
      </p:pic>
      <p:pic>
        <p:nvPicPr>
          <p:cNvPr id="435" name="Google Shape;435;g3abb6a546c7_0_115"/>
          <p:cNvPicPr preferRelativeResize="0"/>
          <p:nvPr/>
        </p:nvPicPr>
        <p:blipFill rotWithShape="1">
          <a:blip r:embed="rId9">
            <a:alphaModFix/>
          </a:blip>
          <a:srcRect t="30867" r="2837" b="52155"/>
          <a:stretch/>
        </p:blipFill>
        <p:spPr>
          <a:xfrm>
            <a:off x="5865775" y="2545538"/>
            <a:ext cx="5943300" cy="781899"/>
          </a:xfrm>
          <a:prstGeom prst="rect">
            <a:avLst/>
          </a:prstGeom>
          <a:noFill/>
          <a:ln>
            <a:noFill/>
          </a:ln>
        </p:spPr>
      </p:pic>
      <p:pic>
        <p:nvPicPr>
          <p:cNvPr id="436" name="Google Shape;436;g3abb6a546c7_0_115"/>
          <p:cNvPicPr preferRelativeResize="0"/>
          <p:nvPr/>
        </p:nvPicPr>
        <p:blipFill rotWithShape="1">
          <a:blip r:embed="rId9">
            <a:alphaModFix/>
          </a:blip>
          <a:srcRect t="64087" r="3716" b="14931"/>
          <a:stretch/>
        </p:blipFill>
        <p:spPr>
          <a:xfrm>
            <a:off x="5865775" y="4236188"/>
            <a:ext cx="5889300" cy="966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37" name="Google Shape;437;g3abb6a546c7_0_115"/>
          <p:cNvPicPr preferRelativeResize="0"/>
          <p:nvPr/>
        </p:nvPicPr>
        <p:blipFill rotWithShape="1">
          <a:blip r:embed="rId9">
            <a:alphaModFix/>
          </a:blip>
          <a:srcRect t="84950" r="3716"/>
          <a:stretch/>
        </p:blipFill>
        <p:spPr>
          <a:xfrm>
            <a:off x="5865775" y="5233313"/>
            <a:ext cx="5889300" cy="6931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438" name="Google Shape;438;g3abb6a546c7_0_115"/>
          <p:cNvCxnSpPr/>
          <p:nvPr/>
        </p:nvCxnSpPr>
        <p:spPr>
          <a:xfrm>
            <a:off x="5861825" y="1640438"/>
            <a:ext cx="60402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39" name="Google Shape;439;g3abb6a546c7_0_115"/>
          <p:cNvCxnSpPr/>
          <p:nvPr/>
        </p:nvCxnSpPr>
        <p:spPr>
          <a:xfrm>
            <a:off x="5835600" y="2474438"/>
            <a:ext cx="60402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40" name="Google Shape;440;g3abb6a546c7_0_115"/>
          <p:cNvCxnSpPr/>
          <p:nvPr/>
        </p:nvCxnSpPr>
        <p:spPr>
          <a:xfrm>
            <a:off x="5835600" y="3381838"/>
            <a:ext cx="60402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41" name="Google Shape;441;g3abb6a546c7_0_115"/>
          <p:cNvCxnSpPr/>
          <p:nvPr/>
        </p:nvCxnSpPr>
        <p:spPr>
          <a:xfrm>
            <a:off x="5835588" y="4205363"/>
            <a:ext cx="60402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42" name="Google Shape;442;g3abb6a546c7_0_115"/>
          <p:cNvCxnSpPr/>
          <p:nvPr/>
        </p:nvCxnSpPr>
        <p:spPr>
          <a:xfrm>
            <a:off x="5861813" y="5175688"/>
            <a:ext cx="60402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9B1101C6-FE60-55AE-3BDA-6AD9B6491BC9}"/>
              </a:ext>
            </a:extLst>
          </p:cNvPr>
          <p:cNvSpPr txBox="1"/>
          <p:nvPr/>
        </p:nvSpPr>
        <p:spPr>
          <a:xfrm>
            <a:off x="436925" y="5183676"/>
            <a:ext cx="3455510" cy="27699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el-GR" sz="1200" dirty="0">
                <a:latin typeface="Georgia" panose="02040502050405020303" pitchFamily="18" charset="0"/>
              </a:rPr>
              <a:t>Δ</a:t>
            </a:r>
            <a:r>
              <a:rPr lang="en-IN" sz="1200" dirty="0">
                <a:latin typeface="Georgia" panose="02040502050405020303" pitchFamily="18" charset="0"/>
              </a:rPr>
              <a:t> is set by the authors. It can be 256/ 512/ 1024.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Google Shape;447;g3abb6a546c7_0_25"/>
          <p:cNvSpPr/>
          <p:nvPr/>
        </p:nvSpPr>
        <p:spPr>
          <a:xfrm>
            <a:off x="199250" y="2721000"/>
            <a:ext cx="5641500" cy="33555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g3abb6a546c7_0_25"/>
          <p:cNvSpPr txBox="1"/>
          <p:nvPr/>
        </p:nvSpPr>
        <p:spPr>
          <a:xfrm>
            <a:off x="6522450" y="3041000"/>
            <a:ext cx="4257300" cy="251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3. 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4. 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9" name="Google Shape;449;g3abb6a546c7_0_25"/>
          <p:cNvSpPr txBox="1"/>
          <p:nvPr/>
        </p:nvSpPr>
        <p:spPr>
          <a:xfrm>
            <a:off x="152400" y="2737500"/>
            <a:ext cx="5828700" cy="32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238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AutoNum type="arabicPeriod"/>
            </a:pPr>
            <a:r>
              <a:rPr lang="en-US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j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238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AutoNum type="arabicPeriod"/>
            </a:pP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50" name="Google Shape;450;g3abb6a546c7_0_2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451" name="Google Shape;451;g3abb6a546c7_0_2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590934" y="6330522"/>
            <a:ext cx="1499906" cy="585000"/>
          </a:xfrm>
          <a:prstGeom prst="rect">
            <a:avLst/>
          </a:prstGeom>
          <a:noFill/>
          <a:ln>
            <a:noFill/>
          </a:ln>
        </p:spPr>
      </p:pic>
      <p:sp>
        <p:nvSpPr>
          <p:cNvPr id="452" name="Google Shape;452;g3abb6a546c7_0_25"/>
          <p:cNvSpPr txBox="1"/>
          <p:nvPr/>
        </p:nvSpPr>
        <p:spPr>
          <a:xfrm>
            <a:off x="-1" y="6288587"/>
            <a:ext cx="5981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Term Paper Presentation | Ronit Dutta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453" name="Google Shape;453;g3abb6a546c7_0_25"/>
          <p:cNvSpPr txBox="1"/>
          <p:nvPr/>
        </p:nvSpPr>
        <p:spPr>
          <a:xfrm>
            <a:off x="0" y="62925"/>
            <a:ext cx="12192000" cy="53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29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STEP 1 : Encoding - CNN based (object retrieval)</a:t>
            </a:r>
            <a:endParaRPr sz="29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cxnSp>
        <p:nvCxnSpPr>
          <p:cNvPr id="454" name="Google Shape;454;g3abb6a546c7_0_25"/>
          <p:cNvCxnSpPr/>
          <p:nvPr/>
        </p:nvCxnSpPr>
        <p:spPr>
          <a:xfrm rot="10800000" flipH="1">
            <a:off x="6" y="654189"/>
            <a:ext cx="6318000" cy="30600"/>
          </a:xfrm>
          <a:prstGeom prst="straightConnector1">
            <a:avLst/>
          </a:prstGeom>
          <a:noFill/>
          <a:ln w="9525" cap="flat" cmpd="sng">
            <a:solidFill>
              <a:srgbClr val="0E4D3B"/>
            </a:solidFill>
            <a:prstDash val="solid"/>
            <a:miter lim="800000"/>
            <a:headEnd type="none" w="sm" len="sm"/>
            <a:tailEnd type="none" w="sm" len="sm"/>
          </a:ln>
        </p:spPr>
      </p:cxnSp>
      <p:pic>
        <p:nvPicPr>
          <p:cNvPr id="455" name="Google Shape;455;g3abb6a546c7_0_25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456" name="Google Shape;456;g3abb6a546c7_0_2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590934" y="6330522"/>
            <a:ext cx="1499906" cy="585000"/>
          </a:xfrm>
          <a:prstGeom prst="rect">
            <a:avLst/>
          </a:prstGeom>
          <a:noFill/>
          <a:ln>
            <a:noFill/>
          </a:ln>
        </p:spPr>
      </p:pic>
      <p:sp>
        <p:nvSpPr>
          <p:cNvPr id="457" name="Google Shape;457;g3abb6a546c7_0_25"/>
          <p:cNvSpPr txBox="1"/>
          <p:nvPr/>
        </p:nvSpPr>
        <p:spPr>
          <a:xfrm>
            <a:off x="-1" y="6288587"/>
            <a:ext cx="5981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Term Paper Presentation | Ronit Dutta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458" name="Google Shape;458;g3abb6a546c7_0_25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459" name="Google Shape;459;g3abb6a546c7_0_2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590934" y="6330522"/>
            <a:ext cx="1499906" cy="585000"/>
          </a:xfrm>
          <a:prstGeom prst="rect">
            <a:avLst/>
          </a:prstGeom>
          <a:noFill/>
          <a:ln>
            <a:noFill/>
          </a:ln>
        </p:spPr>
      </p:pic>
      <p:sp>
        <p:nvSpPr>
          <p:cNvPr id="460" name="Google Shape;460;g3abb6a546c7_0_25"/>
          <p:cNvSpPr txBox="1"/>
          <p:nvPr/>
        </p:nvSpPr>
        <p:spPr>
          <a:xfrm>
            <a:off x="-1" y="6288587"/>
            <a:ext cx="59811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Machine Learning Professional</a:t>
            </a:r>
            <a:b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Project</a:t>
            </a: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Presentation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461" name="Google Shape;461;g3abb6a546c7_0_25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590875" y="6330524"/>
            <a:ext cx="1500023" cy="585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62" name="Google Shape;462;g3abb6a546c7_0_25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sp>
        <p:nvSpPr>
          <p:cNvPr id="463" name="Google Shape;463;g3abb6a546c7_0_25"/>
          <p:cNvSpPr txBox="1"/>
          <p:nvPr/>
        </p:nvSpPr>
        <p:spPr>
          <a:xfrm>
            <a:off x="-1" y="6288587"/>
            <a:ext cx="59811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Machine Learning Professional</a:t>
            </a:r>
            <a:b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Project</a:t>
            </a: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Presentation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464" name="Google Shape;464;g3abb6a546c7_0_25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590875" y="6330524"/>
            <a:ext cx="1500023" cy="585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65" name="Google Shape;465;g3abb6a546c7_0_25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sp>
        <p:nvSpPr>
          <p:cNvPr id="466" name="Google Shape;466;g3abb6a546c7_0_25"/>
          <p:cNvSpPr txBox="1"/>
          <p:nvPr/>
        </p:nvSpPr>
        <p:spPr>
          <a:xfrm>
            <a:off x="-1" y="6234672"/>
            <a:ext cx="59811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Machine Learning Professional</a:t>
            </a:r>
            <a:b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Project</a:t>
            </a: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Presentation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467" name="Google Shape;467;g3abb6a546c7_0_25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590875" y="6330524"/>
            <a:ext cx="1500023" cy="585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68" name="Google Shape;468;g3abb6a546c7_0_25"/>
          <p:cNvPicPr preferRelativeResize="0"/>
          <p:nvPr/>
        </p:nvPicPr>
        <p:blipFill rotWithShape="1">
          <a:blip r:embed="rId8">
            <a:alphaModFix/>
          </a:blip>
          <a:srcRect b="49831"/>
          <a:stretch/>
        </p:blipFill>
        <p:spPr>
          <a:xfrm>
            <a:off x="1038269" y="855325"/>
            <a:ext cx="9604962" cy="1743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69" name="Google Shape;469;g3abb6a546c7_0_25"/>
          <p:cNvPicPr preferRelativeResize="0"/>
          <p:nvPr/>
        </p:nvPicPr>
        <p:blipFill rotWithShape="1">
          <a:blip r:embed="rId9">
            <a:alphaModFix/>
          </a:blip>
          <a:srcRect l="5731" t="5591" b="69787"/>
          <a:stretch/>
        </p:blipFill>
        <p:spPr>
          <a:xfrm>
            <a:off x="513825" y="2780250"/>
            <a:ext cx="5274101" cy="1079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70" name="Google Shape;470;g3abb6a546c7_0_25"/>
          <p:cNvPicPr preferRelativeResize="0"/>
          <p:nvPr/>
        </p:nvPicPr>
        <p:blipFill rotWithShape="1">
          <a:blip r:embed="rId9">
            <a:alphaModFix/>
          </a:blip>
          <a:srcRect l="5418" t="67809" r="58719" b="24604"/>
          <a:stretch/>
        </p:blipFill>
        <p:spPr>
          <a:xfrm>
            <a:off x="6821325" y="3152000"/>
            <a:ext cx="2228300" cy="369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71" name="Google Shape;471;g3abb6a546c7_0_25"/>
          <p:cNvPicPr preferRelativeResize="0"/>
          <p:nvPr/>
        </p:nvPicPr>
        <p:blipFill rotWithShape="1">
          <a:blip r:embed="rId9">
            <a:alphaModFix/>
          </a:blip>
          <a:srcRect l="4961" t="29867" b="44187"/>
          <a:stretch/>
        </p:blipFill>
        <p:spPr>
          <a:xfrm>
            <a:off x="500388" y="4269275"/>
            <a:ext cx="5317225" cy="1137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72" name="Google Shape;472;g3abb6a546c7_0_25"/>
          <p:cNvPicPr preferRelativeResize="0"/>
          <p:nvPr/>
        </p:nvPicPr>
        <p:blipFill rotWithShape="1">
          <a:blip r:embed="rId9">
            <a:alphaModFix/>
          </a:blip>
          <a:srcRect l="6261" t="85726" r="59818" b="8312"/>
          <a:stretch/>
        </p:blipFill>
        <p:spPr>
          <a:xfrm>
            <a:off x="6821325" y="4725025"/>
            <a:ext cx="2107725" cy="290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73" name="Google Shape;473;g3abb6a546c7_0_25"/>
          <p:cNvPicPr preferRelativeResize="0"/>
          <p:nvPr/>
        </p:nvPicPr>
        <p:blipFill rotWithShape="1">
          <a:blip r:embed="rId9">
            <a:alphaModFix/>
          </a:blip>
          <a:srcRect l="46422" t="75167" r="18813" b="13765"/>
          <a:stretch/>
        </p:blipFill>
        <p:spPr>
          <a:xfrm>
            <a:off x="8409975" y="3578725"/>
            <a:ext cx="2160150" cy="538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74" name="Google Shape;474;g3abb6a546c7_0_25"/>
          <p:cNvPicPr preferRelativeResize="0"/>
          <p:nvPr/>
        </p:nvPicPr>
        <p:blipFill rotWithShape="1">
          <a:blip r:embed="rId9">
            <a:alphaModFix/>
          </a:blip>
          <a:srcRect l="51149" t="92414" r="23367"/>
          <a:stretch/>
        </p:blipFill>
        <p:spPr>
          <a:xfrm>
            <a:off x="8698350" y="5137025"/>
            <a:ext cx="1583400" cy="369300"/>
          </a:xfrm>
          <a:prstGeom prst="rect">
            <a:avLst/>
          </a:prstGeom>
          <a:noFill/>
          <a:ln>
            <a:noFill/>
          </a:ln>
        </p:spPr>
      </p:pic>
      <p:sp>
        <p:nvSpPr>
          <p:cNvPr id="475" name="Google Shape;475;g3abb6a546c7_0_25"/>
          <p:cNvSpPr/>
          <p:nvPr/>
        </p:nvSpPr>
        <p:spPr>
          <a:xfrm>
            <a:off x="6422725" y="2996450"/>
            <a:ext cx="4718700" cy="26061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76" name="Google Shape;476;g3abb6a546c7_0_25"/>
          <p:cNvPicPr preferRelativeResize="0"/>
          <p:nvPr/>
        </p:nvPicPr>
        <p:blipFill rotWithShape="1">
          <a:blip r:embed="rId9">
            <a:alphaModFix/>
          </a:blip>
          <a:srcRect l="44989" t="13203" r="17337" b="78371"/>
          <a:stretch/>
        </p:blipFill>
        <p:spPr>
          <a:xfrm>
            <a:off x="2757875" y="3174100"/>
            <a:ext cx="2107725" cy="369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77" name="Google Shape;477;g3abb6a546c7_0_25"/>
          <p:cNvPicPr preferRelativeResize="0"/>
          <p:nvPr/>
        </p:nvPicPr>
        <p:blipFill rotWithShape="1">
          <a:blip r:embed="rId9">
            <a:alphaModFix/>
          </a:blip>
          <a:srcRect t="54337" r="16450" b="39701"/>
          <a:stretch/>
        </p:blipFill>
        <p:spPr>
          <a:xfrm>
            <a:off x="470950" y="5257200"/>
            <a:ext cx="5191600" cy="290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78" name="Google Shape;478;g3abb6a546c7_0_25"/>
          <p:cNvPicPr preferRelativeResize="0"/>
          <p:nvPr/>
        </p:nvPicPr>
        <p:blipFill rotWithShape="1">
          <a:blip r:embed="rId9">
            <a:alphaModFix/>
          </a:blip>
          <a:srcRect l="57303" t="61025" r="26495" b="31388"/>
          <a:stretch/>
        </p:blipFill>
        <p:spPr>
          <a:xfrm>
            <a:off x="2563400" y="5661738"/>
            <a:ext cx="1006699" cy="36930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479" name="Google Shape;479;g3abb6a546c7_0_25"/>
          <p:cNvCxnSpPr>
            <a:stCxn id="471" idx="3"/>
            <a:endCxn id="475" idx="1"/>
          </p:cNvCxnSpPr>
          <p:nvPr/>
        </p:nvCxnSpPr>
        <p:spPr>
          <a:xfrm rot="10800000" flipH="1">
            <a:off x="5817613" y="4299413"/>
            <a:ext cx="605100" cy="5385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F4FF9FD7-2A22-D7C0-E154-0ECDADC265F1}"/>
              </a:ext>
            </a:extLst>
          </p:cNvPr>
          <p:cNvSpPr txBox="1"/>
          <p:nvPr/>
        </p:nvSpPr>
        <p:spPr>
          <a:xfrm>
            <a:off x="6326162" y="5669000"/>
            <a:ext cx="4911826" cy="46166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en-IN" sz="1200" dirty="0">
                <a:latin typeface="Georgia" panose="02040502050405020303" pitchFamily="18" charset="0"/>
              </a:rPr>
              <a:t>“p” -&gt; </a:t>
            </a:r>
            <a:r>
              <a:rPr lang="en-IN" sz="1200" dirty="0" err="1">
                <a:latin typeface="Georgia" panose="02040502050405020303" pitchFamily="18" charset="0"/>
              </a:rPr>
              <a:t>GeMpool</a:t>
            </a:r>
            <a:r>
              <a:rPr lang="en-IN" sz="1200" dirty="0">
                <a:latin typeface="Georgia" panose="02040502050405020303" pitchFamily="18" charset="0"/>
              </a:rPr>
              <a:t> exponent, Projection Weights (</a:t>
            </a:r>
            <a:r>
              <a:rPr lang="en-IN" sz="1200" dirty="0" err="1">
                <a:latin typeface="Georgia" panose="02040502050405020303" pitchFamily="18" charset="0"/>
              </a:rPr>
              <a:t>W,b</a:t>
            </a:r>
            <a:r>
              <a:rPr lang="en-IN" sz="1200" dirty="0">
                <a:latin typeface="Georgia" panose="02040502050405020303" pitchFamily="18" charset="0"/>
              </a:rPr>
              <a:t>) are not arbitrary but learned during training via gradient updates.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Google Shape;484;g3abb6a546c7_0_196"/>
          <p:cNvSpPr/>
          <p:nvPr/>
        </p:nvSpPr>
        <p:spPr>
          <a:xfrm>
            <a:off x="6899950" y="2086750"/>
            <a:ext cx="5001900" cy="1614600"/>
          </a:xfrm>
          <a:prstGeom prst="rect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85" name="Google Shape;485;g3abb6a546c7_0_19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486" name="Google Shape;486;g3abb6a546c7_0_19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590934" y="6330522"/>
            <a:ext cx="1499906" cy="585000"/>
          </a:xfrm>
          <a:prstGeom prst="rect">
            <a:avLst/>
          </a:prstGeom>
          <a:noFill/>
          <a:ln>
            <a:noFill/>
          </a:ln>
        </p:spPr>
      </p:pic>
      <p:sp>
        <p:nvSpPr>
          <p:cNvPr id="487" name="Google Shape;487;g3abb6a546c7_0_196"/>
          <p:cNvSpPr txBox="1"/>
          <p:nvPr/>
        </p:nvSpPr>
        <p:spPr>
          <a:xfrm>
            <a:off x="-1" y="6288587"/>
            <a:ext cx="5981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Term Paper Presentation | Ronit Dutta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488" name="Google Shape;488;g3abb6a546c7_0_196"/>
          <p:cNvSpPr txBox="1"/>
          <p:nvPr/>
        </p:nvSpPr>
        <p:spPr>
          <a:xfrm>
            <a:off x="0" y="129800"/>
            <a:ext cx="121920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STEP 2 : Query Encoding</a:t>
            </a:r>
            <a:endParaRPr sz="32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cxnSp>
        <p:nvCxnSpPr>
          <p:cNvPr id="489" name="Google Shape;489;g3abb6a546c7_0_196"/>
          <p:cNvCxnSpPr/>
          <p:nvPr/>
        </p:nvCxnSpPr>
        <p:spPr>
          <a:xfrm rot="10800000" flipH="1">
            <a:off x="6" y="738089"/>
            <a:ext cx="6318000" cy="30600"/>
          </a:xfrm>
          <a:prstGeom prst="straightConnector1">
            <a:avLst/>
          </a:prstGeom>
          <a:noFill/>
          <a:ln w="9525" cap="flat" cmpd="sng">
            <a:solidFill>
              <a:srgbClr val="0E4D3B"/>
            </a:solidFill>
            <a:prstDash val="solid"/>
            <a:miter lim="800000"/>
            <a:headEnd type="none" w="sm" len="sm"/>
            <a:tailEnd type="none" w="sm" len="sm"/>
          </a:ln>
        </p:spPr>
      </p:cxnSp>
      <p:pic>
        <p:nvPicPr>
          <p:cNvPr id="490" name="Google Shape;490;g3abb6a546c7_0_196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491" name="Google Shape;491;g3abb6a546c7_0_19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590934" y="6330522"/>
            <a:ext cx="1499906" cy="585000"/>
          </a:xfrm>
          <a:prstGeom prst="rect">
            <a:avLst/>
          </a:prstGeom>
          <a:noFill/>
          <a:ln>
            <a:noFill/>
          </a:ln>
        </p:spPr>
      </p:pic>
      <p:sp>
        <p:nvSpPr>
          <p:cNvPr id="492" name="Google Shape;492;g3abb6a546c7_0_196"/>
          <p:cNvSpPr txBox="1"/>
          <p:nvPr/>
        </p:nvSpPr>
        <p:spPr>
          <a:xfrm>
            <a:off x="-1" y="6288587"/>
            <a:ext cx="5981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Term Paper Presentation | Ronit Dutta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493" name="Google Shape;493;g3abb6a546c7_0_196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494" name="Google Shape;494;g3abb6a546c7_0_19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590934" y="6330522"/>
            <a:ext cx="1499906" cy="585000"/>
          </a:xfrm>
          <a:prstGeom prst="rect">
            <a:avLst/>
          </a:prstGeom>
          <a:noFill/>
          <a:ln>
            <a:noFill/>
          </a:ln>
        </p:spPr>
      </p:pic>
      <p:sp>
        <p:nvSpPr>
          <p:cNvPr id="495" name="Google Shape;495;g3abb6a546c7_0_196"/>
          <p:cNvSpPr txBox="1"/>
          <p:nvPr/>
        </p:nvSpPr>
        <p:spPr>
          <a:xfrm>
            <a:off x="-1" y="6288587"/>
            <a:ext cx="59811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Machine Learning Professional</a:t>
            </a:r>
            <a:b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Project</a:t>
            </a: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Presentation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496" name="Google Shape;496;g3abb6a546c7_0_196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590875" y="6330524"/>
            <a:ext cx="1500023" cy="585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97" name="Google Shape;497;g3abb6a546c7_0_196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sp>
        <p:nvSpPr>
          <p:cNvPr id="498" name="Google Shape;498;g3abb6a546c7_0_196"/>
          <p:cNvSpPr txBox="1"/>
          <p:nvPr/>
        </p:nvSpPr>
        <p:spPr>
          <a:xfrm>
            <a:off x="-1" y="6288587"/>
            <a:ext cx="59811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Machine Learning Professional</a:t>
            </a:r>
            <a:b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Project</a:t>
            </a: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Presentation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499" name="Google Shape;499;g3abb6a546c7_0_196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590875" y="6330524"/>
            <a:ext cx="1500023" cy="585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00" name="Google Shape;500;g3abb6a546c7_0_196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sp>
        <p:nvSpPr>
          <p:cNvPr id="501" name="Google Shape;501;g3abb6a546c7_0_196"/>
          <p:cNvSpPr txBox="1"/>
          <p:nvPr/>
        </p:nvSpPr>
        <p:spPr>
          <a:xfrm>
            <a:off x="-1" y="6234672"/>
            <a:ext cx="59811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Machine Learning Professional</a:t>
            </a:r>
            <a:b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Project</a:t>
            </a: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Presentation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502" name="Google Shape;502;g3abb6a546c7_0_196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590875" y="6330524"/>
            <a:ext cx="1500023" cy="585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03" name="Google Shape;503;g3abb6a546c7_0_196"/>
          <p:cNvPicPr preferRelativeResize="0"/>
          <p:nvPr/>
        </p:nvPicPr>
        <p:blipFill rotWithShape="1">
          <a:blip r:embed="rId8">
            <a:alphaModFix/>
          </a:blip>
          <a:srcRect r="52077" b="69636"/>
          <a:stretch/>
        </p:blipFill>
        <p:spPr>
          <a:xfrm>
            <a:off x="6994550" y="2271300"/>
            <a:ext cx="3900651" cy="936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04" name="Google Shape;504;g3abb6a546c7_0_196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121903" y="1051750"/>
            <a:ext cx="5948418" cy="3029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05" name="Google Shape;505;g3abb6a546c7_0_196"/>
          <p:cNvPicPr preferRelativeResize="0"/>
          <p:nvPr/>
        </p:nvPicPr>
        <p:blipFill rotWithShape="1">
          <a:blip r:embed="rId8">
            <a:alphaModFix/>
          </a:blip>
          <a:srcRect t="44530"/>
          <a:stretch/>
        </p:blipFill>
        <p:spPr>
          <a:xfrm>
            <a:off x="545275" y="4291175"/>
            <a:ext cx="8139400" cy="17102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506" name="Google Shape;506;g3abb6a546c7_0_196"/>
          <p:cNvCxnSpPr>
            <a:stCxn id="484" idx="2"/>
            <a:endCxn id="507" idx="3"/>
          </p:cNvCxnSpPr>
          <p:nvPr/>
        </p:nvCxnSpPr>
        <p:spPr>
          <a:xfrm rot="5400000">
            <a:off x="8317000" y="4013350"/>
            <a:ext cx="1395900" cy="771900"/>
          </a:xfrm>
          <a:prstGeom prst="curvedConnector2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07" name="Google Shape;507;g3abb6a546c7_0_196"/>
          <p:cNvSpPr/>
          <p:nvPr/>
        </p:nvSpPr>
        <p:spPr>
          <a:xfrm>
            <a:off x="489600" y="4242025"/>
            <a:ext cx="8139300" cy="1710300"/>
          </a:xfrm>
          <a:prstGeom prst="rect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latin typeface="Calibri"/>
                <a:ea typeface="Calibri"/>
                <a:cs typeface="Calibri"/>
                <a:sym typeface="Calibri"/>
              </a:rPr>
              <a:t>`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08" name="Google Shape;508;g3abb6a546c7_0_196"/>
          <p:cNvPicPr preferRelativeResize="0"/>
          <p:nvPr/>
        </p:nvPicPr>
        <p:blipFill rotWithShape="1">
          <a:blip r:embed="rId8">
            <a:alphaModFix/>
          </a:blip>
          <a:srcRect l="36001" t="32936" r="37903" b="55086"/>
          <a:stretch/>
        </p:blipFill>
        <p:spPr>
          <a:xfrm>
            <a:off x="8338875" y="3207500"/>
            <a:ext cx="2124051" cy="369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Google Shape;513;g3abb6a546c7_0_223"/>
          <p:cNvSpPr/>
          <p:nvPr/>
        </p:nvSpPr>
        <p:spPr>
          <a:xfrm>
            <a:off x="504050" y="4348950"/>
            <a:ext cx="4508400" cy="14079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4" name="Google Shape;514;g3abb6a546c7_0_223"/>
          <p:cNvSpPr/>
          <p:nvPr/>
        </p:nvSpPr>
        <p:spPr>
          <a:xfrm>
            <a:off x="6526200" y="3999738"/>
            <a:ext cx="5057700" cy="21063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5" name="Google Shape;515;g3abb6a546c7_0_223"/>
          <p:cNvSpPr/>
          <p:nvPr/>
        </p:nvSpPr>
        <p:spPr>
          <a:xfrm>
            <a:off x="6449400" y="876450"/>
            <a:ext cx="5211300" cy="26469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16" name="Google Shape;516;g3abb6a546c7_0_22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517" name="Google Shape;517;g3abb6a546c7_0_22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590934" y="6330522"/>
            <a:ext cx="1499906" cy="585000"/>
          </a:xfrm>
          <a:prstGeom prst="rect">
            <a:avLst/>
          </a:prstGeom>
          <a:noFill/>
          <a:ln>
            <a:noFill/>
          </a:ln>
        </p:spPr>
      </p:pic>
      <p:sp>
        <p:nvSpPr>
          <p:cNvPr id="518" name="Google Shape;518;g3abb6a546c7_0_223"/>
          <p:cNvSpPr txBox="1"/>
          <p:nvPr/>
        </p:nvSpPr>
        <p:spPr>
          <a:xfrm>
            <a:off x="-1" y="6288587"/>
            <a:ext cx="5981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Term Paper Presentation | Ronit Dutta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519" name="Google Shape;519;g3abb6a546c7_0_223"/>
          <p:cNvSpPr txBox="1"/>
          <p:nvPr/>
        </p:nvSpPr>
        <p:spPr>
          <a:xfrm>
            <a:off x="0" y="129800"/>
            <a:ext cx="121920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STEP 3 : Offline - HKM tree building</a:t>
            </a:r>
            <a:endParaRPr sz="32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cxnSp>
        <p:nvCxnSpPr>
          <p:cNvPr id="520" name="Google Shape;520;g3abb6a546c7_0_223"/>
          <p:cNvCxnSpPr/>
          <p:nvPr/>
        </p:nvCxnSpPr>
        <p:spPr>
          <a:xfrm rot="10800000" flipH="1">
            <a:off x="6" y="738089"/>
            <a:ext cx="6318000" cy="30600"/>
          </a:xfrm>
          <a:prstGeom prst="straightConnector1">
            <a:avLst/>
          </a:prstGeom>
          <a:noFill/>
          <a:ln w="9525" cap="flat" cmpd="sng">
            <a:solidFill>
              <a:srgbClr val="0E4D3B"/>
            </a:solidFill>
            <a:prstDash val="solid"/>
            <a:miter lim="800000"/>
            <a:headEnd type="none" w="sm" len="sm"/>
            <a:tailEnd type="none" w="sm" len="sm"/>
          </a:ln>
        </p:spPr>
      </p:cxnSp>
      <p:pic>
        <p:nvPicPr>
          <p:cNvPr id="521" name="Google Shape;521;g3abb6a546c7_0_223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522" name="Google Shape;522;g3abb6a546c7_0_22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590934" y="6330522"/>
            <a:ext cx="1499906" cy="585000"/>
          </a:xfrm>
          <a:prstGeom prst="rect">
            <a:avLst/>
          </a:prstGeom>
          <a:noFill/>
          <a:ln>
            <a:noFill/>
          </a:ln>
        </p:spPr>
      </p:pic>
      <p:sp>
        <p:nvSpPr>
          <p:cNvPr id="523" name="Google Shape;523;g3abb6a546c7_0_223"/>
          <p:cNvSpPr txBox="1"/>
          <p:nvPr/>
        </p:nvSpPr>
        <p:spPr>
          <a:xfrm>
            <a:off x="-1" y="6288587"/>
            <a:ext cx="5981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Term Paper Presentation | Ronit Dutta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524" name="Google Shape;524;g3abb6a546c7_0_223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525" name="Google Shape;525;g3abb6a546c7_0_22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590934" y="6330522"/>
            <a:ext cx="1499906" cy="585000"/>
          </a:xfrm>
          <a:prstGeom prst="rect">
            <a:avLst/>
          </a:prstGeom>
          <a:noFill/>
          <a:ln>
            <a:noFill/>
          </a:ln>
        </p:spPr>
      </p:pic>
      <p:sp>
        <p:nvSpPr>
          <p:cNvPr id="526" name="Google Shape;526;g3abb6a546c7_0_223"/>
          <p:cNvSpPr txBox="1"/>
          <p:nvPr/>
        </p:nvSpPr>
        <p:spPr>
          <a:xfrm>
            <a:off x="-1" y="6288587"/>
            <a:ext cx="59811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Machine Learning Professional</a:t>
            </a:r>
            <a:b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Project</a:t>
            </a: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Presentation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527" name="Google Shape;527;g3abb6a546c7_0_223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590875" y="6330524"/>
            <a:ext cx="1500023" cy="585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28" name="Google Shape;528;g3abb6a546c7_0_223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sp>
        <p:nvSpPr>
          <p:cNvPr id="529" name="Google Shape;529;g3abb6a546c7_0_223"/>
          <p:cNvSpPr txBox="1"/>
          <p:nvPr/>
        </p:nvSpPr>
        <p:spPr>
          <a:xfrm>
            <a:off x="-1" y="6288587"/>
            <a:ext cx="59811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Machine Learning Professional</a:t>
            </a:r>
            <a:b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Project</a:t>
            </a: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Presentation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530" name="Google Shape;530;g3abb6a546c7_0_223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590875" y="6330524"/>
            <a:ext cx="1500023" cy="585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1" name="Google Shape;531;g3abb6a546c7_0_223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sp>
        <p:nvSpPr>
          <p:cNvPr id="532" name="Google Shape;532;g3abb6a546c7_0_223"/>
          <p:cNvSpPr txBox="1"/>
          <p:nvPr/>
        </p:nvSpPr>
        <p:spPr>
          <a:xfrm>
            <a:off x="-1" y="6234672"/>
            <a:ext cx="59811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Machine Learning Professional</a:t>
            </a:r>
            <a:b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Project</a:t>
            </a: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Presentation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533" name="Google Shape;533;g3abb6a546c7_0_223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590875" y="6330524"/>
            <a:ext cx="1500023" cy="585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4" name="Google Shape;534;g3abb6a546c7_0_223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100150" y="1223164"/>
            <a:ext cx="6217850" cy="2858061"/>
          </a:xfrm>
          <a:prstGeom prst="rect">
            <a:avLst/>
          </a:prstGeom>
          <a:noFill/>
          <a:ln>
            <a:noFill/>
          </a:ln>
        </p:spPr>
      </p:pic>
      <p:pic>
        <p:nvPicPr>
          <p:cNvPr id="535" name="Google Shape;535;g3abb6a546c7_0_223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6526200" y="937582"/>
            <a:ext cx="5057775" cy="2552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6" name="Google Shape;536;g3abb6a546c7_0_223"/>
          <p:cNvPicPr preferRelativeResize="0"/>
          <p:nvPr/>
        </p:nvPicPr>
        <p:blipFill rotWithShape="1">
          <a:blip r:embed="rId10">
            <a:alphaModFix/>
          </a:blip>
          <a:srcRect r="40062" b="88849"/>
          <a:stretch/>
        </p:blipFill>
        <p:spPr>
          <a:xfrm>
            <a:off x="7304188" y="4132288"/>
            <a:ext cx="3390450" cy="369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7" name="Google Shape;537;g3abb6a546c7_0_223"/>
          <p:cNvPicPr preferRelativeResize="0"/>
          <p:nvPr/>
        </p:nvPicPr>
        <p:blipFill rotWithShape="1">
          <a:blip r:embed="rId10">
            <a:alphaModFix/>
          </a:blip>
          <a:srcRect t="60643" r="34093" b="21692"/>
          <a:stretch/>
        </p:blipFill>
        <p:spPr>
          <a:xfrm>
            <a:off x="634250" y="4497588"/>
            <a:ext cx="3727925" cy="58500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538" name="Google Shape;538;g3abb6a546c7_0_223"/>
          <p:cNvCxnSpPr>
            <a:stCxn id="515" idx="2"/>
            <a:endCxn id="514" idx="0"/>
          </p:cNvCxnSpPr>
          <p:nvPr/>
        </p:nvCxnSpPr>
        <p:spPr>
          <a:xfrm>
            <a:off x="9055050" y="3523350"/>
            <a:ext cx="0" cy="4764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39" name="Google Shape;539;g3abb6a546c7_0_223"/>
          <p:cNvCxnSpPr>
            <a:stCxn id="514" idx="1"/>
            <a:endCxn id="513" idx="3"/>
          </p:cNvCxnSpPr>
          <p:nvPr/>
        </p:nvCxnSpPr>
        <p:spPr>
          <a:xfrm rot="10800000">
            <a:off x="5012400" y="5052888"/>
            <a:ext cx="15138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  <p:pic>
        <p:nvPicPr>
          <p:cNvPr id="540" name="Google Shape;540;g3abb6a546c7_0_223"/>
          <p:cNvPicPr preferRelativeResize="0"/>
          <p:nvPr/>
        </p:nvPicPr>
        <p:blipFill rotWithShape="1">
          <a:blip r:embed="rId10">
            <a:alphaModFix/>
          </a:blip>
          <a:srcRect l="44198" t="10735" r="15016" b="66091"/>
          <a:stretch/>
        </p:blipFill>
        <p:spPr>
          <a:xfrm>
            <a:off x="8230375" y="4406373"/>
            <a:ext cx="2307000" cy="7674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41" name="Google Shape;541;g3abb6a546c7_0_223"/>
          <p:cNvPicPr preferRelativeResize="0"/>
          <p:nvPr/>
        </p:nvPicPr>
        <p:blipFill rotWithShape="1">
          <a:blip r:embed="rId10">
            <a:alphaModFix/>
          </a:blip>
          <a:srcRect t="31940" r="42844" b="56908"/>
          <a:stretch/>
        </p:blipFill>
        <p:spPr>
          <a:xfrm>
            <a:off x="7410263" y="5031675"/>
            <a:ext cx="3233174" cy="369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42" name="Google Shape;542;g3abb6a546c7_0_223"/>
          <p:cNvPicPr preferRelativeResize="0"/>
          <p:nvPr/>
        </p:nvPicPr>
        <p:blipFill rotWithShape="1">
          <a:blip r:embed="rId10">
            <a:alphaModFix/>
          </a:blip>
          <a:srcRect l="39419" t="42608" r="10588" b="37870"/>
          <a:stretch/>
        </p:blipFill>
        <p:spPr>
          <a:xfrm>
            <a:off x="7978032" y="5410988"/>
            <a:ext cx="2827950" cy="646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43" name="Google Shape;543;g3abb6a546c7_0_223"/>
          <p:cNvPicPr preferRelativeResize="0"/>
          <p:nvPr/>
        </p:nvPicPr>
        <p:blipFill rotWithShape="1">
          <a:blip r:embed="rId10">
            <a:alphaModFix/>
          </a:blip>
          <a:srcRect l="53199" t="78847" r="21118"/>
          <a:stretch/>
        </p:blipFill>
        <p:spPr>
          <a:xfrm>
            <a:off x="2031912" y="4958800"/>
            <a:ext cx="1452676" cy="700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" name="Google Shape;548;g3abb6a546c7_0_253"/>
          <p:cNvSpPr/>
          <p:nvPr/>
        </p:nvSpPr>
        <p:spPr>
          <a:xfrm>
            <a:off x="401100" y="2014488"/>
            <a:ext cx="5515800" cy="28290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9" name="Google Shape;549;g3abb6a546c7_0_253"/>
          <p:cNvSpPr/>
          <p:nvPr/>
        </p:nvSpPr>
        <p:spPr>
          <a:xfrm>
            <a:off x="6836050" y="1942038"/>
            <a:ext cx="4804500" cy="29739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50" name="Google Shape;550;g3abb6a546c7_0_25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551" name="Google Shape;551;g3abb6a546c7_0_25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590934" y="6330522"/>
            <a:ext cx="1499906" cy="585000"/>
          </a:xfrm>
          <a:prstGeom prst="rect">
            <a:avLst/>
          </a:prstGeom>
          <a:noFill/>
          <a:ln>
            <a:noFill/>
          </a:ln>
        </p:spPr>
      </p:pic>
      <p:sp>
        <p:nvSpPr>
          <p:cNvPr id="552" name="Google Shape;552;g3abb6a546c7_0_253"/>
          <p:cNvSpPr txBox="1"/>
          <p:nvPr/>
        </p:nvSpPr>
        <p:spPr>
          <a:xfrm>
            <a:off x="-1" y="6288587"/>
            <a:ext cx="5981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Term Paper Presentation | Ronit Dutta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553" name="Google Shape;553;g3abb6a546c7_0_253"/>
          <p:cNvSpPr txBox="1"/>
          <p:nvPr/>
        </p:nvSpPr>
        <p:spPr>
          <a:xfrm>
            <a:off x="0" y="129800"/>
            <a:ext cx="121920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STEP 4 : ONLINE STAGE</a:t>
            </a:r>
            <a:endParaRPr sz="32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cxnSp>
        <p:nvCxnSpPr>
          <p:cNvPr id="554" name="Google Shape;554;g3abb6a546c7_0_253"/>
          <p:cNvCxnSpPr/>
          <p:nvPr/>
        </p:nvCxnSpPr>
        <p:spPr>
          <a:xfrm rot="10800000" flipH="1">
            <a:off x="6" y="738089"/>
            <a:ext cx="6318000" cy="30600"/>
          </a:xfrm>
          <a:prstGeom prst="straightConnector1">
            <a:avLst/>
          </a:prstGeom>
          <a:noFill/>
          <a:ln w="9525" cap="flat" cmpd="sng">
            <a:solidFill>
              <a:srgbClr val="0E4D3B"/>
            </a:solidFill>
            <a:prstDash val="solid"/>
            <a:miter lim="800000"/>
            <a:headEnd type="none" w="sm" len="sm"/>
            <a:tailEnd type="none" w="sm" len="sm"/>
          </a:ln>
        </p:spPr>
      </p:cxnSp>
      <p:pic>
        <p:nvPicPr>
          <p:cNvPr id="555" name="Google Shape;555;g3abb6a546c7_0_253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556" name="Google Shape;556;g3abb6a546c7_0_25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590934" y="6330522"/>
            <a:ext cx="1499906" cy="585000"/>
          </a:xfrm>
          <a:prstGeom prst="rect">
            <a:avLst/>
          </a:prstGeom>
          <a:noFill/>
          <a:ln>
            <a:noFill/>
          </a:ln>
        </p:spPr>
      </p:pic>
      <p:sp>
        <p:nvSpPr>
          <p:cNvPr id="557" name="Google Shape;557;g3abb6a546c7_0_253"/>
          <p:cNvSpPr txBox="1"/>
          <p:nvPr/>
        </p:nvSpPr>
        <p:spPr>
          <a:xfrm>
            <a:off x="-1" y="6288587"/>
            <a:ext cx="5981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Term Paper Presentation | Ronit Dutta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558" name="Google Shape;558;g3abb6a546c7_0_253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559" name="Google Shape;559;g3abb6a546c7_0_25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590934" y="6330522"/>
            <a:ext cx="1499906" cy="585000"/>
          </a:xfrm>
          <a:prstGeom prst="rect">
            <a:avLst/>
          </a:prstGeom>
          <a:noFill/>
          <a:ln>
            <a:noFill/>
          </a:ln>
        </p:spPr>
      </p:pic>
      <p:sp>
        <p:nvSpPr>
          <p:cNvPr id="560" name="Google Shape;560;g3abb6a546c7_0_253"/>
          <p:cNvSpPr txBox="1"/>
          <p:nvPr/>
        </p:nvSpPr>
        <p:spPr>
          <a:xfrm>
            <a:off x="-1" y="6288587"/>
            <a:ext cx="59811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Machine Learning Professional</a:t>
            </a:r>
            <a:b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Project</a:t>
            </a: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Presentation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561" name="Google Shape;561;g3abb6a546c7_0_253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590875" y="6330524"/>
            <a:ext cx="1500023" cy="585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62" name="Google Shape;562;g3abb6a546c7_0_253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sp>
        <p:nvSpPr>
          <p:cNvPr id="563" name="Google Shape;563;g3abb6a546c7_0_253"/>
          <p:cNvSpPr txBox="1"/>
          <p:nvPr/>
        </p:nvSpPr>
        <p:spPr>
          <a:xfrm>
            <a:off x="-1" y="6288587"/>
            <a:ext cx="59811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Machine Learning Professional</a:t>
            </a:r>
            <a:b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Project</a:t>
            </a: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Presentation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564" name="Google Shape;564;g3abb6a546c7_0_253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590875" y="6330524"/>
            <a:ext cx="1500023" cy="585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65" name="Google Shape;565;g3abb6a546c7_0_253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sp>
        <p:nvSpPr>
          <p:cNvPr id="566" name="Google Shape;566;g3abb6a546c7_0_253"/>
          <p:cNvSpPr txBox="1"/>
          <p:nvPr/>
        </p:nvSpPr>
        <p:spPr>
          <a:xfrm>
            <a:off x="-1" y="6234672"/>
            <a:ext cx="59811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Machine Learning Professional</a:t>
            </a:r>
            <a:b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Project</a:t>
            </a: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Presentation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567" name="Google Shape;567;g3abb6a546c7_0_253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590875" y="6330524"/>
            <a:ext cx="1500023" cy="585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68" name="Google Shape;568;g3abb6a546c7_0_253"/>
          <p:cNvPicPr preferRelativeResize="0"/>
          <p:nvPr/>
        </p:nvPicPr>
        <p:blipFill rotWithShape="1">
          <a:blip r:embed="rId8">
            <a:alphaModFix/>
          </a:blip>
          <a:srcRect b="33823"/>
          <a:stretch/>
        </p:blipFill>
        <p:spPr>
          <a:xfrm>
            <a:off x="450900" y="2073775"/>
            <a:ext cx="5379451" cy="27104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69" name="Google Shape;569;g3abb6a546c7_0_253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6879200" y="2043714"/>
            <a:ext cx="4743450" cy="2828925"/>
          </a:xfrm>
          <a:prstGeom prst="rect">
            <a:avLst/>
          </a:prstGeom>
          <a:noFill/>
          <a:ln>
            <a:noFill/>
          </a:ln>
        </p:spPr>
      </p:pic>
      <p:sp>
        <p:nvSpPr>
          <p:cNvPr id="570" name="Google Shape;570;g3abb6a546c7_0_253"/>
          <p:cNvSpPr txBox="1"/>
          <p:nvPr/>
        </p:nvSpPr>
        <p:spPr>
          <a:xfrm>
            <a:off x="1631550" y="1320738"/>
            <a:ext cx="2718000" cy="44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OFFLINE STAGE</a:t>
            </a:r>
            <a:endParaRPr sz="1700">
              <a:solidFill>
                <a:schemeClr val="dk1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571" name="Google Shape;571;g3abb6a546c7_0_253"/>
          <p:cNvSpPr txBox="1"/>
          <p:nvPr/>
        </p:nvSpPr>
        <p:spPr>
          <a:xfrm>
            <a:off x="7879300" y="1320750"/>
            <a:ext cx="2718000" cy="44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ONLINE STAGE</a:t>
            </a:r>
            <a:endParaRPr sz="1700">
              <a:solidFill>
                <a:schemeClr val="dk1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cxnSp>
        <p:nvCxnSpPr>
          <p:cNvPr id="572" name="Google Shape;572;g3abb6a546c7_0_253"/>
          <p:cNvCxnSpPr>
            <a:stCxn id="548" idx="3"/>
            <a:endCxn id="549" idx="1"/>
          </p:cNvCxnSpPr>
          <p:nvPr/>
        </p:nvCxnSpPr>
        <p:spPr>
          <a:xfrm>
            <a:off x="5916900" y="3428988"/>
            <a:ext cx="919200" cy="0"/>
          </a:xfrm>
          <a:prstGeom prst="straightConnector1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73" name="Google Shape;573;g3abb6a546c7_0_253"/>
          <p:cNvSpPr/>
          <p:nvPr/>
        </p:nvSpPr>
        <p:spPr>
          <a:xfrm>
            <a:off x="2055300" y="1247850"/>
            <a:ext cx="1939800" cy="576900"/>
          </a:xfrm>
          <a:prstGeom prst="roundRect">
            <a:avLst>
              <a:gd name="adj" fmla="val 16667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4" name="Google Shape;574;g3abb6a546c7_0_253"/>
          <p:cNvSpPr/>
          <p:nvPr/>
        </p:nvSpPr>
        <p:spPr>
          <a:xfrm>
            <a:off x="8281025" y="1255500"/>
            <a:ext cx="1939800" cy="576900"/>
          </a:xfrm>
          <a:prstGeom prst="roundRect">
            <a:avLst>
              <a:gd name="adj" fmla="val 16667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g3abb6a546c7_0_289"/>
          <p:cNvSpPr/>
          <p:nvPr/>
        </p:nvSpPr>
        <p:spPr>
          <a:xfrm>
            <a:off x="8693675" y="4827213"/>
            <a:ext cx="2810400" cy="6465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0" name="Google Shape;580;g3abb6a546c7_0_289"/>
          <p:cNvSpPr/>
          <p:nvPr/>
        </p:nvSpPr>
        <p:spPr>
          <a:xfrm>
            <a:off x="473400" y="1526892"/>
            <a:ext cx="5981100" cy="3692400"/>
          </a:xfrm>
          <a:prstGeom prst="rect">
            <a:avLst/>
          </a:prstGeom>
          <a:noFill/>
          <a:ln w="174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83825" tIns="83825" rIns="83825" bIns="838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83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81" name="Google Shape;581;g3abb6a546c7_0_28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582" name="Google Shape;582;g3abb6a546c7_0_28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590934" y="6330522"/>
            <a:ext cx="1499906" cy="585000"/>
          </a:xfrm>
          <a:prstGeom prst="rect">
            <a:avLst/>
          </a:prstGeom>
          <a:noFill/>
          <a:ln>
            <a:noFill/>
          </a:ln>
        </p:spPr>
      </p:pic>
      <p:sp>
        <p:nvSpPr>
          <p:cNvPr id="583" name="Google Shape;583;g3abb6a546c7_0_289"/>
          <p:cNvSpPr txBox="1"/>
          <p:nvPr/>
        </p:nvSpPr>
        <p:spPr>
          <a:xfrm>
            <a:off x="-1" y="6288587"/>
            <a:ext cx="5981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Term Paper Presentation | Ronit Dutta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584" name="Google Shape;584;g3abb6a546c7_0_289"/>
          <p:cNvSpPr txBox="1"/>
          <p:nvPr/>
        </p:nvSpPr>
        <p:spPr>
          <a:xfrm>
            <a:off x="0" y="129800"/>
            <a:ext cx="121920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STEP 4 : ONLINE STAGE</a:t>
            </a:r>
            <a:endParaRPr sz="32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cxnSp>
        <p:nvCxnSpPr>
          <p:cNvPr id="585" name="Google Shape;585;g3abb6a546c7_0_289"/>
          <p:cNvCxnSpPr/>
          <p:nvPr/>
        </p:nvCxnSpPr>
        <p:spPr>
          <a:xfrm rot="10800000" flipH="1">
            <a:off x="6" y="738089"/>
            <a:ext cx="6318000" cy="30600"/>
          </a:xfrm>
          <a:prstGeom prst="straightConnector1">
            <a:avLst/>
          </a:prstGeom>
          <a:noFill/>
          <a:ln w="9525" cap="flat" cmpd="sng">
            <a:solidFill>
              <a:srgbClr val="0E4D3B"/>
            </a:solidFill>
            <a:prstDash val="solid"/>
            <a:miter lim="800000"/>
            <a:headEnd type="none" w="sm" len="sm"/>
            <a:tailEnd type="none" w="sm" len="sm"/>
          </a:ln>
        </p:spPr>
      </p:cxnSp>
      <p:pic>
        <p:nvPicPr>
          <p:cNvPr id="586" name="Google Shape;586;g3abb6a546c7_0_289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587" name="Google Shape;587;g3abb6a546c7_0_28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590934" y="6330522"/>
            <a:ext cx="1499906" cy="585000"/>
          </a:xfrm>
          <a:prstGeom prst="rect">
            <a:avLst/>
          </a:prstGeom>
          <a:noFill/>
          <a:ln>
            <a:noFill/>
          </a:ln>
        </p:spPr>
      </p:pic>
      <p:sp>
        <p:nvSpPr>
          <p:cNvPr id="588" name="Google Shape;588;g3abb6a546c7_0_289"/>
          <p:cNvSpPr txBox="1"/>
          <p:nvPr/>
        </p:nvSpPr>
        <p:spPr>
          <a:xfrm>
            <a:off x="-1" y="6288587"/>
            <a:ext cx="5981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Term Paper Presentation | Ronit Dutta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589" name="Google Shape;589;g3abb6a546c7_0_289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590" name="Google Shape;590;g3abb6a546c7_0_28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590934" y="6330522"/>
            <a:ext cx="1499906" cy="585000"/>
          </a:xfrm>
          <a:prstGeom prst="rect">
            <a:avLst/>
          </a:prstGeom>
          <a:noFill/>
          <a:ln>
            <a:noFill/>
          </a:ln>
        </p:spPr>
      </p:pic>
      <p:sp>
        <p:nvSpPr>
          <p:cNvPr id="591" name="Google Shape;591;g3abb6a546c7_0_289"/>
          <p:cNvSpPr txBox="1"/>
          <p:nvPr/>
        </p:nvSpPr>
        <p:spPr>
          <a:xfrm>
            <a:off x="-1" y="6288587"/>
            <a:ext cx="59811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Machine Learning Professional</a:t>
            </a:r>
            <a:b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Project</a:t>
            </a: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Presentation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592" name="Google Shape;592;g3abb6a546c7_0_289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590875" y="6330524"/>
            <a:ext cx="1500023" cy="585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93" name="Google Shape;593;g3abb6a546c7_0_289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sp>
        <p:nvSpPr>
          <p:cNvPr id="594" name="Google Shape;594;g3abb6a546c7_0_289"/>
          <p:cNvSpPr txBox="1"/>
          <p:nvPr/>
        </p:nvSpPr>
        <p:spPr>
          <a:xfrm>
            <a:off x="-1" y="6288587"/>
            <a:ext cx="59811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Machine Learning Professional</a:t>
            </a:r>
            <a:b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Project</a:t>
            </a: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Presentation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595" name="Google Shape;595;g3abb6a546c7_0_289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590875" y="6330524"/>
            <a:ext cx="1500023" cy="585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96" name="Google Shape;596;g3abb6a546c7_0_289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sp>
        <p:nvSpPr>
          <p:cNvPr id="597" name="Google Shape;597;g3abb6a546c7_0_289"/>
          <p:cNvSpPr txBox="1"/>
          <p:nvPr/>
        </p:nvSpPr>
        <p:spPr>
          <a:xfrm>
            <a:off x="-1" y="6234672"/>
            <a:ext cx="59811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Machine Learning Professional</a:t>
            </a:r>
            <a:b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Project</a:t>
            </a: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Presentation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598" name="Google Shape;598;g3abb6a546c7_0_289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590875" y="6330524"/>
            <a:ext cx="1500023" cy="585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99" name="Google Shape;599;g3abb6a546c7_0_289"/>
          <p:cNvPicPr preferRelativeResize="0"/>
          <p:nvPr/>
        </p:nvPicPr>
        <p:blipFill rotWithShape="1">
          <a:blip r:embed="rId8">
            <a:alphaModFix/>
          </a:blip>
          <a:srcRect b="6323"/>
          <a:stretch/>
        </p:blipFill>
        <p:spPr>
          <a:xfrm>
            <a:off x="551114" y="1571526"/>
            <a:ext cx="5793486" cy="3561234"/>
          </a:xfrm>
          <a:prstGeom prst="rect">
            <a:avLst/>
          </a:prstGeom>
          <a:noFill/>
          <a:ln>
            <a:noFill/>
          </a:ln>
        </p:spPr>
      </p:pic>
      <p:pic>
        <p:nvPicPr>
          <p:cNvPr id="600" name="Google Shape;600;g3abb6a546c7_0_289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6772625" y="1453851"/>
            <a:ext cx="5414900" cy="2635775"/>
          </a:xfrm>
          <a:prstGeom prst="rect">
            <a:avLst/>
          </a:prstGeom>
          <a:noFill/>
          <a:ln>
            <a:noFill/>
          </a:ln>
        </p:spPr>
      </p:pic>
      <p:sp>
        <p:nvSpPr>
          <p:cNvPr id="601" name="Google Shape;601;g3abb6a546c7_0_289"/>
          <p:cNvSpPr/>
          <p:nvPr/>
        </p:nvSpPr>
        <p:spPr>
          <a:xfrm>
            <a:off x="9741975" y="1373700"/>
            <a:ext cx="1415100" cy="2999100"/>
          </a:xfrm>
          <a:prstGeom prst="roundRect">
            <a:avLst>
              <a:gd name="adj" fmla="val 16667"/>
            </a:avLst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2" name="Google Shape;602;g3abb6a546c7_0_289"/>
          <p:cNvSpPr txBox="1"/>
          <p:nvPr/>
        </p:nvSpPr>
        <p:spPr>
          <a:xfrm>
            <a:off x="8662175" y="4827213"/>
            <a:ext cx="28734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Calculate pairwise similarity and produce similarity matrix!!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603" name="Google Shape;603;g3abb6a546c7_0_289"/>
          <p:cNvCxnSpPr>
            <a:stCxn id="601" idx="2"/>
            <a:endCxn id="602" idx="0"/>
          </p:cNvCxnSpPr>
          <p:nvPr/>
        </p:nvCxnSpPr>
        <p:spPr>
          <a:xfrm flipH="1">
            <a:off x="10098825" y="4372800"/>
            <a:ext cx="350700" cy="4545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8" name="Google Shape;608;g3abb6a546c7_0_607"/>
          <p:cNvSpPr/>
          <p:nvPr/>
        </p:nvSpPr>
        <p:spPr>
          <a:xfrm>
            <a:off x="8839925" y="5351625"/>
            <a:ext cx="2810400" cy="6465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9" name="Google Shape;609;g3abb6a546c7_0_607"/>
          <p:cNvSpPr/>
          <p:nvPr/>
        </p:nvSpPr>
        <p:spPr>
          <a:xfrm>
            <a:off x="769100" y="1666550"/>
            <a:ext cx="6249600" cy="42381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10" name="Google Shape;610;g3abb6a546c7_0_60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611" name="Google Shape;611;g3abb6a546c7_0_60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590934" y="6330522"/>
            <a:ext cx="1499906" cy="585000"/>
          </a:xfrm>
          <a:prstGeom prst="rect">
            <a:avLst/>
          </a:prstGeom>
          <a:noFill/>
          <a:ln>
            <a:noFill/>
          </a:ln>
        </p:spPr>
      </p:pic>
      <p:sp>
        <p:nvSpPr>
          <p:cNvPr id="612" name="Google Shape;612;g3abb6a546c7_0_607"/>
          <p:cNvSpPr txBox="1"/>
          <p:nvPr/>
        </p:nvSpPr>
        <p:spPr>
          <a:xfrm>
            <a:off x="-1" y="6288587"/>
            <a:ext cx="5981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Term Paper Presentation | Ronit Dutta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613" name="Google Shape;613;g3abb6a546c7_0_607"/>
          <p:cNvSpPr txBox="1"/>
          <p:nvPr/>
        </p:nvSpPr>
        <p:spPr>
          <a:xfrm>
            <a:off x="0" y="129800"/>
            <a:ext cx="121920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STEP 5 : Final Retrieval</a:t>
            </a:r>
            <a:endParaRPr sz="32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cxnSp>
        <p:nvCxnSpPr>
          <p:cNvPr id="614" name="Google Shape;614;g3abb6a546c7_0_607"/>
          <p:cNvCxnSpPr/>
          <p:nvPr/>
        </p:nvCxnSpPr>
        <p:spPr>
          <a:xfrm rot="10800000" flipH="1">
            <a:off x="6" y="738089"/>
            <a:ext cx="6318000" cy="30600"/>
          </a:xfrm>
          <a:prstGeom prst="straightConnector1">
            <a:avLst/>
          </a:prstGeom>
          <a:noFill/>
          <a:ln w="9525" cap="flat" cmpd="sng">
            <a:solidFill>
              <a:srgbClr val="0E4D3B"/>
            </a:solidFill>
            <a:prstDash val="solid"/>
            <a:miter lim="800000"/>
            <a:headEnd type="none" w="sm" len="sm"/>
            <a:tailEnd type="none" w="sm" len="sm"/>
          </a:ln>
        </p:spPr>
      </p:cxnSp>
      <p:pic>
        <p:nvPicPr>
          <p:cNvPr id="615" name="Google Shape;615;g3abb6a546c7_0_607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616" name="Google Shape;616;g3abb6a546c7_0_60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590934" y="6330522"/>
            <a:ext cx="1499906" cy="585000"/>
          </a:xfrm>
          <a:prstGeom prst="rect">
            <a:avLst/>
          </a:prstGeom>
          <a:noFill/>
          <a:ln>
            <a:noFill/>
          </a:ln>
        </p:spPr>
      </p:pic>
      <p:sp>
        <p:nvSpPr>
          <p:cNvPr id="617" name="Google Shape;617;g3abb6a546c7_0_607"/>
          <p:cNvSpPr txBox="1"/>
          <p:nvPr/>
        </p:nvSpPr>
        <p:spPr>
          <a:xfrm>
            <a:off x="-1" y="6288587"/>
            <a:ext cx="5981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Term Paper Presentation | Ronit Dutta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618" name="Google Shape;618;g3abb6a546c7_0_607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619" name="Google Shape;619;g3abb6a546c7_0_60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590934" y="6330522"/>
            <a:ext cx="1499906" cy="585000"/>
          </a:xfrm>
          <a:prstGeom prst="rect">
            <a:avLst/>
          </a:prstGeom>
          <a:noFill/>
          <a:ln>
            <a:noFill/>
          </a:ln>
        </p:spPr>
      </p:pic>
      <p:sp>
        <p:nvSpPr>
          <p:cNvPr id="620" name="Google Shape;620;g3abb6a546c7_0_607"/>
          <p:cNvSpPr txBox="1"/>
          <p:nvPr/>
        </p:nvSpPr>
        <p:spPr>
          <a:xfrm>
            <a:off x="-1" y="6288587"/>
            <a:ext cx="59811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Machine Learning Professional</a:t>
            </a:r>
            <a:b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Project</a:t>
            </a: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Presentation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621" name="Google Shape;621;g3abb6a546c7_0_607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590875" y="6330524"/>
            <a:ext cx="1500023" cy="585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22" name="Google Shape;622;g3abb6a546c7_0_607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sp>
        <p:nvSpPr>
          <p:cNvPr id="623" name="Google Shape;623;g3abb6a546c7_0_607"/>
          <p:cNvSpPr txBox="1"/>
          <p:nvPr/>
        </p:nvSpPr>
        <p:spPr>
          <a:xfrm>
            <a:off x="-1" y="6288587"/>
            <a:ext cx="59811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Machine Learning Professional</a:t>
            </a:r>
            <a:b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Project</a:t>
            </a: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Presentation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624" name="Google Shape;624;g3abb6a546c7_0_607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590875" y="6330524"/>
            <a:ext cx="1500023" cy="585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25" name="Google Shape;625;g3abb6a546c7_0_607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sp>
        <p:nvSpPr>
          <p:cNvPr id="626" name="Google Shape;626;g3abb6a546c7_0_607"/>
          <p:cNvSpPr txBox="1"/>
          <p:nvPr/>
        </p:nvSpPr>
        <p:spPr>
          <a:xfrm>
            <a:off x="-1" y="6234672"/>
            <a:ext cx="59811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Machine Learning Professional</a:t>
            </a:r>
            <a:b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Project</a:t>
            </a: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Presentation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627" name="Google Shape;627;g3abb6a546c7_0_607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590875" y="6330524"/>
            <a:ext cx="1500023" cy="585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28" name="Google Shape;628;g3abb6a546c7_0_607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1074200" y="1893900"/>
            <a:ext cx="5772150" cy="3867150"/>
          </a:xfrm>
          <a:prstGeom prst="rect">
            <a:avLst/>
          </a:prstGeom>
          <a:noFill/>
          <a:ln>
            <a:noFill/>
          </a:ln>
        </p:spPr>
      </p:pic>
      <p:sp>
        <p:nvSpPr>
          <p:cNvPr id="629" name="Google Shape;629;g3abb6a546c7_0_607"/>
          <p:cNvSpPr txBox="1"/>
          <p:nvPr/>
        </p:nvSpPr>
        <p:spPr>
          <a:xfrm>
            <a:off x="1674300" y="986325"/>
            <a:ext cx="8843400" cy="46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Now we select the best child node and then traverse the “</a:t>
            </a:r>
            <a:r>
              <a:rPr lang="en-US" sz="15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leaf” </a:t>
            </a:r>
            <a:r>
              <a:rPr lang="en-US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image descriptors inside the bucket of the “</a:t>
            </a:r>
            <a:r>
              <a:rPr lang="en-US" sz="15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best</a:t>
            </a:r>
            <a:r>
              <a:rPr lang="en-US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” internal node.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30" name="Google Shape;630;g3abb6a546c7_0_607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7087200" y="2337750"/>
            <a:ext cx="4868501" cy="2369814"/>
          </a:xfrm>
          <a:prstGeom prst="rect">
            <a:avLst/>
          </a:prstGeom>
          <a:noFill/>
          <a:ln>
            <a:noFill/>
          </a:ln>
        </p:spPr>
      </p:pic>
      <p:sp>
        <p:nvSpPr>
          <p:cNvPr id="631" name="Google Shape;631;g3abb6a546c7_0_607"/>
          <p:cNvSpPr/>
          <p:nvPr/>
        </p:nvSpPr>
        <p:spPr>
          <a:xfrm>
            <a:off x="11084050" y="2277813"/>
            <a:ext cx="964800" cy="2489700"/>
          </a:xfrm>
          <a:prstGeom prst="roundRect">
            <a:avLst>
              <a:gd name="adj" fmla="val 16667"/>
            </a:avLst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632" name="Google Shape;632;g3abb6a546c7_0_607"/>
          <p:cNvCxnSpPr>
            <a:stCxn id="631" idx="2"/>
            <a:endCxn id="633" idx="0"/>
          </p:cNvCxnSpPr>
          <p:nvPr/>
        </p:nvCxnSpPr>
        <p:spPr>
          <a:xfrm flipH="1">
            <a:off x="10245250" y="4767513"/>
            <a:ext cx="1321200" cy="5841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634" name="Google Shape;634;g3abb6a546c7_0_607"/>
          <p:cNvSpPr txBox="1"/>
          <p:nvPr/>
        </p:nvSpPr>
        <p:spPr>
          <a:xfrm>
            <a:off x="8808425" y="5351625"/>
            <a:ext cx="28734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Sort the ranked vector to get the best/ closest image to our query!!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9" name="Google Shape;639;g3ab687fb00f_0_5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640" name="Google Shape;640;g3ab687fb00f_0_5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590934" y="6330522"/>
            <a:ext cx="1499906" cy="585000"/>
          </a:xfrm>
          <a:prstGeom prst="rect">
            <a:avLst/>
          </a:prstGeom>
          <a:noFill/>
          <a:ln>
            <a:noFill/>
          </a:ln>
        </p:spPr>
      </p:pic>
      <p:sp>
        <p:nvSpPr>
          <p:cNvPr id="641" name="Google Shape;641;g3ab687fb00f_0_57"/>
          <p:cNvSpPr txBox="1"/>
          <p:nvPr/>
        </p:nvSpPr>
        <p:spPr>
          <a:xfrm>
            <a:off x="-1" y="6288587"/>
            <a:ext cx="5981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Term Paper Presentation | Ronit Dutta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642" name="Google Shape;642;g3ab687fb00f_0_57"/>
          <p:cNvSpPr txBox="1"/>
          <p:nvPr/>
        </p:nvSpPr>
        <p:spPr>
          <a:xfrm>
            <a:off x="0" y="0"/>
            <a:ext cx="12192000" cy="53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29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Performance Metrics</a:t>
            </a:r>
            <a:endParaRPr sz="29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cxnSp>
        <p:nvCxnSpPr>
          <p:cNvPr id="643" name="Google Shape;643;g3ab687fb00f_0_57"/>
          <p:cNvCxnSpPr/>
          <p:nvPr/>
        </p:nvCxnSpPr>
        <p:spPr>
          <a:xfrm rot="10800000" flipH="1">
            <a:off x="6" y="654189"/>
            <a:ext cx="6318000" cy="30600"/>
          </a:xfrm>
          <a:prstGeom prst="straightConnector1">
            <a:avLst/>
          </a:prstGeom>
          <a:noFill/>
          <a:ln w="9525" cap="flat" cmpd="sng">
            <a:solidFill>
              <a:srgbClr val="0E4D3B"/>
            </a:solidFill>
            <a:prstDash val="solid"/>
            <a:miter lim="800000"/>
            <a:headEnd type="none" w="sm" len="sm"/>
            <a:tailEnd type="none" w="sm" len="sm"/>
          </a:ln>
        </p:spPr>
      </p:cxnSp>
      <p:pic>
        <p:nvPicPr>
          <p:cNvPr id="644" name="Google Shape;644;g3ab687fb00f_0_57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645" name="Google Shape;645;g3ab687fb00f_0_5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590934" y="6330522"/>
            <a:ext cx="1499906" cy="585000"/>
          </a:xfrm>
          <a:prstGeom prst="rect">
            <a:avLst/>
          </a:prstGeom>
          <a:noFill/>
          <a:ln>
            <a:noFill/>
          </a:ln>
        </p:spPr>
      </p:pic>
      <p:sp>
        <p:nvSpPr>
          <p:cNvPr id="646" name="Google Shape;646;g3ab687fb00f_0_57"/>
          <p:cNvSpPr txBox="1"/>
          <p:nvPr/>
        </p:nvSpPr>
        <p:spPr>
          <a:xfrm>
            <a:off x="-1" y="6288587"/>
            <a:ext cx="5981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Term Paper Presentation | Ronit Dutta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647" name="Google Shape;647;g3ab687fb00f_0_57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648" name="Google Shape;648;g3ab687fb00f_0_5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590934" y="6330522"/>
            <a:ext cx="1499906" cy="585000"/>
          </a:xfrm>
          <a:prstGeom prst="rect">
            <a:avLst/>
          </a:prstGeom>
          <a:noFill/>
          <a:ln>
            <a:noFill/>
          </a:ln>
        </p:spPr>
      </p:pic>
      <p:sp>
        <p:nvSpPr>
          <p:cNvPr id="649" name="Google Shape;649;g3ab687fb00f_0_57"/>
          <p:cNvSpPr txBox="1"/>
          <p:nvPr/>
        </p:nvSpPr>
        <p:spPr>
          <a:xfrm>
            <a:off x="-1" y="6288587"/>
            <a:ext cx="59811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Machine Learning Professional</a:t>
            </a:r>
            <a:b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Project</a:t>
            </a: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Presentation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650" name="Google Shape;650;g3ab687fb00f_0_57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590875" y="6330524"/>
            <a:ext cx="1500023" cy="585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51" name="Google Shape;651;g3ab687fb00f_0_57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sp>
        <p:nvSpPr>
          <p:cNvPr id="652" name="Google Shape;652;g3ab687fb00f_0_57"/>
          <p:cNvSpPr txBox="1"/>
          <p:nvPr/>
        </p:nvSpPr>
        <p:spPr>
          <a:xfrm>
            <a:off x="-1" y="6288587"/>
            <a:ext cx="59811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Machine Learning Professional</a:t>
            </a:r>
            <a:b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Project</a:t>
            </a: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Presentation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653" name="Google Shape;653;g3ab687fb00f_0_57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590875" y="6330524"/>
            <a:ext cx="1500023" cy="585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54" name="Google Shape;654;g3ab687fb00f_0_57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sp>
        <p:nvSpPr>
          <p:cNvPr id="655" name="Google Shape;655;g3ab687fb00f_0_57"/>
          <p:cNvSpPr txBox="1"/>
          <p:nvPr/>
        </p:nvSpPr>
        <p:spPr>
          <a:xfrm>
            <a:off x="-1" y="6234672"/>
            <a:ext cx="59811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Machine Learning Professional</a:t>
            </a:r>
            <a:b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Project</a:t>
            </a: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Presentation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656" name="Google Shape;656;g3ab687fb00f_0_57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590875" y="6330524"/>
            <a:ext cx="1500023" cy="5850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657" name="Google Shape;657;g3ab687fb00f_0_57"/>
          <p:cNvGraphicFramePr/>
          <p:nvPr/>
        </p:nvGraphicFramePr>
        <p:xfrm>
          <a:off x="384914" y="2189650"/>
          <a:ext cx="10287000" cy="3174135"/>
        </p:xfrm>
        <a:graphic>
          <a:graphicData uri="http://schemas.openxmlformats.org/drawingml/2006/table">
            <a:tbl>
              <a:tblPr>
                <a:noFill/>
                <a:tableStyleId>{AA6D5DF9-2DD3-4A98-8D5F-7929D9D3C23A}</a:tableStyleId>
              </a:tblPr>
              <a:tblGrid>
                <a:gridCol w="5143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43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29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Recall@1 -&gt; [category level retrieval]</a:t>
                      </a:r>
                      <a:endParaRPr>
                        <a:latin typeface="Georgia"/>
                        <a:ea typeface="Georgia"/>
                        <a:cs typeface="Georgia"/>
                        <a:sym typeface="Georgia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mAP (mean Average Precision) -&gt; [object level retrieval]</a:t>
                      </a:r>
                      <a:endParaRPr>
                        <a:latin typeface="Georgia"/>
                        <a:ea typeface="Georgia"/>
                        <a:cs typeface="Georgia"/>
                        <a:sym typeface="Georgia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779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Georgia"/>
                        <a:ea typeface="Georgia"/>
                        <a:cs typeface="Georgia"/>
                        <a:sym typeface="Georgia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Georgia"/>
                        <a:ea typeface="Georgia"/>
                        <a:cs typeface="Georgia"/>
                        <a:sym typeface="Georgia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Georgia"/>
                        <a:ea typeface="Georgia"/>
                        <a:cs typeface="Georgia"/>
                        <a:sym typeface="Georgia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Georgia"/>
                        <a:ea typeface="Georgia"/>
                        <a:cs typeface="Georgia"/>
                        <a:sym typeface="Georgia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Georgia"/>
                        <a:ea typeface="Georgia"/>
                        <a:cs typeface="Georgia"/>
                        <a:sym typeface="Georgia"/>
                      </a:endParaRPr>
                    </a:p>
                    <a:p>
                      <a:pPr marL="457200" lvl="0" indent="-31750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400"/>
                        <a:buFont typeface="Georgia"/>
                        <a:buChar char="●"/>
                      </a:pPr>
                      <a:r>
                        <a:rPr lang="en-US"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Fraction of queries where the top retrieved image has the correct label.</a:t>
                      </a:r>
                      <a:endParaRPr>
                        <a:latin typeface="Georgia"/>
                        <a:ea typeface="Georgia"/>
                        <a:cs typeface="Georgia"/>
                        <a:sym typeface="Georgia"/>
                      </a:endParaRPr>
                    </a:p>
                    <a:p>
                      <a:pPr marL="457200" lvl="0" indent="-317500" algn="l" rtl="0">
                        <a:spcBef>
                          <a:spcPts val="1000"/>
                        </a:spcBef>
                        <a:spcAft>
                          <a:spcPts val="1000"/>
                        </a:spcAft>
                        <a:buSzPts val="1400"/>
                        <a:buFont typeface="Georgia"/>
                        <a:buChar char="●"/>
                      </a:pPr>
                      <a:r>
                        <a:rPr lang="en-US"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Absolute aggregation happens in this method.</a:t>
                      </a:r>
                      <a:endParaRPr>
                        <a:latin typeface="Georgia"/>
                        <a:ea typeface="Georgia"/>
                        <a:cs typeface="Georgia"/>
                        <a:sym typeface="Georgia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Georgia"/>
                        <a:ea typeface="Georgia"/>
                        <a:cs typeface="Georgia"/>
                        <a:sym typeface="Georgia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Georgia"/>
                        <a:ea typeface="Georgia"/>
                        <a:cs typeface="Georgia"/>
                        <a:sym typeface="Georgia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Georgia"/>
                        <a:ea typeface="Georgia"/>
                        <a:cs typeface="Georgia"/>
                        <a:sym typeface="Georgia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Georgia"/>
                        <a:ea typeface="Georgia"/>
                        <a:cs typeface="Georgia"/>
                        <a:sym typeface="Georgia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Georgia"/>
                        <a:ea typeface="Georgia"/>
                        <a:cs typeface="Georgia"/>
                        <a:sym typeface="Georgia"/>
                      </a:endParaRPr>
                    </a:p>
                    <a:p>
                      <a:pPr marL="457200" lvl="0" indent="-31750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400"/>
                        <a:buFont typeface="Georgia"/>
                        <a:buChar char="●"/>
                      </a:pPr>
                      <a:r>
                        <a:rPr lang="en-US"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R_q is number of relevant images and P_q is Precision@k.</a:t>
                      </a:r>
                      <a:endParaRPr>
                        <a:latin typeface="Georgia"/>
                        <a:ea typeface="Georgia"/>
                        <a:cs typeface="Georgia"/>
                        <a:sym typeface="Georgia"/>
                      </a:endParaRPr>
                    </a:p>
                    <a:p>
                      <a:pPr marL="457200" lvl="0" indent="-317500" algn="l" rtl="0">
                        <a:spcBef>
                          <a:spcPts val="1000"/>
                        </a:spcBef>
                        <a:spcAft>
                          <a:spcPts val="1000"/>
                        </a:spcAft>
                        <a:buSzPts val="1400"/>
                        <a:buFont typeface="Georgia"/>
                        <a:buChar char="●"/>
                      </a:pPr>
                      <a:r>
                        <a:rPr lang="en-US"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Then mAP takes the mean over all the queries.</a:t>
                      </a:r>
                      <a:endParaRPr>
                        <a:latin typeface="Georgia"/>
                        <a:ea typeface="Georgia"/>
                        <a:cs typeface="Georgia"/>
                        <a:sym typeface="Georgia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658" name="Google Shape;658;g3ab687fb00f_0_57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395388" y="1022363"/>
            <a:ext cx="5190322" cy="829714"/>
          </a:xfrm>
          <a:prstGeom prst="rect">
            <a:avLst/>
          </a:prstGeom>
          <a:noFill/>
          <a:ln>
            <a:noFill/>
          </a:ln>
        </p:spPr>
      </p:pic>
      <p:pic>
        <p:nvPicPr>
          <p:cNvPr id="659" name="Google Shape;659;g3ab687fb00f_0_57" title="equation.png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5981100" y="2821200"/>
            <a:ext cx="4117141" cy="542714"/>
          </a:xfrm>
          <a:prstGeom prst="rect">
            <a:avLst/>
          </a:prstGeom>
          <a:noFill/>
          <a:ln>
            <a:noFill/>
          </a:ln>
        </p:spPr>
      </p:pic>
      <p:pic>
        <p:nvPicPr>
          <p:cNvPr id="660" name="Google Shape;660;g3ab687fb00f_0_57" title="latex-equation.png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970350" y="2894650"/>
            <a:ext cx="2997451" cy="54271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6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6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5" name="Google Shape;665;g39a284b7f17_11_5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666" name="Google Shape;666;g39a284b7f17_11_54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590934" y="6330522"/>
            <a:ext cx="1499906" cy="585000"/>
          </a:xfrm>
          <a:prstGeom prst="rect">
            <a:avLst/>
          </a:prstGeom>
          <a:noFill/>
          <a:ln>
            <a:noFill/>
          </a:ln>
        </p:spPr>
      </p:pic>
      <p:sp>
        <p:nvSpPr>
          <p:cNvPr id="667" name="Google Shape;667;g39a284b7f17_11_54"/>
          <p:cNvSpPr txBox="1"/>
          <p:nvPr/>
        </p:nvSpPr>
        <p:spPr>
          <a:xfrm>
            <a:off x="-1" y="6288587"/>
            <a:ext cx="5981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Term Paper Presentation | Ronit Dutta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668" name="Google Shape;668;g39a284b7f17_11_54"/>
          <p:cNvSpPr txBox="1"/>
          <p:nvPr/>
        </p:nvSpPr>
        <p:spPr>
          <a:xfrm>
            <a:off x="0" y="0"/>
            <a:ext cx="12192000" cy="63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5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OUTLINE</a:t>
            </a:r>
            <a:endParaRPr sz="35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cxnSp>
        <p:nvCxnSpPr>
          <p:cNvPr id="669" name="Google Shape;669;g39a284b7f17_11_54"/>
          <p:cNvCxnSpPr/>
          <p:nvPr/>
        </p:nvCxnSpPr>
        <p:spPr>
          <a:xfrm rot="10800000" flipH="1">
            <a:off x="6" y="654189"/>
            <a:ext cx="6318000" cy="30600"/>
          </a:xfrm>
          <a:prstGeom prst="straightConnector1">
            <a:avLst/>
          </a:prstGeom>
          <a:noFill/>
          <a:ln w="9525" cap="flat" cmpd="sng">
            <a:solidFill>
              <a:srgbClr val="0E4D3B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670" name="Google Shape;670;g39a284b7f17_11_54"/>
          <p:cNvSpPr txBox="1"/>
          <p:nvPr/>
        </p:nvSpPr>
        <p:spPr>
          <a:xfrm>
            <a:off x="265800" y="1660150"/>
            <a:ext cx="11603400" cy="290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457200" lvl="0" indent="-3556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Georgia"/>
              <a:buAutoNum type="arabicPeriod"/>
            </a:pPr>
            <a:r>
              <a:rPr lang="en-US" sz="2000">
                <a:solidFill>
                  <a:srgbClr val="888888"/>
                </a:solidFill>
                <a:latin typeface="Georgia"/>
                <a:ea typeface="Georgia"/>
                <a:cs typeface="Georgia"/>
                <a:sym typeface="Georgia"/>
              </a:rPr>
              <a:t>Introduction &amp; Data Selection</a:t>
            </a:r>
            <a:endParaRPr sz="2000">
              <a:solidFill>
                <a:srgbClr val="888888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457200" lvl="0" indent="-3556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Georgia"/>
              <a:buAutoNum type="arabicPeriod"/>
            </a:pPr>
            <a:r>
              <a:rPr lang="en-US" sz="2000">
                <a:solidFill>
                  <a:srgbClr val="888888"/>
                </a:solidFill>
                <a:latin typeface="Georgia"/>
                <a:ea typeface="Georgia"/>
                <a:cs typeface="Georgia"/>
                <a:sym typeface="Georgia"/>
              </a:rPr>
              <a:t>Mechanics</a:t>
            </a:r>
            <a:endParaRPr sz="2000">
              <a:solidFill>
                <a:srgbClr val="888888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457200" lvl="0" indent="-3556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eorgia"/>
              <a:buAutoNum type="arabicPeriod"/>
            </a:pPr>
            <a:r>
              <a:rPr lang="en-US" sz="2000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Accuracy vs compute tradeoff</a:t>
            </a:r>
            <a:endParaRPr sz="2000">
              <a:solidFill>
                <a:schemeClr val="dk1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457200" lvl="0" indent="-3556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Georgia"/>
              <a:buAutoNum type="arabicPeriod"/>
            </a:pPr>
            <a:r>
              <a:rPr lang="en-US" sz="2000">
                <a:solidFill>
                  <a:srgbClr val="888888"/>
                </a:solidFill>
                <a:latin typeface="Georgia"/>
                <a:ea typeface="Georgia"/>
                <a:cs typeface="Georgia"/>
                <a:sym typeface="Georgia"/>
              </a:rPr>
              <a:t>Advantages, Disadvantages and Experimental Results</a:t>
            </a:r>
            <a:endParaRPr sz="2000">
              <a:solidFill>
                <a:srgbClr val="888888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457200" lvl="0" indent="-3556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Georgia"/>
              <a:buAutoNum type="arabicPeriod"/>
            </a:pPr>
            <a:r>
              <a:rPr lang="en-US" sz="2000">
                <a:solidFill>
                  <a:srgbClr val="888888"/>
                </a:solidFill>
                <a:latin typeface="Georgia"/>
                <a:ea typeface="Georgia"/>
                <a:cs typeface="Georgia"/>
                <a:sym typeface="Georgia"/>
              </a:rPr>
              <a:t>Future directions</a:t>
            </a:r>
            <a:endParaRPr sz="2000">
              <a:solidFill>
                <a:srgbClr val="888888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pic>
        <p:nvPicPr>
          <p:cNvPr id="671" name="Google Shape;671;g39a284b7f17_11_54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672" name="Google Shape;672;g39a284b7f17_11_54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590934" y="6330522"/>
            <a:ext cx="1499906" cy="585000"/>
          </a:xfrm>
          <a:prstGeom prst="rect">
            <a:avLst/>
          </a:prstGeom>
          <a:noFill/>
          <a:ln>
            <a:noFill/>
          </a:ln>
        </p:spPr>
      </p:pic>
      <p:sp>
        <p:nvSpPr>
          <p:cNvPr id="673" name="Google Shape;673;g39a284b7f17_11_54"/>
          <p:cNvSpPr txBox="1"/>
          <p:nvPr/>
        </p:nvSpPr>
        <p:spPr>
          <a:xfrm>
            <a:off x="-1" y="6288587"/>
            <a:ext cx="5981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Term Paper Presentation | Ronit Dutta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674" name="Google Shape;674;g39a284b7f17_11_54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675" name="Google Shape;675;g39a284b7f17_11_54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590934" y="6330522"/>
            <a:ext cx="1499906" cy="585000"/>
          </a:xfrm>
          <a:prstGeom prst="rect">
            <a:avLst/>
          </a:prstGeom>
          <a:noFill/>
          <a:ln>
            <a:noFill/>
          </a:ln>
        </p:spPr>
      </p:pic>
      <p:sp>
        <p:nvSpPr>
          <p:cNvPr id="676" name="Google Shape;676;g39a284b7f17_11_54"/>
          <p:cNvSpPr txBox="1"/>
          <p:nvPr/>
        </p:nvSpPr>
        <p:spPr>
          <a:xfrm>
            <a:off x="-1" y="6288587"/>
            <a:ext cx="59811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Machine Learning Professional</a:t>
            </a:r>
            <a:b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Project</a:t>
            </a: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Presentation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677" name="Google Shape;677;g39a284b7f17_11_54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590875" y="6341462"/>
            <a:ext cx="1500023" cy="585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78" name="Google Shape;678;g39a284b7f17_11_54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sp>
        <p:nvSpPr>
          <p:cNvPr id="679" name="Google Shape;679;g39a284b7f17_11_54"/>
          <p:cNvSpPr txBox="1"/>
          <p:nvPr/>
        </p:nvSpPr>
        <p:spPr>
          <a:xfrm>
            <a:off x="-1" y="6288587"/>
            <a:ext cx="59811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Machine Learning Professional</a:t>
            </a:r>
            <a:b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Project</a:t>
            </a: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Presentation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680" name="Google Shape;680;g39a284b7f17_11_54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590875" y="6330524"/>
            <a:ext cx="1500023" cy="585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81" name="Google Shape;681;g39a284b7f17_11_54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sp>
        <p:nvSpPr>
          <p:cNvPr id="682" name="Google Shape;682;g39a284b7f17_11_54"/>
          <p:cNvSpPr txBox="1"/>
          <p:nvPr/>
        </p:nvSpPr>
        <p:spPr>
          <a:xfrm>
            <a:off x="-1" y="6234672"/>
            <a:ext cx="59811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Machine Learning Professional</a:t>
            </a:r>
            <a:b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Project</a:t>
            </a: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Presentation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683" name="Google Shape;683;g39a284b7f17_11_54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590875" y="6330524"/>
            <a:ext cx="1500023" cy="585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8" name="Google Shape;688;g39a3552e755_9_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689" name="Google Shape;689;g39a3552e755_9_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590934" y="6330522"/>
            <a:ext cx="1499906" cy="585000"/>
          </a:xfrm>
          <a:prstGeom prst="rect">
            <a:avLst/>
          </a:prstGeom>
          <a:noFill/>
          <a:ln>
            <a:noFill/>
          </a:ln>
        </p:spPr>
      </p:pic>
      <p:sp>
        <p:nvSpPr>
          <p:cNvPr id="690" name="Google Shape;690;g39a3552e755_9_0"/>
          <p:cNvSpPr txBox="1"/>
          <p:nvPr/>
        </p:nvSpPr>
        <p:spPr>
          <a:xfrm>
            <a:off x="-1" y="6288587"/>
            <a:ext cx="5981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Term Paper Presentation | Ronit Dutta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691" name="Google Shape;691;g39a3552e755_9_0"/>
          <p:cNvSpPr txBox="1"/>
          <p:nvPr/>
        </p:nvSpPr>
        <p:spPr>
          <a:xfrm>
            <a:off x="0" y="0"/>
            <a:ext cx="12192000" cy="63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5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Online Step</a:t>
            </a:r>
            <a:endParaRPr sz="35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cxnSp>
        <p:nvCxnSpPr>
          <p:cNvPr id="692" name="Google Shape;692;g39a3552e755_9_0"/>
          <p:cNvCxnSpPr/>
          <p:nvPr/>
        </p:nvCxnSpPr>
        <p:spPr>
          <a:xfrm rot="10800000" flipH="1">
            <a:off x="6" y="654189"/>
            <a:ext cx="6318000" cy="30600"/>
          </a:xfrm>
          <a:prstGeom prst="straightConnector1">
            <a:avLst/>
          </a:prstGeom>
          <a:noFill/>
          <a:ln w="9525" cap="flat" cmpd="sng">
            <a:solidFill>
              <a:srgbClr val="0E4D3B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693" name="Google Shape;693;g39a3552e755_9_0"/>
          <p:cNvSpPr txBox="1"/>
          <p:nvPr/>
        </p:nvSpPr>
        <p:spPr>
          <a:xfrm>
            <a:off x="232500" y="5461575"/>
            <a:ext cx="117453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457200" lvl="0" indent="-355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</a:pPr>
            <a:r>
              <a:rPr lang="en-US" sz="2000" b="1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Process: </a:t>
            </a:r>
            <a:r>
              <a:rPr lang="en-US" sz="2000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Tree Traversal → Distance Calculation → Ranking</a:t>
            </a:r>
            <a:endParaRPr sz="2000">
              <a:solidFill>
                <a:schemeClr val="dk1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pic>
        <p:nvPicPr>
          <p:cNvPr id="694" name="Google Shape;694;g39a3552e755_9_0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695" name="Google Shape;695;g39a3552e755_9_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590934" y="6330522"/>
            <a:ext cx="1499906" cy="585000"/>
          </a:xfrm>
          <a:prstGeom prst="rect">
            <a:avLst/>
          </a:prstGeom>
          <a:noFill/>
          <a:ln>
            <a:noFill/>
          </a:ln>
        </p:spPr>
      </p:pic>
      <p:sp>
        <p:nvSpPr>
          <p:cNvPr id="696" name="Google Shape;696;g39a3552e755_9_0"/>
          <p:cNvSpPr txBox="1"/>
          <p:nvPr/>
        </p:nvSpPr>
        <p:spPr>
          <a:xfrm>
            <a:off x="-1" y="6288587"/>
            <a:ext cx="5981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Term Paper Presentation | Ronit Dutta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697" name="Google Shape;697;g39a3552e755_9_0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698" name="Google Shape;698;g39a3552e755_9_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590934" y="6330522"/>
            <a:ext cx="1499906" cy="585000"/>
          </a:xfrm>
          <a:prstGeom prst="rect">
            <a:avLst/>
          </a:prstGeom>
          <a:noFill/>
          <a:ln>
            <a:noFill/>
          </a:ln>
        </p:spPr>
      </p:pic>
      <p:sp>
        <p:nvSpPr>
          <p:cNvPr id="699" name="Google Shape;699;g39a3552e755_9_0"/>
          <p:cNvSpPr txBox="1"/>
          <p:nvPr/>
        </p:nvSpPr>
        <p:spPr>
          <a:xfrm>
            <a:off x="-1" y="6288587"/>
            <a:ext cx="59811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Machine Learning Professional</a:t>
            </a:r>
            <a:b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Project</a:t>
            </a: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Presentation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700" name="Google Shape;700;g39a3552e755_9_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590875" y="6341462"/>
            <a:ext cx="1500023" cy="585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01" name="Google Shape;701;g39a3552e755_9_0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sp>
        <p:nvSpPr>
          <p:cNvPr id="702" name="Google Shape;702;g39a3552e755_9_0"/>
          <p:cNvSpPr txBox="1"/>
          <p:nvPr/>
        </p:nvSpPr>
        <p:spPr>
          <a:xfrm>
            <a:off x="-1" y="6288587"/>
            <a:ext cx="59811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Machine Learning Professional</a:t>
            </a:r>
            <a:b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Project</a:t>
            </a: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Presentation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703" name="Google Shape;703;g39a3552e755_9_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590875" y="6330524"/>
            <a:ext cx="1500023" cy="585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04" name="Google Shape;704;g39a3552e755_9_0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sp>
        <p:nvSpPr>
          <p:cNvPr id="705" name="Google Shape;705;g39a3552e755_9_0"/>
          <p:cNvSpPr txBox="1"/>
          <p:nvPr/>
        </p:nvSpPr>
        <p:spPr>
          <a:xfrm>
            <a:off x="-1" y="6234672"/>
            <a:ext cx="59811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Machine Learning Professional</a:t>
            </a:r>
            <a:b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Project</a:t>
            </a: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Presentation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706" name="Google Shape;706;g39a3552e755_9_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590875" y="6330524"/>
            <a:ext cx="1500023" cy="585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07" name="Google Shape;707;g39a3552e755_9_0" title="fig1.png"/>
          <p:cNvPicPr preferRelativeResize="0"/>
          <p:nvPr/>
        </p:nvPicPr>
        <p:blipFill rotWithShape="1">
          <a:blip r:embed="rId8">
            <a:alphaModFix/>
          </a:blip>
          <a:srcRect l="1664" r="4306"/>
          <a:stretch/>
        </p:blipFill>
        <p:spPr>
          <a:xfrm>
            <a:off x="1592156" y="895751"/>
            <a:ext cx="9007693" cy="44626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2" name="Google Shape;712;g39a284b7f17_11_9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713" name="Google Shape;713;g39a284b7f17_11_9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590934" y="6330522"/>
            <a:ext cx="1499906" cy="585000"/>
          </a:xfrm>
          <a:prstGeom prst="rect">
            <a:avLst/>
          </a:prstGeom>
          <a:noFill/>
          <a:ln>
            <a:noFill/>
          </a:ln>
        </p:spPr>
      </p:pic>
      <p:sp>
        <p:nvSpPr>
          <p:cNvPr id="714" name="Google Shape;714;g39a284b7f17_11_93"/>
          <p:cNvSpPr txBox="1"/>
          <p:nvPr/>
        </p:nvSpPr>
        <p:spPr>
          <a:xfrm>
            <a:off x="-1" y="6288587"/>
            <a:ext cx="5981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Term Paper Presentation | Ronit Dutta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715" name="Google Shape;715;g39a284b7f17_11_93"/>
          <p:cNvSpPr txBox="1"/>
          <p:nvPr/>
        </p:nvSpPr>
        <p:spPr>
          <a:xfrm>
            <a:off x="0" y="0"/>
            <a:ext cx="12192000" cy="63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5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Accuracy vs. Compute Trade-off</a:t>
            </a:r>
            <a:endParaRPr sz="35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cxnSp>
        <p:nvCxnSpPr>
          <p:cNvPr id="716" name="Google Shape;716;g39a284b7f17_11_93"/>
          <p:cNvCxnSpPr/>
          <p:nvPr/>
        </p:nvCxnSpPr>
        <p:spPr>
          <a:xfrm rot="10800000" flipH="1">
            <a:off x="6" y="654189"/>
            <a:ext cx="6318000" cy="30600"/>
          </a:xfrm>
          <a:prstGeom prst="straightConnector1">
            <a:avLst/>
          </a:prstGeom>
          <a:noFill/>
          <a:ln w="9525" cap="flat" cmpd="sng">
            <a:solidFill>
              <a:srgbClr val="0E4D3B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717" name="Google Shape;717;g39a284b7f17_11_93"/>
          <p:cNvSpPr txBox="1"/>
          <p:nvPr/>
        </p:nvSpPr>
        <p:spPr>
          <a:xfrm>
            <a:off x="294300" y="1349550"/>
            <a:ext cx="5516100" cy="431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457200" lvl="0" indent="-355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eorgia"/>
              <a:buChar char="●"/>
            </a:pPr>
            <a:r>
              <a:rPr lang="en-US" sz="2000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The Offline Step constructs a hierarchical K-means tree to index global descriptors</a:t>
            </a:r>
            <a:endParaRPr sz="2000">
              <a:solidFill>
                <a:schemeClr val="dk1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4572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000">
              <a:solidFill>
                <a:schemeClr val="dk1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457200" lvl="0" indent="-355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eorgia"/>
              <a:buChar char="●"/>
            </a:pPr>
            <a:r>
              <a:rPr lang="en-US" sz="2000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Traverse the pre-built Hierarchical K-Means tree to find candidate leaf nodes</a:t>
            </a:r>
            <a:endParaRPr sz="2000">
              <a:solidFill>
                <a:schemeClr val="dk1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pic>
        <p:nvPicPr>
          <p:cNvPr id="718" name="Google Shape;718;g39a284b7f17_11_93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719" name="Google Shape;719;g39a284b7f17_11_9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590934" y="6330522"/>
            <a:ext cx="1499906" cy="585000"/>
          </a:xfrm>
          <a:prstGeom prst="rect">
            <a:avLst/>
          </a:prstGeom>
          <a:noFill/>
          <a:ln>
            <a:noFill/>
          </a:ln>
        </p:spPr>
      </p:pic>
      <p:sp>
        <p:nvSpPr>
          <p:cNvPr id="720" name="Google Shape;720;g39a284b7f17_11_93"/>
          <p:cNvSpPr txBox="1"/>
          <p:nvPr/>
        </p:nvSpPr>
        <p:spPr>
          <a:xfrm>
            <a:off x="-1" y="6288587"/>
            <a:ext cx="5981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Term Paper Presentation | Ronit Dutta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721" name="Google Shape;721;g39a284b7f17_11_93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722" name="Google Shape;722;g39a284b7f17_11_9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590934" y="6330522"/>
            <a:ext cx="1499906" cy="585000"/>
          </a:xfrm>
          <a:prstGeom prst="rect">
            <a:avLst/>
          </a:prstGeom>
          <a:noFill/>
          <a:ln>
            <a:noFill/>
          </a:ln>
        </p:spPr>
      </p:pic>
      <p:sp>
        <p:nvSpPr>
          <p:cNvPr id="723" name="Google Shape;723;g39a284b7f17_11_93"/>
          <p:cNvSpPr txBox="1"/>
          <p:nvPr/>
        </p:nvSpPr>
        <p:spPr>
          <a:xfrm>
            <a:off x="-1" y="6288587"/>
            <a:ext cx="59811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Machine Learning Professional</a:t>
            </a:r>
            <a:b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Project</a:t>
            </a: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Presentation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724" name="Google Shape;724;g39a284b7f17_11_93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590875" y="6341462"/>
            <a:ext cx="1500023" cy="585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25" name="Google Shape;725;g39a284b7f17_11_93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sp>
        <p:nvSpPr>
          <p:cNvPr id="726" name="Google Shape;726;g39a284b7f17_11_93"/>
          <p:cNvSpPr txBox="1"/>
          <p:nvPr/>
        </p:nvSpPr>
        <p:spPr>
          <a:xfrm>
            <a:off x="-1" y="6288587"/>
            <a:ext cx="59811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Machine Learning Professional</a:t>
            </a:r>
            <a:b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Project</a:t>
            </a: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Presentation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727" name="Google Shape;727;g39a284b7f17_11_93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590875" y="6330524"/>
            <a:ext cx="1500023" cy="585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28" name="Google Shape;728;g39a284b7f17_11_93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sp>
        <p:nvSpPr>
          <p:cNvPr id="729" name="Google Shape;729;g39a284b7f17_11_93"/>
          <p:cNvSpPr txBox="1"/>
          <p:nvPr/>
        </p:nvSpPr>
        <p:spPr>
          <a:xfrm>
            <a:off x="-1" y="6234672"/>
            <a:ext cx="59811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Machine Learning Professional</a:t>
            </a:r>
            <a:b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Project</a:t>
            </a: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Presentation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730" name="Google Shape;730;g39a284b7f17_11_93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590875" y="6330524"/>
            <a:ext cx="1500023" cy="585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31" name="Google Shape;731;g39a284b7f17_11_93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5850586" y="1604364"/>
            <a:ext cx="5906100" cy="36334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36" name="Google Shape;736;g39a3231195e_0_2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737" name="Google Shape;737;g39a3231195e_0_2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590934" y="6330522"/>
            <a:ext cx="1499906" cy="585000"/>
          </a:xfrm>
          <a:prstGeom prst="rect">
            <a:avLst/>
          </a:prstGeom>
          <a:noFill/>
          <a:ln>
            <a:noFill/>
          </a:ln>
        </p:spPr>
      </p:pic>
      <p:sp>
        <p:nvSpPr>
          <p:cNvPr id="738" name="Google Shape;738;g39a3231195e_0_25"/>
          <p:cNvSpPr txBox="1"/>
          <p:nvPr/>
        </p:nvSpPr>
        <p:spPr>
          <a:xfrm>
            <a:off x="-1" y="6288587"/>
            <a:ext cx="5981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Term Paper Presentation | Ronit Dutta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739" name="Google Shape;739;g39a3231195e_0_25"/>
          <p:cNvSpPr txBox="1"/>
          <p:nvPr/>
        </p:nvSpPr>
        <p:spPr>
          <a:xfrm>
            <a:off x="0" y="0"/>
            <a:ext cx="12192000" cy="63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5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Accuracy vs. Compute Trade-off</a:t>
            </a:r>
            <a:endParaRPr sz="35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cxnSp>
        <p:nvCxnSpPr>
          <p:cNvPr id="740" name="Google Shape;740;g39a3231195e_0_25"/>
          <p:cNvCxnSpPr/>
          <p:nvPr/>
        </p:nvCxnSpPr>
        <p:spPr>
          <a:xfrm rot="10800000" flipH="1">
            <a:off x="6" y="654189"/>
            <a:ext cx="6318000" cy="30600"/>
          </a:xfrm>
          <a:prstGeom prst="straightConnector1">
            <a:avLst/>
          </a:prstGeom>
          <a:noFill/>
          <a:ln w="9525" cap="flat" cmpd="sng">
            <a:solidFill>
              <a:srgbClr val="0E4D3B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741" name="Google Shape;741;g39a3231195e_0_25"/>
          <p:cNvSpPr txBox="1"/>
          <p:nvPr/>
        </p:nvSpPr>
        <p:spPr>
          <a:xfrm>
            <a:off x="294300" y="1349550"/>
            <a:ext cx="5516100" cy="431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457200" lvl="0" indent="-355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eorgia"/>
              <a:buChar char="●"/>
            </a:pPr>
            <a:r>
              <a:rPr lang="en-US" sz="2000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Selecting the closest node is computationally efficient but risky</a:t>
            </a:r>
            <a:endParaRPr sz="2000">
              <a:solidFill>
                <a:schemeClr val="dk1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4572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000">
              <a:solidFill>
                <a:schemeClr val="dk1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457200" lvl="0" indent="-355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eorgia"/>
              <a:buChar char="●"/>
            </a:pPr>
            <a:r>
              <a:rPr lang="en-US" sz="2000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Neighboring clusters that are further from the query centroid but contain the target image</a:t>
            </a:r>
            <a:endParaRPr sz="2000">
              <a:solidFill>
                <a:schemeClr val="dk1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pic>
        <p:nvPicPr>
          <p:cNvPr id="742" name="Google Shape;742;g39a3231195e_0_25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743" name="Google Shape;743;g39a3231195e_0_2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590934" y="6330522"/>
            <a:ext cx="1499906" cy="585000"/>
          </a:xfrm>
          <a:prstGeom prst="rect">
            <a:avLst/>
          </a:prstGeom>
          <a:noFill/>
          <a:ln>
            <a:noFill/>
          </a:ln>
        </p:spPr>
      </p:pic>
      <p:sp>
        <p:nvSpPr>
          <p:cNvPr id="744" name="Google Shape;744;g39a3231195e_0_25"/>
          <p:cNvSpPr txBox="1"/>
          <p:nvPr/>
        </p:nvSpPr>
        <p:spPr>
          <a:xfrm>
            <a:off x="-1" y="6288587"/>
            <a:ext cx="5981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Term Paper Presentation | Ronit Dutta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745" name="Google Shape;745;g39a3231195e_0_25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746" name="Google Shape;746;g39a3231195e_0_2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590934" y="6330522"/>
            <a:ext cx="1499906" cy="585000"/>
          </a:xfrm>
          <a:prstGeom prst="rect">
            <a:avLst/>
          </a:prstGeom>
          <a:noFill/>
          <a:ln>
            <a:noFill/>
          </a:ln>
        </p:spPr>
      </p:pic>
      <p:sp>
        <p:nvSpPr>
          <p:cNvPr id="747" name="Google Shape;747;g39a3231195e_0_25"/>
          <p:cNvSpPr txBox="1"/>
          <p:nvPr/>
        </p:nvSpPr>
        <p:spPr>
          <a:xfrm>
            <a:off x="-1" y="6288587"/>
            <a:ext cx="59811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Machine Learning Professional</a:t>
            </a:r>
            <a:b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Project</a:t>
            </a: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Presentation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748" name="Google Shape;748;g39a3231195e_0_25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590875" y="6341462"/>
            <a:ext cx="1500023" cy="585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49" name="Google Shape;749;g39a3231195e_0_25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sp>
        <p:nvSpPr>
          <p:cNvPr id="750" name="Google Shape;750;g39a3231195e_0_25"/>
          <p:cNvSpPr txBox="1"/>
          <p:nvPr/>
        </p:nvSpPr>
        <p:spPr>
          <a:xfrm>
            <a:off x="-1" y="6288587"/>
            <a:ext cx="59811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Machine Learning Professional</a:t>
            </a:r>
            <a:b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Project</a:t>
            </a: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Presentation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751" name="Google Shape;751;g39a3231195e_0_25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590875" y="6330524"/>
            <a:ext cx="1500023" cy="585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52" name="Google Shape;752;g39a3231195e_0_25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sp>
        <p:nvSpPr>
          <p:cNvPr id="753" name="Google Shape;753;g39a3231195e_0_25"/>
          <p:cNvSpPr txBox="1"/>
          <p:nvPr/>
        </p:nvSpPr>
        <p:spPr>
          <a:xfrm>
            <a:off x="-1" y="6234672"/>
            <a:ext cx="59811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Machine Learning Professional</a:t>
            </a:r>
            <a:b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Project</a:t>
            </a: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Presentation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754" name="Google Shape;754;g39a3231195e_0_25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590875" y="6330524"/>
            <a:ext cx="1500023" cy="585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55" name="Google Shape;755;g39a3231195e_0_25"/>
          <p:cNvPicPr preferRelativeResize="0"/>
          <p:nvPr/>
        </p:nvPicPr>
        <p:blipFill rotWithShape="1">
          <a:blip r:embed="rId8">
            <a:alphaModFix/>
          </a:blip>
          <a:srcRect r="3053"/>
          <a:stretch/>
        </p:blipFill>
        <p:spPr>
          <a:xfrm>
            <a:off x="5983784" y="1388350"/>
            <a:ext cx="5923249" cy="38291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0" name="Google Shape;760;g39a3231195e_0_5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761" name="Google Shape;761;g39a3231195e_0_5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590934" y="6330522"/>
            <a:ext cx="1499906" cy="585000"/>
          </a:xfrm>
          <a:prstGeom prst="rect">
            <a:avLst/>
          </a:prstGeom>
          <a:noFill/>
          <a:ln>
            <a:noFill/>
          </a:ln>
        </p:spPr>
      </p:pic>
      <p:sp>
        <p:nvSpPr>
          <p:cNvPr id="762" name="Google Shape;762;g39a3231195e_0_50"/>
          <p:cNvSpPr txBox="1"/>
          <p:nvPr/>
        </p:nvSpPr>
        <p:spPr>
          <a:xfrm>
            <a:off x="-1" y="6288587"/>
            <a:ext cx="5981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Term Paper Presentation | Ronit Dutta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763" name="Google Shape;763;g39a3231195e_0_50"/>
          <p:cNvSpPr txBox="1"/>
          <p:nvPr/>
        </p:nvSpPr>
        <p:spPr>
          <a:xfrm>
            <a:off x="0" y="0"/>
            <a:ext cx="12192000" cy="63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5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Accuracy vs. Compute Trade-off</a:t>
            </a:r>
            <a:endParaRPr sz="35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cxnSp>
        <p:nvCxnSpPr>
          <p:cNvPr id="764" name="Google Shape;764;g39a3231195e_0_50"/>
          <p:cNvCxnSpPr/>
          <p:nvPr/>
        </p:nvCxnSpPr>
        <p:spPr>
          <a:xfrm rot="10800000" flipH="1">
            <a:off x="6" y="654189"/>
            <a:ext cx="6318000" cy="30600"/>
          </a:xfrm>
          <a:prstGeom prst="straightConnector1">
            <a:avLst/>
          </a:prstGeom>
          <a:noFill/>
          <a:ln w="9525" cap="flat" cmpd="sng">
            <a:solidFill>
              <a:srgbClr val="0E4D3B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765" name="Google Shape;765;g39a3231195e_0_50"/>
          <p:cNvSpPr txBox="1"/>
          <p:nvPr/>
        </p:nvSpPr>
        <p:spPr>
          <a:xfrm>
            <a:off x="294300" y="1349550"/>
            <a:ext cx="5516100" cy="431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45720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●"/>
            </a:pPr>
            <a:r>
              <a:rPr lang="en-US" sz="2800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To develop an "Online Step" that balances the trade-off between </a:t>
            </a:r>
            <a:r>
              <a:rPr lang="en-US" sz="2800" b="1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retrieval speed</a:t>
            </a:r>
            <a:r>
              <a:rPr lang="en-US" sz="2800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 (pruning the tree) and </a:t>
            </a:r>
            <a:r>
              <a:rPr lang="en-US" sz="2800" b="1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retrieval accuracy</a:t>
            </a:r>
            <a:r>
              <a:rPr lang="en-US" sz="2800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 (exploring multiple branches)</a:t>
            </a:r>
            <a:endParaRPr sz="2800">
              <a:solidFill>
                <a:schemeClr val="dk1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pic>
        <p:nvPicPr>
          <p:cNvPr id="766" name="Google Shape;766;g39a3231195e_0_50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767" name="Google Shape;767;g39a3231195e_0_5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590934" y="6330522"/>
            <a:ext cx="1499906" cy="585000"/>
          </a:xfrm>
          <a:prstGeom prst="rect">
            <a:avLst/>
          </a:prstGeom>
          <a:noFill/>
          <a:ln>
            <a:noFill/>
          </a:ln>
        </p:spPr>
      </p:pic>
      <p:sp>
        <p:nvSpPr>
          <p:cNvPr id="768" name="Google Shape;768;g39a3231195e_0_50"/>
          <p:cNvSpPr txBox="1"/>
          <p:nvPr/>
        </p:nvSpPr>
        <p:spPr>
          <a:xfrm>
            <a:off x="-1" y="6288587"/>
            <a:ext cx="5981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Term Paper Presentation | Ronit Dutta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769" name="Google Shape;769;g39a3231195e_0_50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770" name="Google Shape;770;g39a3231195e_0_5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590934" y="6330522"/>
            <a:ext cx="1499906" cy="585000"/>
          </a:xfrm>
          <a:prstGeom prst="rect">
            <a:avLst/>
          </a:prstGeom>
          <a:noFill/>
          <a:ln>
            <a:noFill/>
          </a:ln>
        </p:spPr>
      </p:pic>
      <p:sp>
        <p:nvSpPr>
          <p:cNvPr id="771" name="Google Shape;771;g39a3231195e_0_50"/>
          <p:cNvSpPr txBox="1"/>
          <p:nvPr/>
        </p:nvSpPr>
        <p:spPr>
          <a:xfrm>
            <a:off x="-1" y="6288587"/>
            <a:ext cx="59811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Machine Learning Professional</a:t>
            </a:r>
            <a:b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Project</a:t>
            </a: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Presentation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772" name="Google Shape;772;g39a3231195e_0_5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590875" y="6341462"/>
            <a:ext cx="1500023" cy="585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73" name="Google Shape;773;g39a3231195e_0_50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sp>
        <p:nvSpPr>
          <p:cNvPr id="774" name="Google Shape;774;g39a3231195e_0_50"/>
          <p:cNvSpPr txBox="1"/>
          <p:nvPr/>
        </p:nvSpPr>
        <p:spPr>
          <a:xfrm>
            <a:off x="-1" y="6288587"/>
            <a:ext cx="59811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Machine Learning Professional</a:t>
            </a:r>
            <a:b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Project</a:t>
            </a: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Presentation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775" name="Google Shape;775;g39a3231195e_0_5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590875" y="6330524"/>
            <a:ext cx="1500023" cy="585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76" name="Google Shape;776;g39a3231195e_0_50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sp>
        <p:nvSpPr>
          <p:cNvPr id="777" name="Google Shape;777;g39a3231195e_0_50"/>
          <p:cNvSpPr txBox="1"/>
          <p:nvPr/>
        </p:nvSpPr>
        <p:spPr>
          <a:xfrm>
            <a:off x="-1" y="6234672"/>
            <a:ext cx="59811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Machine Learning Professional</a:t>
            </a:r>
            <a:b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Project</a:t>
            </a: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Presentation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778" name="Google Shape;778;g39a3231195e_0_5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590875" y="6330524"/>
            <a:ext cx="1500023" cy="585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79" name="Google Shape;779;g39a3231195e_0_50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5963262" y="1456150"/>
            <a:ext cx="5981099" cy="3742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4" name="Google Shape;784;g39a3231195e_0_12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785" name="Google Shape;785;g39a3231195e_0_12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590934" y="6330522"/>
            <a:ext cx="1499906" cy="585000"/>
          </a:xfrm>
          <a:prstGeom prst="rect">
            <a:avLst/>
          </a:prstGeom>
          <a:noFill/>
          <a:ln>
            <a:noFill/>
          </a:ln>
        </p:spPr>
      </p:pic>
      <p:sp>
        <p:nvSpPr>
          <p:cNvPr id="786" name="Google Shape;786;g39a3231195e_0_125"/>
          <p:cNvSpPr txBox="1"/>
          <p:nvPr/>
        </p:nvSpPr>
        <p:spPr>
          <a:xfrm>
            <a:off x="-1" y="6288587"/>
            <a:ext cx="5981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Term Paper Presentation | Ronit Dutta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787" name="Google Shape;787;g39a3231195e_0_125"/>
          <p:cNvSpPr txBox="1"/>
          <p:nvPr/>
        </p:nvSpPr>
        <p:spPr>
          <a:xfrm>
            <a:off x="0" y="0"/>
            <a:ext cx="12192000" cy="63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5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Search Algorithms</a:t>
            </a:r>
            <a:endParaRPr sz="35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cxnSp>
        <p:nvCxnSpPr>
          <p:cNvPr id="788" name="Google Shape;788;g39a3231195e_0_125"/>
          <p:cNvCxnSpPr/>
          <p:nvPr/>
        </p:nvCxnSpPr>
        <p:spPr>
          <a:xfrm rot="10800000" flipH="1">
            <a:off x="6" y="654189"/>
            <a:ext cx="6318000" cy="30600"/>
          </a:xfrm>
          <a:prstGeom prst="straightConnector1">
            <a:avLst/>
          </a:prstGeom>
          <a:noFill/>
          <a:ln w="9525" cap="flat" cmpd="sng">
            <a:solidFill>
              <a:srgbClr val="0E4D3B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789" name="Google Shape;789;g39a3231195e_0_125"/>
          <p:cNvSpPr txBox="1"/>
          <p:nvPr/>
        </p:nvSpPr>
        <p:spPr>
          <a:xfrm>
            <a:off x="1019550" y="1792200"/>
            <a:ext cx="10152900" cy="22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457200" lvl="0" indent="-3937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Georgia"/>
              <a:buAutoNum type="romanUcPeriod"/>
            </a:pPr>
            <a:r>
              <a:rPr lang="en-US" sz="2600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Intensive Search </a:t>
            </a:r>
            <a:endParaRPr sz="2600">
              <a:solidFill>
                <a:schemeClr val="dk1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457200" lvl="0" indent="-3937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Georgia"/>
              <a:buAutoNum type="romanUcPeriod"/>
            </a:pPr>
            <a:r>
              <a:rPr lang="en-US" sz="2600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Relaxed Search</a:t>
            </a:r>
            <a:endParaRPr sz="2600">
              <a:solidFill>
                <a:schemeClr val="dk1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457200" lvl="0" indent="-3937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Georgia"/>
              <a:buAutoNum type="romanUcPeriod"/>
            </a:pPr>
            <a:r>
              <a:rPr lang="en-US" sz="2600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Auto Search</a:t>
            </a:r>
            <a:endParaRPr sz="2600">
              <a:solidFill>
                <a:schemeClr val="dk1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pic>
        <p:nvPicPr>
          <p:cNvPr id="790" name="Google Shape;790;g39a3231195e_0_125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791" name="Google Shape;791;g39a3231195e_0_12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590934" y="6330522"/>
            <a:ext cx="1499906" cy="585000"/>
          </a:xfrm>
          <a:prstGeom prst="rect">
            <a:avLst/>
          </a:prstGeom>
          <a:noFill/>
          <a:ln>
            <a:noFill/>
          </a:ln>
        </p:spPr>
      </p:pic>
      <p:sp>
        <p:nvSpPr>
          <p:cNvPr id="792" name="Google Shape;792;g39a3231195e_0_125"/>
          <p:cNvSpPr txBox="1"/>
          <p:nvPr/>
        </p:nvSpPr>
        <p:spPr>
          <a:xfrm>
            <a:off x="-1" y="6288587"/>
            <a:ext cx="5981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Term Paper Presentation | Ronit Dutta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793" name="Google Shape;793;g39a3231195e_0_125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794" name="Google Shape;794;g39a3231195e_0_12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590934" y="6330522"/>
            <a:ext cx="1499906" cy="585000"/>
          </a:xfrm>
          <a:prstGeom prst="rect">
            <a:avLst/>
          </a:prstGeom>
          <a:noFill/>
          <a:ln>
            <a:noFill/>
          </a:ln>
        </p:spPr>
      </p:pic>
      <p:sp>
        <p:nvSpPr>
          <p:cNvPr id="795" name="Google Shape;795;g39a3231195e_0_125"/>
          <p:cNvSpPr txBox="1"/>
          <p:nvPr/>
        </p:nvSpPr>
        <p:spPr>
          <a:xfrm>
            <a:off x="-1" y="6288587"/>
            <a:ext cx="59811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Machine Learning Professional</a:t>
            </a:r>
            <a:b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Project</a:t>
            </a: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Presentation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796" name="Google Shape;796;g39a3231195e_0_125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590875" y="6341462"/>
            <a:ext cx="1500023" cy="585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97" name="Google Shape;797;g39a3231195e_0_125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sp>
        <p:nvSpPr>
          <p:cNvPr id="798" name="Google Shape;798;g39a3231195e_0_125"/>
          <p:cNvSpPr txBox="1"/>
          <p:nvPr/>
        </p:nvSpPr>
        <p:spPr>
          <a:xfrm>
            <a:off x="-1" y="6288587"/>
            <a:ext cx="59811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Machine Learning Professional</a:t>
            </a:r>
            <a:b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Project</a:t>
            </a: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Presentation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799" name="Google Shape;799;g39a3231195e_0_125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590875" y="6330524"/>
            <a:ext cx="1500023" cy="585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00" name="Google Shape;800;g39a3231195e_0_125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sp>
        <p:nvSpPr>
          <p:cNvPr id="801" name="Google Shape;801;g39a3231195e_0_125"/>
          <p:cNvSpPr txBox="1"/>
          <p:nvPr/>
        </p:nvSpPr>
        <p:spPr>
          <a:xfrm>
            <a:off x="-1" y="6234672"/>
            <a:ext cx="59811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Machine Learning Professional</a:t>
            </a:r>
            <a:b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Project</a:t>
            </a: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Presentation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802" name="Google Shape;802;g39a3231195e_0_125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590875" y="6330524"/>
            <a:ext cx="1500023" cy="585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07" name="Google Shape;807;g39a3231195e_0_21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808" name="Google Shape;808;g39a3231195e_0_21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590934" y="6330522"/>
            <a:ext cx="1499906" cy="585000"/>
          </a:xfrm>
          <a:prstGeom prst="rect">
            <a:avLst/>
          </a:prstGeom>
          <a:noFill/>
          <a:ln>
            <a:noFill/>
          </a:ln>
        </p:spPr>
      </p:pic>
      <p:sp>
        <p:nvSpPr>
          <p:cNvPr id="809" name="Google Shape;809;g39a3231195e_0_215"/>
          <p:cNvSpPr txBox="1"/>
          <p:nvPr/>
        </p:nvSpPr>
        <p:spPr>
          <a:xfrm>
            <a:off x="-1" y="6288587"/>
            <a:ext cx="5981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Term Paper Presentation | Ronit Dutta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810" name="Google Shape;810;g39a3231195e_0_215"/>
          <p:cNvSpPr txBox="1"/>
          <p:nvPr/>
        </p:nvSpPr>
        <p:spPr>
          <a:xfrm>
            <a:off x="0" y="0"/>
            <a:ext cx="12192000" cy="63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5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Intensive Search</a:t>
            </a:r>
            <a:endParaRPr sz="35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cxnSp>
        <p:nvCxnSpPr>
          <p:cNvPr id="811" name="Google Shape;811;g39a3231195e_0_215"/>
          <p:cNvCxnSpPr/>
          <p:nvPr/>
        </p:nvCxnSpPr>
        <p:spPr>
          <a:xfrm rot="10800000" flipH="1">
            <a:off x="6" y="654189"/>
            <a:ext cx="6318000" cy="30600"/>
          </a:xfrm>
          <a:prstGeom prst="straightConnector1">
            <a:avLst/>
          </a:prstGeom>
          <a:noFill/>
          <a:ln w="9525" cap="flat" cmpd="sng">
            <a:solidFill>
              <a:srgbClr val="0E4D3B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12" name="Google Shape;812;g39a3231195e_0_215"/>
          <p:cNvSpPr txBox="1"/>
          <p:nvPr/>
        </p:nvSpPr>
        <p:spPr>
          <a:xfrm>
            <a:off x="1019550" y="1131925"/>
            <a:ext cx="10152900" cy="455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Prioritize maximum retrieval speed.</a:t>
            </a:r>
            <a:endParaRPr sz="2800">
              <a:solidFill>
                <a:schemeClr val="dk1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45720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Georgia"/>
              <a:buChar char="●"/>
            </a:pPr>
            <a:r>
              <a:rPr lang="en-US" sz="2800" b="1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Mechanism:</a:t>
            </a:r>
            <a:endParaRPr sz="2800" b="1">
              <a:solidFill>
                <a:schemeClr val="dk1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Georgia"/>
              <a:buChar char="○"/>
            </a:pPr>
            <a:r>
              <a:rPr lang="en-US" sz="2400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Select </a:t>
            </a:r>
            <a:r>
              <a:rPr lang="en-US" sz="2400" b="1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one</a:t>
            </a:r>
            <a:r>
              <a:rPr lang="en-US" sz="2400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 node per level.</a:t>
            </a:r>
            <a:endParaRPr sz="2400">
              <a:solidFill>
                <a:schemeClr val="dk1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Georgia"/>
              <a:buChar char="○"/>
            </a:pPr>
            <a:r>
              <a:rPr lang="en-US" sz="2400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Centroid vector closest to the query descriptor.</a:t>
            </a:r>
            <a:endParaRPr sz="2400">
              <a:solidFill>
                <a:schemeClr val="dk1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91440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91440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Georgia"/>
              <a:buChar char="○"/>
            </a:pPr>
            <a:r>
              <a:rPr lang="en-US" sz="2400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Children of unselected nodes are excluded.</a:t>
            </a:r>
            <a:endParaRPr sz="2400">
              <a:solidFill>
                <a:schemeClr val="dk1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Georgia"/>
              <a:buChar char="○"/>
            </a:pPr>
            <a:r>
              <a:rPr lang="en-US" sz="2400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Identifies a single leaf node.</a:t>
            </a:r>
            <a:endParaRPr sz="2400">
              <a:solidFill>
                <a:schemeClr val="dk1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Fastest execution at the cost of accuracy loss.</a:t>
            </a:r>
            <a:endParaRPr sz="2600">
              <a:solidFill>
                <a:srgbClr val="888888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pic>
        <p:nvPicPr>
          <p:cNvPr id="813" name="Google Shape;813;g39a3231195e_0_215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814" name="Google Shape;814;g39a3231195e_0_21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590934" y="6330522"/>
            <a:ext cx="1499906" cy="585000"/>
          </a:xfrm>
          <a:prstGeom prst="rect">
            <a:avLst/>
          </a:prstGeom>
          <a:noFill/>
          <a:ln>
            <a:noFill/>
          </a:ln>
        </p:spPr>
      </p:pic>
      <p:sp>
        <p:nvSpPr>
          <p:cNvPr id="815" name="Google Shape;815;g39a3231195e_0_215"/>
          <p:cNvSpPr txBox="1"/>
          <p:nvPr/>
        </p:nvSpPr>
        <p:spPr>
          <a:xfrm>
            <a:off x="-1" y="6288587"/>
            <a:ext cx="5981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Term Paper Presentation | Ronit Dutta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816" name="Google Shape;816;g39a3231195e_0_215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817" name="Google Shape;817;g39a3231195e_0_21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590934" y="6330522"/>
            <a:ext cx="1499906" cy="585000"/>
          </a:xfrm>
          <a:prstGeom prst="rect">
            <a:avLst/>
          </a:prstGeom>
          <a:noFill/>
          <a:ln>
            <a:noFill/>
          </a:ln>
        </p:spPr>
      </p:pic>
      <p:sp>
        <p:nvSpPr>
          <p:cNvPr id="818" name="Google Shape;818;g39a3231195e_0_215"/>
          <p:cNvSpPr txBox="1"/>
          <p:nvPr/>
        </p:nvSpPr>
        <p:spPr>
          <a:xfrm>
            <a:off x="-1" y="6288587"/>
            <a:ext cx="59811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Machine Learning Professional</a:t>
            </a:r>
            <a:b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Project</a:t>
            </a: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Presentation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819" name="Google Shape;819;g39a3231195e_0_215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590875" y="6341462"/>
            <a:ext cx="1500023" cy="585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20" name="Google Shape;820;g39a3231195e_0_215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sp>
        <p:nvSpPr>
          <p:cNvPr id="821" name="Google Shape;821;g39a3231195e_0_215"/>
          <p:cNvSpPr txBox="1"/>
          <p:nvPr/>
        </p:nvSpPr>
        <p:spPr>
          <a:xfrm>
            <a:off x="-1" y="6288587"/>
            <a:ext cx="59811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Machine Learning Professional</a:t>
            </a:r>
            <a:b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Project</a:t>
            </a: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Presentation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822" name="Google Shape;822;g39a3231195e_0_215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590875" y="6330524"/>
            <a:ext cx="1500023" cy="585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23" name="Google Shape;823;g39a3231195e_0_215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sp>
        <p:nvSpPr>
          <p:cNvPr id="824" name="Google Shape;824;g39a3231195e_0_215"/>
          <p:cNvSpPr txBox="1"/>
          <p:nvPr/>
        </p:nvSpPr>
        <p:spPr>
          <a:xfrm>
            <a:off x="-1" y="6234672"/>
            <a:ext cx="59811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Machine Learning Professional</a:t>
            </a:r>
            <a:b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Project</a:t>
            </a: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Presentation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825" name="Google Shape;825;g39a3231195e_0_215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590875" y="6330524"/>
            <a:ext cx="1500023" cy="585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26" name="Google Shape;826;g39a3231195e_0_215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3620050" y="3358325"/>
            <a:ext cx="4289151" cy="735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1" name="Google Shape;831;g39a3231195e_0_23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832" name="Google Shape;832;g39a3231195e_0_23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590934" y="6330522"/>
            <a:ext cx="1499906" cy="585000"/>
          </a:xfrm>
          <a:prstGeom prst="rect">
            <a:avLst/>
          </a:prstGeom>
          <a:noFill/>
          <a:ln>
            <a:noFill/>
          </a:ln>
        </p:spPr>
      </p:pic>
      <p:sp>
        <p:nvSpPr>
          <p:cNvPr id="833" name="Google Shape;833;g39a3231195e_0_238"/>
          <p:cNvSpPr txBox="1"/>
          <p:nvPr/>
        </p:nvSpPr>
        <p:spPr>
          <a:xfrm>
            <a:off x="-1" y="6288587"/>
            <a:ext cx="5981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Term Paper Presentation | Ronit Dutta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834" name="Google Shape;834;g39a3231195e_0_238"/>
          <p:cNvSpPr txBox="1"/>
          <p:nvPr/>
        </p:nvSpPr>
        <p:spPr>
          <a:xfrm>
            <a:off x="0" y="0"/>
            <a:ext cx="12192000" cy="63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5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Relaxed Search</a:t>
            </a:r>
            <a:endParaRPr sz="35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cxnSp>
        <p:nvCxnSpPr>
          <p:cNvPr id="835" name="Google Shape;835;g39a3231195e_0_238"/>
          <p:cNvCxnSpPr/>
          <p:nvPr/>
        </p:nvCxnSpPr>
        <p:spPr>
          <a:xfrm rot="10800000" flipH="1">
            <a:off x="6" y="654189"/>
            <a:ext cx="6318000" cy="30600"/>
          </a:xfrm>
          <a:prstGeom prst="straightConnector1">
            <a:avLst/>
          </a:prstGeom>
          <a:noFill/>
          <a:ln w="9525" cap="flat" cmpd="sng">
            <a:solidFill>
              <a:srgbClr val="0E4D3B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36" name="Google Shape;836;g39a3231195e_0_238"/>
          <p:cNvSpPr txBox="1"/>
          <p:nvPr/>
        </p:nvSpPr>
        <p:spPr>
          <a:xfrm>
            <a:off x="1019550" y="1131925"/>
            <a:ext cx="10152900" cy="455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Traverse </a:t>
            </a:r>
            <a:r>
              <a:rPr lang="en-US" sz="2800" b="1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multiple branches</a:t>
            </a:r>
            <a:r>
              <a:rPr lang="en-US" sz="2800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 → Max. accuracy retention.</a:t>
            </a:r>
            <a:endParaRPr sz="2800">
              <a:solidFill>
                <a:schemeClr val="dk1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45720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Georgia"/>
              <a:buChar char="●"/>
            </a:pPr>
            <a:r>
              <a:rPr lang="en-US" sz="2800" b="1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Mechanism:</a:t>
            </a:r>
            <a:endParaRPr sz="2800" b="1">
              <a:solidFill>
                <a:schemeClr val="dk1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914400" lvl="1" indent="-4064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Georgia"/>
              <a:buChar char="○"/>
            </a:pPr>
            <a:r>
              <a:rPr lang="en-US" sz="2400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multiple nodes (N</a:t>
            </a:r>
            <a:r>
              <a:rPr lang="en-US" sz="2400" baseline="30000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m</a:t>
            </a:r>
            <a:r>
              <a:rPr lang="en-US" sz="2400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) at each level based on two hyperparameters:</a:t>
            </a:r>
            <a:endParaRPr sz="2400">
              <a:solidFill>
                <a:schemeClr val="dk1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1371600" lvl="2" indent="-4064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Georgia"/>
              <a:buChar char="■"/>
            </a:pPr>
            <a:r>
              <a:rPr lang="en-US" sz="2000" b="1" i="1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s</a:t>
            </a:r>
            <a:r>
              <a:rPr lang="en-US" sz="2000" b="1" i="1" baseline="-25000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1</a:t>
            </a:r>
            <a:r>
              <a:rPr lang="en-US" sz="2000" b="1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​ </a:t>
            </a:r>
            <a:r>
              <a:rPr lang="en-US" sz="2000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(Absolute Threshold)</a:t>
            </a:r>
            <a:r>
              <a:rPr lang="en-US" sz="2000" b="1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:</a:t>
            </a:r>
            <a:r>
              <a:rPr lang="en-US" sz="2000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 Selects nodes within distance </a:t>
            </a:r>
            <a:r>
              <a:rPr lang="en-US" sz="2000" b="1" i="1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s</a:t>
            </a:r>
            <a:r>
              <a:rPr lang="en-US" sz="2000" b="1" i="1" baseline="-25000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1</a:t>
            </a:r>
            <a:r>
              <a:rPr lang="en-US" sz="2000" b="1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​ </a:t>
            </a:r>
            <a:r>
              <a:rPr lang="en-US" sz="2000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of the query.</a:t>
            </a:r>
            <a:endParaRPr sz="2000">
              <a:solidFill>
                <a:schemeClr val="dk1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137160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000">
              <a:solidFill>
                <a:schemeClr val="dk1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1371600" lvl="2" indent="-4064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Georgia"/>
              <a:buChar char="■"/>
            </a:pPr>
            <a:r>
              <a:rPr lang="en-US" sz="2000" b="1" i="1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s</a:t>
            </a:r>
            <a:r>
              <a:rPr lang="en-US" sz="2000" b="1" i="1" baseline="-25000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2</a:t>
            </a:r>
            <a:r>
              <a:rPr lang="en-US" sz="2000" b="1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​</a:t>
            </a:r>
            <a:r>
              <a:rPr lang="en-US" sz="2000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 (Relative Margin)</a:t>
            </a:r>
            <a:r>
              <a:rPr lang="en-US" sz="2000" b="1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:</a:t>
            </a:r>
            <a:r>
              <a:rPr lang="en-US" sz="2000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 Selects nodes within margin </a:t>
            </a:r>
            <a:r>
              <a:rPr lang="en-US" sz="2000" b="1" i="1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s</a:t>
            </a:r>
            <a:r>
              <a:rPr lang="en-US" sz="2000" b="1" i="1" baseline="-25000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2</a:t>
            </a:r>
            <a:r>
              <a:rPr lang="en-US" sz="2000" b="1" baseline="-25000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​</a:t>
            </a:r>
            <a:r>
              <a:rPr lang="en-US" sz="2000" b="1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 </a:t>
            </a:r>
            <a:r>
              <a:rPr lang="en-US" sz="2000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of the closest node.</a:t>
            </a:r>
            <a:endParaRPr sz="2000">
              <a:solidFill>
                <a:schemeClr val="dk1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137160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000">
              <a:solidFill>
                <a:schemeClr val="dk1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137160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000">
              <a:solidFill>
                <a:schemeClr val="dk1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Explores a broader set of candidate leaf nodes.</a:t>
            </a:r>
            <a:endParaRPr sz="2800">
              <a:solidFill>
                <a:schemeClr val="dk1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Preserves retrieval accuracy but increases computational cost.</a:t>
            </a:r>
            <a:endParaRPr sz="2800" b="1">
              <a:solidFill>
                <a:schemeClr val="dk1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pic>
        <p:nvPicPr>
          <p:cNvPr id="837" name="Google Shape;837;g39a3231195e_0_238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838" name="Google Shape;838;g39a3231195e_0_23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590934" y="6330522"/>
            <a:ext cx="1499906" cy="585000"/>
          </a:xfrm>
          <a:prstGeom prst="rect">
            <a:avLst/>
          </a:prstGeom>
          <a:noFill/>
          <a:ln>
            <a:noFill/>
          </a:ln>
        </p:spPr>
      </p:pic>
      <p:sp>
        <p:nvSpPr>
          <p:cNvPr id="839" name="Google Shape;839;g39a3231195e_0_238"/>
          <p:cNvSpPr txBox="1"/>
          <p:nvPr/>
        </p:nvSpPr>
        <p:spPr>
          <a:xfrm>
            <a:off x="-1" y="6288587"/>
            <a:ext cx="5981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Term Paper Presentation | Ronit Dutta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840" name="Google Shape;840;g39a3231195e_0_238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841" name="Google Shape;841;g39a3231195e_0_23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590934" y="6330522"/>
            <a:ext cx="1499906" cy="585000"/>
          </a:xfrm>
          <a:prstGeom prst="rect">
            <a:avLst/>
          </a:prstGeom>
          <a:noFill/>
          <a:ln>
            <a:noFill/>
          </a:ln>
        </p:spPr>
      </p:pic>
      <p:sp>
        <p:nvSpPr>
          <p:cNvPr id="842" name="Google Shape;842;g39a3231195e_0_238"/>
          <p:cNvSpPr txBox="1"/>
          <p:nvPr/>
        </p:nvSpPr>
        <p:spPr>
          <a:xfrm>
            <a:off x="-1" y="6288587"/>
            <a:ext cx="59811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Machine Learning Professional</a:t>
            </a:r>
            <a:b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Project</a:t>
            </a: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Presentation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843" name="Google Shape;843;g39a3231195e_0_238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590875" y="6341462"/>
            <a:ext cx="1500023" cy="585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44" name="Google Shape;844;g39a3231195e_0_238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sp>
        <p:nvSpPr>
          <p:cNvPr id="845" name="Google Shape;845;g39a3231195e_0_238"/>
          <p:cNvSpPr txBox="1"/>
          <p:nvPr/>
        </p:nvSpPr>
        <p:spPr>
          <a:xfrm>
            <a:off x="-1" y="6288587"/>
            <a:ext cx="59811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Machine Learning Professional</a:t>
            </a:r>
            <a:b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Project</a:t>
            </a: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Presentation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846" name="Google Shape;846;g39a3231195e_0_238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590875" y="6330524"/>
            <a:ext cx="1500023" cy="585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47" name="Google Shape;847;g39a3231195e_0_238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sp>
        <p:nvSpPr>
          <p:cNvPr id="848" name="Google Shape;848;g39a3231195e_0_238"/>
          <p:cNvSpPr txBox="1"/>
          <p:nvPr/>
        </p:nvSpPr>
        <p:spPr>
          <a:xfrm>
            <a:off x="-1" y="6234672"/>
            <a:ext cx="59811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Machine Learning Professional</a:t>
            </a:r>
            <a:b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Project</a:t>
            </a: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Presentation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849" name="Google Shape;849;g39a3231195e_0_238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590875" y="6330524"/>
            <a:ext cx="1500023" cy="585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50" name="Google Shape;850;g39a3231195e_0_238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3638319" y="3028929"/>
            <a:ext cx="4755949" cy="446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1" name="Google Shape;851;g39a3231195e_0_238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2667846" y="3964461"/>
            <a:ext cx="6856302" cy="646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52" name="Google Shape;852;g39a3231195e_0_238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8503250" y="4800525"/>
            <a:ext cx="2334729" cy="369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7" name="Google Shape;857;g39a3231195e_0_26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858" name="Google Shape;858;g39a3231195e_0_26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590934" y="6330522"/>
            <a:ext cx="1499906" cy="585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9" name="Google Shape;859;g39a3231195e_0_261"/>
          <p:cNvSpPr txBox="1"/>
          <p:nvPr/>
        </p:nvSpPr>
        <p:spPr>
          <a:xfrm>
            <a:off x="-1" y="6288587"/>
            <a:ext cx="5981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Term Paper Presentation | Ronit Dutta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860" name="Google Shape;860;g39a3231195e_0_261"/>
          <p:cNvSpPr txBox="1"/>
          <p:nvPr/>
        </p:nvSpPr>
        <p:spPr>
          <a:xfrm>
            <a:off x="0" y="0"/>
            <a:ext cx="12192000" cy="63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5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Auto Search</a:t>
            </a:r>
            <a:endParaRPr sz="35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cxnSp>
        <p:nvCxnSpPr>
          <p:cNvPr id="861" name="Google Shape;861;g39a3231195e_0_261"/>
          <p:cNvCxnSpPr/>
          <p:nvPr/>
        </p:nvCxnSpPr>
        <p:spPr>
          <a:xfrm rot="10800000" flipH="1">
            <a:off x="6" y="654189"/>
            <a:ext cx="6318000" cy="30600"/>
          </a:xfrm>
          <a:prstGeom prst="straightConnector1">
            <a:avLst/>
          </a:prstGeom>
          <a:noFill/>
          <a:ln w="9525" cap="flat" cmpd="sng">
            <a:solidFill>
              <a:srgbClr val="0E4D3B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62" name="Google Shape;862;g39a3231195e_0_261"/>
          <p:cNvSpPr txBox="1"/>
          <p:nvPr/>
        </p:nvSpPr>
        <p:spPr>
          <a:xfrm>
            <a:off x="1019550" y="1131925"/>
            <a:ext cx="10152900" cy="455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Balance speed and accuracy and automates parameter selection</a:t>
            </a:r>
            <a:endParaRPr sz="2800">
              <a:solidFill>
                <a:schemeClr val="dk1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45720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Georgia"/>
              <a:buChar char="●"/>
            </a:pPr>
            <a:r>
              <a:rPr lang="en-US" sz="2800" b="1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Mechanism:</a:t>
            </a:r>
            <a:endParaRPr sz="2800" b="1">
              <a:solidFill>
                <a:schemeClr val="dk1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914400" lvl="1" indent="-4064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Georgia"/>
              <a:buChar char="○"/>
            </a:pPr>
            <a:r>
              <a:rPr lang="en-US" sz="2800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Sorts distances at the current level (</a:t>
            </a:r>
            <a:r>
              <a:rPr lang="en-US" sz="2800" i="1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D</a:t>
            </a:r>
            <a:r>
              <a:rPr lang="en-US" sz="2800" i="1" baseline="30000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m</a:t>
            </a:r>
            <a:r>
              <a:rPr lang="en-US" sz="2800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)</a:t>
            </a:r>
            <a:endParaRPr sz="2800">
              <a:solidFill>
                <a:schemeClr val="dk1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9144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800">
              <a:solidFill>
                <a:schemeClr val="dk1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914400" lvl="1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Georgia"/>
              <a:buChar char="○"/>
            </a:pPr>
            <a:r>
              <a:rPr lang="en-US" sz="2800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Identifies the </a:t>
            </a:r>
            <a:r>
              <a:rPr lang="en-US" sz="2800" b="1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largest difference (gap)</a:t>
            </a:r>
            <a:r>
              <a:rPr lang="en-US" sz="2800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 between neighbor distances.</a:t>
            </a:r>
            <a:endParaRPr sz="2800">
              <a:solidFill>
                <a:schemeClr val="dk1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700">
              <a:solidFill>
                <a:schemeClr val="dk1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914400" lvl="1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Georgia"/>
              <a:buChar char="○"/>
            </a:pPr>
            <a:r>
              <a:rPr lang="en-US" sz="2800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Dynamically sets the threshold </a:t>
            </a:r>
            <a:r>
              <a:rPr lang="en-US" sz="2800" b="1" i="1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s</a:t>
            </a:r>
            <a:r>
              <a:rPr lang="en-US" sz="2800" b="1" i="1" baseline="-25000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1</a:t>
            </a:r>
            <a:r>
              <a:rPr lang="en-US" sz="2800" b="1" i="1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​ </a:t>
            </a:r>
            <a:r>
              <a:rPr lang="en-US" sz="2800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to this gap value.</a:t>
            </a:r>
            <a:endParaRPr sz="2800">
              <a:solidFill>
                <a:schemeClr val="dk1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1371600" lvl="2" indent="-4064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Georgia"/>
              <a:buChar char="■"/>
            </a:pPr>
            <a:r>
              <a:rPr lang="en-US" sz="2800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Eliminates the need for </a:t>
            </a:r>
            <a:r>
              <a:rPr lang="en-US" sz="2800" b="1" i="1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s</a:t>
            </a:r>
            <a:r>
              <a:rPr lang="en-US" sz="2800" b="1" i="1" baseline="-25000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2​</a:t>
            </a:r>
            <a:r>
              <a:rPr lang="en-US" sz="2800" b="1" i="1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 </a:t>
            </a:r>
            <a:r>
              <a:rPr lang="en-US" sz="2800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and manual tuning.</a:t>
            </a:r>
            <a:endParaRPr sz="2800">
              <a:solidFill>
                <a:schemeClr val="dk1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Faster than Relaxed, more accurate than Intensive.</a:t>
            </a:r>
            <a:endParaRPr sz="2800">
              <a:solidFill>
                <a:schemeClr val="dk1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pic>
        <p:nvPicPr>
          <p:cNvPr id="863" name="Google Shape;863;g39a3231195e_0_261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864" name="Google Shape;864;g39a3231195e_0_26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590934" y="6330522"/>
            <a:ext cx="1499906" cy="585000"/>
          </a:xfrm>
          <a:prstGeom prst="rect">
            <a:avLst/>
          </a:prstGeom>
          <a:noFill/>
          <a:ln>
            <a:noFill/>
          </a:ln>
        </p:spPr>
      </p:pic>
      <p:sp>
        <p:nvSpPr>
          <p:cNvPr id="865" name="Google Shape;865;g39a3231195e_0_261"/>
          <p:cNvSpPr txBox="1"/>
          <p:nvPr/>
        </p:nvSpPr>
        <p:spPr>
          <a:xfrm>
            <a:off x="-1" y="6288587"/>
            <a:ext cx="5981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Term Paper Presentation | Ronit Dutta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866" name="Google Shape;866;g39a3231195e_0_261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867" name="Google Shape;867;g39a3231195e_0_26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590934" y="6330522"/>
            <a:ext cx="1499906" cy="585000"/>
          </a:xfrm>
          <a:prstGeom prst="rect">
            <a:avLst/>
          </a:prstGeom>
          <a:noFill/>
          <a:ln>
            <a:noFill/>
          </a:ln>
        </p:spPr>
      </p:pic>
      <p:sp>
        <p:nvSpPr>
          <p:cNvPr id="868" name="Google Shape;868;g39a3231195e_0_261"/>
          <p:cNvSpPr txBox="1"/>
          <p:nvPr/>
        </p:nvSpPr>
        <p:spPr>
          <a:xfrm>
            <a:off x="-1" y="6288587"/>
            <a:ext cx="59811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Machine Learning Professional</a:t>
            </a:r>
            <a:b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Project</a:t>
            </a: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Presentation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869" name="Google Shape;869;g39a3231195e_0_261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590875" y="6341462"/>
            <a:ext cx="1500023" cy="585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70" name="Google Shape;870;g39a3231195e_0_261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sp>
        <p:nvSpPr>
          <p:cNvPr id="871" name="Google Shape;871;g39a3231195e_0_261"/>
          <p:cNvSpPr txBox="1"/>
          <p:nvPr/>
        </p:nvSpPr>
        <p:spPr>
          <a:xfrm>
            <a:off x="-1" y="6288587"/>
            <a:ext cx="59811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Machine Learning Professional</a:t>
            </a:r>
            <a:b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Project</a:t>
            </a: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Presentation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872" name="Google Shape;872;g39a3231195e_0_261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590875" y="6330524"/>
            <a:ext cx="1500023" cy="585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73" name="Google Shape;873;g39a3231195e_0_261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sp>
        <p:nvSpPr>
          <p:cNvPr id="874" name="Google Shape;874;g39a3231195e_0_261"/>
          <p:cNvSpPr txBox="1"/>
          <p:nvPr/>
        </p:nvSpPr>
        <p:spPr>
          <a:xfrm>
            <a:off x="-1" y="6234672"/>
            <a:ext cx="59811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Machine Learning Professional</a:t>
            </a:r>
            <a:b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Project</a:t>
            </a: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Presentation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875" name="Google Shape;875;g39a3231195e_0_261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590875" y="6330524"/>
            <a:ext cx="1500023" cy="585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76" name="Google Shape;876;g39a3231195e_0_261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2669450" y="2539431"/>
            <a:ext cx="7352257" cy="630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77" name="Google Shape;877;g39a3231195e_0_261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5339275" y="3642250"/>
            <a:ext cx="3130525" cy="713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2" name="Google Shape;882;g39a284b7f17_11_1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883" name="Google Shape;883;g39a284b7f17_11_1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590934" y="6330522"/>
            <a:ext cx="1499906" cy="585000"/>
          </a:xfrm>
          <a:prstGeom prst="rect">
            <a:avLst/>
          </a:prstGeom>
          <a:noFill/>
          <a:ln>
            <a:noFill/>
          </a:ln>
        </p:spPr>
      </p:pic>
      <p:sp>
        <p:nvSpPr>
          <p:cNvPr id="884" name="Google Shape;884;g39a284b7f17_11_16"/>
          <p:cNvSpPr txBox="1"/>
          <p:nvPr/>
        </p:nvSpPr>
        <p:spPr>
          <a:xfrm>
            <a:off x="-1" y="6288587"/>
            <a:ext cx="5981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Term Paper Presentation | Ronit Dutta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885" name="Google Shape;885;g39a284b7f17_11_16"/>
          <p:cNvSpPr txBox="1"/>
          <p:nvPr/>
        </p:nvSpPr>
        <p:spPr>
          <a:xfrm>
            <a:off x="0" y="0"/>
            <a:ext cx="12192000" cy="63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5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OUTLINE</a:t>
            </a:r>
            <a:endParaRPr sz="35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cxnSp>
        <p:nvCxnSpPr>
          <p:cNvPr id="886" name="Google Shape;886;g39a284b7f17_11_16"/>
          <p:cNvCxnSpPr/>
          <p:nvPr/>
        </p:nvCxnSpPr>
        <p:spPr>
          <a:xfrm rot="10800000" flipH="1">
            <a:off x="6" y="654189"/>
            <a:ext cx="6318000" cy="30600"/>
          </a:xfrm>
          <a:prstGeom prst="straightConnector1">
            <a:avLst/>
          </a:prstGeom>
          <a:noFill/>
          <a:ln w="9525" cap="flat" cmpd="sng">
            <a:solidFill>
              <a:srgbClr val="0E4D3B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87" name="Google Shape;887;g39a284b7f17_11_16"/>
          <p:cNvSpPr txBox="1"/>
          <p:nvPr/>
        </p:nvSpPr>
        <p:spPr>
          <a:xfrm>
            <a:off x="265800" y="1660150"/>
            <a:ext cx="11603400" cy="290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457200" lvl="0" indent="-3556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2000"/>
              <a:buFont typeface="Georgia"/>
              <a:buAutoNum type="arabicPeriod"/>
            </a:pPr>
            <a:r>
              <a:rPr lang="en-US" sz="2000">
                <a:solidFill>
                  <a:srgbClr val="B7B7B7"/>
                </a:solidFill>
                <a:latin typeface="Georgia"/>
                <a:ea typeface="Georgia"/>
                <a:cs typeface="Georgia"/>
                <a:sym typeface="Georgia"/>
              </a:rPr>
              <a:t>Introduction &amp; Data Selection</a:t>
            </a:r>
            <a:endParaRPr sz="2000">
              <a:solidFill>
                <a:srgbClr val="B7B7B7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457200" lvl="0" indent="-3556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2000"/>
              <a:buFont typeface="Georgia"/>
              <a:buAutoNum type="arabicPeriod"/>
            </a:pPr>
            <a:r>
              <a:rPr lang="en-US" sz="2000">
                <a:solidFill>
                  <a:srgbClr val="B7B7B7"/>
                </a:solidFill>
                <a:latin typeface="Georgia"/>
                <a:ea typeface="Georgia"/>
                <a:cs typeface="Georgia"/>
                <a:sym typeface="Georgia"/>
              </a:rPr>
              <a:t>Mechanics</a:t>
            </a:r>
            <a:endParaRPr sz="2000">
              <a:solidFill>
                <a:srgbClr val="B7B7B7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457200" lvl="0" indent="-3556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2000"/>
              <a:buFont typeface="Georgia"/>
              <a:buAutoNum type="arabicPeriod"/>
            </a:pPr>
            <a:r>
              <a:rPr lang="en-US" sz="2000">
                <a:solidFill>
                  <a:srgbClr val="B7B7B7"/>
                </a:solidFill>
                <a:latin typeface="Georgia"/>
                <a:ea typeface="Georgia"/>
                <a:cs typeface="Georgia"/>
                <a:sym typeface="Georgia"/>
              </a:rPr>
              <a:t>Accuracy vs compute tradeoff</a:t>
            </a:r>
            <a:endParaRPr sz="2000">
              <a:solidFill>
                <a:srgbClr val="B7B7B7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457200" lvl="0" indent="-3556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000"/>
              <a:buFont typeface="Georgia"/>
              <a:buAutoNum type="arabicPeriod"/>
            </a:pPr>
            <a:r>
              <a:rPr lang="en-US" sz="2000">
                <a:latin typeface="Georgia"/>
                <a:ea typeface="Georgia"/>
                <a:cs typeface="Georgia"/>
                <a:sym typeface="Georgia"/>
              </a:rPr>
              <a:t>Advantages, Disadvantages and Experimental Results</a:t>
            </a:r>
            <a:endParaRPr sz="2000">
              <a:latin typeface="Georgia"/>
              <a:ea typeface="Georgia"/>
              <a:cs typeface="Georgia"/>
              <a:sym typeface="Georgia"/>
            </a:endParaRPr>
          </a:p>
          <a:p>
            <a:pPr marL="457200" lvl="0" indent="-3556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2000"/>
              <a:buFont typeface="Georgia"/>
              <a:buAutoNum type="arabicPeriod"/>
            </a:pPr>
            <a:r>
              <a:rPr lang="en-US" sz="2000">
                <a:solidFill>
                  <a:srgbClr val="B7B7B7"/>
                </a:solidFill>
                <a:latin typeface="Georgia"/>
                <a:ea typeface="Georgia"/>
                <a:cs typeface="Georgia"/>
                <a:sym typeface="Georgia"/>
              </a:rPr>
              <a:t>Future directions</a:t>
            </a:r>
            <a:endParaRPr sz="2000">
              <a:solidFill>
                <a:srgbClr val="B7B7B7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pic>
        <p:nvPicPr>
          <p:cNvPr id="888" name="Google Shape;888;g39a284b7f17_11_16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889" name="Google Shape;889;g39a284b7f17_11_1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590934" y="6330522"/>
            <a:ext cx="1499906" cy="585000"/>
          </a:xfrm>
          <a:prstGeom prst="rect">
            <a:avLst/>
          </a:prstGeom>
          <a:noFill/>
          <a:ln>
            <a:noFill/>
          </a:ln>
        </p:spPr>
      </p:pic>
      <p:sp>
        <p:nvSpPr>
          <p:cNvPr id="890" name="Google Shape;890;g39a284b7f17_11_16"/>
          <p:cNvSpPr txBox="1"/>
          <p:nvPr/>
        </p:nvSpPr>
        <p:spPr>
          <a:xfrm>
            <a:off x="-1" y="6288587"/>
            <a:ext cx="5981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Term Paper Presentation | Ronit Dutta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891" name="Google Shape;891;g39a284b7f17_11_16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892" name="Google Shape;892;g39a284b7f17_11_1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590934" y="6330522"/>
            <a:ext cx="1499906" cy="585000"/>
          </a:xfrm>
          <a:prstGeom prst="rect">
            <a:avLst/>
          </a:prstGeom>
          <a:noFill/>
          <a:ln>
            <a:noFill/>
          </a:ln>
        </p:spPr>
      </p:pic>
      <p:sp>
        <p:nvSpPr>
          <p:cNvPr id="893" name="Google Shape;893;g39a284b7f17_11_16"/>
          <p:cNvSpPr txBox="1"/>
          <p:nvPr/>
        </p:nvSpPr>
        <p:spPr>
          <a:xfrm>
            <a:off x="-1" y="6288587"/>
            <a:ext cx="59811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Machine Learning Professional</a:t>
            </a:r>
            <a:b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Project</a:t>
            </a: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Presentation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894" name="Google Shape;894;g39a284b7f17_11_16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590875" y="6341462"/>
            <a:ext cx="1500023" cy="585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95" name="Google Shape;895;g39a284b7f17_11_16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sp>
        <p:nvSpPr>
          <p:cNvPr id="896" name="Google Shape;896;g39a284b7f17_11_16"/>
          <p:cNvSpPr txBox="1"/>
          <p:nvPr/>
        </p:nvSpPr>
        <p:spPr>
          <a:xfrm>
            <a:off x="-1" y="6288587"/>
            <a:ext cx="59811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Machine Learning Professional</a:t>
            </a:r>
            <a:b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Project</a:t>
            </a: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Presentation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897" name="Google Shape;897;g39a284b7f17_11_16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590875" y="6330524"/>
            <a:ext cx="1500023" cy="585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98" name="Google Shape;898;g39a284b7f17_11_16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sp>
        <p:nvSpPr>
          <p:cNvPr id="899" name="Google Shape;899;g39a284b7f17_11_16"/>
          <p:cNvSpPr txBox="1"/>
          <p:nvPr/>
        </p:nvSpPr>
        <p:spPr>
          <a:xfrm>
            <a:off x="-1" y="6234672"/>
            <a:ext cx="59811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Machine Learning Professional</a:t>
            </a:r>
            <a:b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Project</a:t>
            </a: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Presentation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900" name="Google Shape;900;g39a284b7f17_11_16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590875" y="6330524"/>
            <a:ext cx="1500023" cy="585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5" name="Google Shape;905;g3aba38fc115_0_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906" name="Google Shape;906;g3aba38fc115_0_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590934" y="6330522"/>
            <a:ext cx="1499906" cy="585000"/>
          </a:xfrm>
          <a:prstGeom prst="rect">
            <a:avLst/>
          </a:prstGeom>
          <a:noFill/>
          <a:ln>
            <a:noFill/>
          </a:ln>
        </p:spPr>
      </p:pic>
      <p:sp>
        <p:nvSpPr>
          <p:cNvPr id="907" name="Google Shape;907;g3aba38fc115_0_0"/>
          <p:cNvSpPr txBox="1"/>
          <p:nvPr/>
        </p:nvSpPr>
        <p:spPr>
          <a:xfrm>
            <a:off x="-1" y="6288587"/>
            <a:ext cx="5981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Term Paper Presentation | Ronit Dutta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08" name="Google Shape;908;g3aba38fc115_0_0"/>
          <p:cNvSpPr txBox="1"/>
          <p:nvPr/>
        </p:nvSpPr>
        <p:spPr>
          <a:xfrm>
            <a:off x="0" y="0"/>
            <a:ext cx="121920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3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Advantages 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909" name="Google Shape;909;g3aba38fc115_0_0"/>
          <p:cNvCxnSpPr/>
          <p:nvPr/>
        </p:nvCxnSpPr>
        <p:spPr>
          <a:xfrm rot="10800000" flipH="1">
            <a:off x="6" y="654189"/>
            <a:ext cx="6318000" cy="30600"/>
          </a:xfrm>
          <a:prstGeom prst="straightConnector1">
            <a:avLst/>
          </a:prstGeom>
          <a:noFill/>
          <a:ln w="9525" cap="flat" cmpd="sng">
            <a:solidFill>
              <a:srgbClr val="0E4D3B"/>
            </a:solidFill>
            <a:prstDash val="solid"/>
            <a:miter lim="800000"/>
            <a:headEnd type="none" w="sm" len="sm"/>
            <a:tailEnd type="none" w="sm" len="sm"/>
          </a:ln>
        </p:spPr>
      </p:cxnSp>
      <p:pic>
        <p:nvPicPr>
          <p:cNvPr id="910" name="Google Shape;910;g3aba38fc115_0_0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911" name="Google Shape;911;g3aba38fc115_0_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590934" y="6330522"/>
            <a:ext cx="1499906" cy="585000"/>
          </a:xfrm>
          <a:prstGeom prst="rect">
            <a:avLst/>
          </a:prstGeom>
          <a:noFill/>
          <a:ln>
            <a:noFill/>
          </a:ln>
        </p:spPr>
      </p:pic>
      <p:sp>
        <p:nvSpPr>
          <p:cNvPr id="912" name="Google Shape;912;g3aba38fc115_0_0"/>
          <p:cNvSpPr txBox="1"/>
          <p:nvPr/>
        </p:nvSpPr>
        <p:spPr>
          <a:xfrm>
            <a:off x="-1" y="6288587"/>
            <a:ext cx="5981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Term Paper Presentation | Ronit Dutta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913" name="Google Shape;913;g3aba38fc115_0_0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914" name="Google Shape;914;g3aba38fc115_0_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590934" y="6330522"/>
            <a:ext cx="1499906" cy="585000"/>
          </a:xfrm>
          <a:prstGeom prst="rect">
            <a:avLst/>
          </a:prstGeom>
          <a:noFill/>
          <a:ln>
            <a:noFill/>
          </a:ln>
        </p:spPr>
      </p:pic>
      <p:sp>
        <p:nvSpPr>
          <p:cNvPr id="915" name="Google Shape;915;g3aba38fc115_0_0"/>
          <p:cNvSpPr txBox="1"/>
          <p:nvPr/>
        </p:nvSpPr>
        <p:spPr>
          <a:xfrm>
            <a:off x="-1" y="6288587"/>
            <a:ext cx="5981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Term Paper Presentation | Ronit Dutta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16" name="Google Shape;916;g3aba38fc115_0_0"/>
          <p:cNvSpPr txBox="1"/>
          <p:nvPr/>
        </p:nvSpPr>
        <p:spPr>
          <a:xfrm>
            <a:off x="0" y="1169555"/>
            <a:ext cx="12192000" cy="420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eorgia"/>
              <a:buChar char="●"/>
            </a:pPr>
            <a:r>
              <a:rPr lang="en-US" sz="1800" b="1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Large speedup with high accuracy</a:t>
            </a:r>
            <a:endParaRPr sz="1800">
              <a:solidFill>
                <a:schemeClr val="dk1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4572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For particular object retrieval, mAP retention stays </a:t>
            </a:r>
            <a:r>
              <a:rPr lang="en-US" sz="1800" u="sng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between about 92.5% and 102%, with an average of 97.8%.​</a:t>
            </a:r>
            <a:endParaRPr sz="1800" u="sng">
              <a:solidFill>
                <a:schemeClr val="dk1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-US" sz="1800" b="1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Flexible trade-off</a:t>
            </a:r>
            <a:r>
              <a:rPr lang="en-US" sz="1800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:</a:t>
            </a:r>
            <a:endParaRPr sz="1800">
              <a:solidFill>
                <a:schemeClr val="dk1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1371600" lvl="1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</a:pPr>
            <a:r>
              <a:rPr lang="en-US" sz="1800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Intensive search: </a:t>
            </a:r>
            <a:r>
              <a:rPr lang="en-US" sz="1800" b="1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maximum speed.</a:t>
            </a:r>
            <a:endParaRPr sz="1800" b="1">
              <a:solidFill>
                <a:schemeClr val="dk1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1371600" lvl="1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</a:pPr>
            <a:r>
              <a:rPr lang="en-US" sz="1800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Relaxed search: </a:t>
            </a:r>
            <a:r>
              <a:rPr lang="en-US" sz="1800" b="1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best accuracy retention.</a:t>
            </a:r>
            <a:endParaRPr sz="1800" b="1">
              <a:solidFill>
                <a:schemeClr val="dk1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1371600" lvl="1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</a:pPr>
            <a:r>
              <a:rPr lang="en-US" sz="1800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Auto search:</a:t>
            </a:r>
            <a:r>
              <a:rPr lang="en-US" sz="1800" b="1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 balanced speed and accuracy, no extra hyperparameters.​</a:t>
            </a:r>
            <a:endParaRPr sz="1800" b="1">
              <a:solidFill>
                <a:schemeClr val="dk1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eorgia"/>
              <a:buChar char="●"/>
            </a:pPr>
            <a:r>
              <a:rPr lang="en-US" sz="1800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Works with different backbones and tasks:</a:t>
            </a:r>
            <a:endParaRPr sz="1800">
              <a:solidFill>
                <a:schemeClr val="dk1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914400" lvl="1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eorgia"/>
              <a:buChar char="○"/>
            </a:pPr>
            <a:r>
              <a:rPr lang="en-US" sz="1800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CLIP-based model (UNICOM) for category-level retrieval.</a:t>
            </a:r>
            <a:endParaRPr sz="1800">
              <a:solidFill>
                <a:schemeClr val="dk1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914400" lvl="1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eorgia"/>
              <a:buChar char="○"/>
            </a:pPr>
            <a:r>
              <a:rPr lang="en-US" sz="1800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CNN-based model (R-GeM) for particular object retrieval.​</a:t>
            </a:r>
            <a:endParaRPr sz="1800">
              <a:solidFill>
                <a:schemeClr val="dk1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4572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Shows that </a:t>
            </a:r>
            <a:r>
              <a:rPr lang="en-US" sz="1800" b="1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the framework is model-agnostic and reusable</a:t>
            </a:r>
            <a:endParaRPr sz="1800">
              <a:solidFill>
                <a:schemeClr val="dk1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pic>
        <p:nvPicPr>
          <p:cNvPr id="917" name="Google Shape;917;g3aba38fc115_0_0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918" name="Google Shape;918;g3aba38fc115_0_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590934" y="6330522"/>
            <a:ext cx="1499906" cy="585000"/>
          </a:xfrm>
          <a:prstGeom prst="rect">
            <a:avLst/>
          </a:prstGeom>
          <a:noFill/>
          <a:ln>
            <a:noFill/>
          </a:ln>
        </p:spPr>
      </p:pic>
      <p:sp>
        <p:nvSpPr>
          <p:cNvPr id="919" name="Google Shape;919;g3aba38fc115_0_0"/>
          <p:cNvSpPr txBox="1"/>
          <p:nvPr/>
        </p:nvSpPr>
        <p:spPr>
          <a:xfrm>
            <a:off x="-1" y="6288587"/>
            <a:ext cx="59811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Machine Learning Professional</a:t>
            </a:r>
            <a:b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Project</a:t>
            </a: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Presentation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920" name="Google Shape;920;g3aba38fc115_0_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590875" y="6330524"/>
            <a:ext cx="1500023" cy="585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21" name="Google Shape;921;g3aba38fc115_0_0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sp>
        <p:nvSpPr>
          <p:cNvPr id="922" name="Google Shape;922;g3aba38fc115_0_0"/>
          <p:cNvSpPr txBox="1"/>
          <p:nvPr/>
        </p:nvSpPr>
        <p:spPr>
          <a:xfrm>
            <a:off x="-1" y="6288587"/>
            <a:ext cx="59811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Machine Learning Professional</a:t>
            </a:r>
            <a:b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Project</a:t>
            </a: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Presentation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923" name="Google Shape;923;g3aba38fc115_0_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590875" y="6330524"/>
            <a:ext cx="1500023" cy="585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24" name="Google Shape;924;g3aba38fc115_0_0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sp>
        <p:nvSpPr>
          <p:cNvPr id="925" name="Google Shape;925;g3aba38fc115_0_0"/>
          <p:cNvSpPr txBox="1"/>
          <p:nvPr/>
        </p:nvSpPr>
        <p:spPr>
          <a:xfrm>
            <a:off x="-1" y="6234672"/>
            <a:ext cx="59811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Machine Learning Professional</a:t>
            </a:r>
            <a:b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Project</a:t>
            </a: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Presentation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926" name="Google Shape;926;g3aba38fc115_0_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590875" y="6330524"/>
            <a:ext cx="1500023" cy="585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1" name="Google Shape;931;g3aa9fb5ca3f_0_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932" name="Google Shape;932;g3aa9fb5ca3f_0_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590934" y="6330522"/>
            <a:ext cx="1499906" cy="585000"/>
          </a:xfrm>
          <a:prstGeom prst="rect">
            <a:avLst/>
          </a:prstGeom>
          <a:noFill/>
          <a:ln>
            <a:noFill/>
          </a:ln>
        </p:spPr>
      </p:pic>
      <p:sp>
        <p:nvSpPr>
          <p:cNvPr id="933" name="Google Shape;933;g3aa9fb5ca3f_0_0"/>
          <p:cNvSpPr txBox="1"/>
          <p:nvPr/>
        </p:nvSpPr>
        <p:spPr>
          <a:xfrm>
            <a:off x="-1" y="6288587"/>
            <a:ext cx="5981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Term Paper Presentation | Ronit Dutta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34" name="Google Shape;934;g3aa9fb5ca3f_0_0"/>
          <p:cNvSpPr txBox="1"/>
          <p:nvPr/>
        </p:nvSpPr>
        <p:spPr>
          <a:xfrm>
            <a:off x="0" y="0"/>
            <a:ext cx="121920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3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Advantages 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935" name="Google Shape;935;g3aa9fb5ca3f_0_0"/>
          <p:cNvCxnSpPr/>
          <p:nvPr/>
        </p:nvCxnSpPr>
        <p:spPr>
          <a:xfrm rot="10800000" flipH="1">
            <a:off x="6" y="654189"/>
            <a:ext cx="6318000" cy="30600"/>
          </a:xfrm>
          <a:prstGeom prst="straightConnector1">
            <a:avLst/>
          </a:prstGeom>
          <a:noFill/>
          <a:ln w="9525" cap="flat" cmpd="sng">
            <a:solidFill>
              <a:srgbClr val="0E4D3B"/>
            </a:solidFill>
            <a:prstDash val="solid"/>
            <a:miter lim="800000"/>
            <a:headEnd type="none" w="sm" len="sm"/>
            <a:tailEnd type="none" w="sm" len="sm"/>
          </a:ln>
        </p:spPr>
      </p:cxnSp>
      <p:pic>
        <p:nvPicPr>
          <p:cNvPr id="936" name="Google Shape;936;g3aa9fb5ca3f_0_0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937" name="Google Shape;937;g3aa9fb5ca3f_0_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590934" y="6330522"/>
            <a:ext cx="1499906" cy="585000"/>
          </a:xfrm>
          <a:prstGeom prst="rect">
            <a:avLst/>
          </a:prstGeom>
          <a:noFill/>
          <a:ln>
            <a:noFill/>
          </a:ln>
        </p:spPr>
      </p:pic>
      <p:sp>
        <p:nvSpPr>
          <p:cNvPr id="938" name="Google Shape;938;g3aa9fb5ca3f_0_0"/>
          <p:cNvSpPr txBox="1"/>
          <p:nvPr/>
        </p:nvSpPr>
        <p:spPr>
          <a:xfrm>
            <a:off x="-1" y="6288587"/>
            <a:ext cx="5981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Term Paper Presentation | Ronit Dutta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939" name="Google Shape;939;g3aa9fb5ca3f_0_0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940" name="Google Shape;940;g3aa9fb5ca3f_0_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590934" y="6330522"/>
            <a:ext cx="1499906" cy="585000"/>
          </a:xfrm>
          <a:prstGeom prst="rect">
            <a:avLst/>
          </a:prstGeom>
          <a:noFill/>
          <a:ln>
            <a:noFill/>
          </a:ln>
        </p:spPr>
      </p:pic>
      <p:sp>
        <p:nvSpPr>
          <p:cNvPr id="941" name="Google Shape;941;g3aa9fb5ca3f_0_0"/>
          <p:cNvSpPr txBox="1"/>
          <p:nvPr/>
        </p:nvSpPr>
        <p:spPr>
          <a:xfrm>
            <a:off x="-1" y="6288587"/>
            <a:ext cx="5981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Term Paper Presentation | Ronit Dutta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42" name="Google Shape;942;g3aa9fb5ca3f_0_0"/>
          <p:cNvSpPr txBox="1"/>
          <p:nvPr/>
        </p:nvSpPr>
        <p:spPr>
          <a:xfrm>
            <a:off x="0" y="977055"/>
            <a:ext cx="12192000" cy="170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1">
              <a:solidFill>
                <a:schemeClr val="dk1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-US" sz="1800" b="1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Scales well with dataset size: </a:t>
            </a:r>
            <a:r>
              <a:rPr lang="en-US" sz="1800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The larger the database, the more retrieval time is reduced</a:t>
            </a:r>
            <a:endParaRPr sz="1800">
              <a:solidFill>
                <a:schemeClr val="dk1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eorgia"/>
              <a:buChar char="●"/>
            </a:pPr>
            <a:r>
              <a:rPr lang="en-US" sz="1800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Offline/online separation: Tree construction is done offline, </a:t>
            </a:r>
            <a:r>
              <a:rPr lang="en-US" sz="1800" u="sng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online step becomes much faster and can be plugged into existing CBIR pipeline</a:t>
            </a:r>
            <a:r>
              <a:rPr lang="en-US" sz="1800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s without retraining the backbone.</a:t>
            </a:r>
            <a:endParaRPr sz="1800">
              <a:solidFill>
                <a:schemeClr val="dk1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pic>
        <p:nvPicPr>
          <p:cNvPr id="943" name="Google Shape;943;g3aa9fb5ca3f_0_0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944" name="Google Shape;944;g3aa9fb5ca3f_0_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590934" y="6330522"/>
            <a:ext cx="1499906" cy="585000"/>
          </a:xfrm>
          <a:prstGeom prst="rect">
            <a:avLst/>
          </a:prstGeom>
          <a:noFill/>
          <a:ln>
            <a:noFill/>
          </a:ln>
        </p:spPr>
      </p:pic>
      <p:sp>
        <p:nvSpPr>
          <p:cNvPr id="945" name="Google Shape;945;g3aa9fb5ca3f_0_0"/>
          <p:cNvSpPr txBox="1"/>
          <p:nvPr/>
        </p:nvSpPr>
        <p:spPr>
          <a:xfrm>
            <a:off x="-1" y="6288587"/>
            <a:ext cx="59811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Machine Learning Professional</a:t>
            </a:r>
            <a:b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Project</a:t>
            </a: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Presentation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946" name="Google Shape;946;g3aa9fb5ca3f_0_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590875" y="6330524"/>
            <a:ext cx="1500023" cy="585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47" name="Google Shape;947;g3aa9fb5ca3f_0_0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sp>
        <p:nvSpPr>
          <p:cNvPr id="948" name="Google Shape;948;g3aa9fb5ca3f_0_0"/>
          <p:cNvSpPr txBox="1"/>
          <p:nvPr/>
        </p:nvSpPr>
        <p:spPr>
          <a:xfrm>
            <a:off x="-1" y="6288587"/>
            <a:ext cx="59811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Machine Learning Professional</a:t>
            </a:r>
            <a:b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Project</a:t>
            </a: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Presentation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949" name="Google Shape;949;g3aa9fb5ca3f_0_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590875" y="6330524"/>
            <a:ext cx="1500023" cy="585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50" name="Google Shape;950;g3aa9fb5ca3f_0_0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sp>
        <p:nvSpPr>
          <p:cNvPr id="951" name="Google Shape;951;g3aa9fb5ca3f_0_0"/>
          <p:cNvSpPr txBox="1"/>
          <p:nvPr/>
        </p:nvSpPr>
        <p:spPr>
          <a:xfrm>
            <a:off x="-1" y="6234672"/>
            <a:ext cx="59811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Machine Learning Professional</a:t>
            </a:r>
            <a:b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Project</a:t>
            </a: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Presentation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952" name="Google Shape;952;g3aa9fb5ca3f_0_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590875" y="6330524"/>
            <a:ext cx="1500023" cy="585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7" name="Google Shape;957;g3aa9fb5ca3f_0_3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958" name="Google Shape;958;g3aa9fb5ca3f_0_3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590934" y="6330522"/>
            <a:ext cx="1499906" cy="585000"/>
          </a:xfrm>
          <a:prstGeom prst="rect">
            <a:avLst/>
          </a:prstGeom>
          <a:noFill/>
          <a:ln>
            <a:noFill/>
          </a:ln>
        </p:spPr>
      </p:pic>
      <p:sp>
        <p:nvSpPr>
          <p:cNvPr id="959" name="Google Shape;959;g3aa9fb5ca3f_0_37"/>
          <p:cNvSpPr txBox="1"/>
          <p:nvPr/>
        </p:nvSpPr>
        <p:spPr>
          <a:xfrm>
            <a:off x="-1" y="6288587"/>
            <a:ext cx="5981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Term Paper Presentation | Ronit Dutta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60" name="Google Shape;960;g3aa9fb5ca3f_0_37"/>
          <p:cNvSpPr txBox="1"/>
          <p:nvPr/>
        </p:nvSpPr>
        <p:spPr>
          <a:xfrm>
            <a:off x="0" y="0"/>
            <a:ext cx="121920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3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Disadvantages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961" name="Google Shape;961;g3aa9fb5ca3f_0_37"/>
          <p:cNvCxnSpPr/>
          <p:nvPr/>
        </p:nvCxnSpPr>
        <p:spPr>
          <a:xfrm rot="10800000" flipH="1">
            <a:off x="6" y="654189"/>
            <a:ext cx="6318000" cy="30600"/>
          </a:xfrm>
          <a:prstGeom prst="straightConnector1">
            <a:avLst/>
          </a:prstGeom>
          <a:noFill/>
          <a:ln w="9525" cap="flat" cmpd="sng">
            <a:solidFill>
              <a:srgbClr val="0E4D3B"/>
            </a:solidFill>
            <a:prstDash val="solid"/>
            <a:miter lim="800000"/>
            <a:headEnd type="none" w="sm" len="sm"/>
            <a:tailEnd type="none" w="sm" len="sm"/>
          </a:ln>
        </p:spPr>
      </p:cxnSp>
      <p:pic>
        <p:nvPicPr>
          <p:cNvPr id="962" name="Google Shape;962;g3aa9fb5ca3f_0_37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963" name="Google Shape;963;g3aa9fb5ca3f_0_3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590934" y="6330522"/>
            <a:ext cx="1499906" cy="585000"/>
          </a:xfrm>
          <a:prstGeom prst="rect">
            <a:avLst/>
          </a:prstGeom>
          <a:noFill/>
          <a:ln>
            <a:noFill/>
          </a:ln>
        </p:spPr>
      </p:pic>
      <p:sp>
        <p:nvSpPr>
          <p:cNvPr id="964" name="Google Shape;964;g3aa9fb5ca3f_0_37"/>
          <p:cNvSpPr txBox="1"/>
          <p:nvPr/>
        </p:nvSpPr>
        <p:spPr>
          <a:xfrm>
            <a:off x="-1" y="6288587"/>
            <a:ext cx="5981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Term Paper Presentation | Ronit Dutta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965" name="Google Shape;965;g3aa9fb5ca3f_0_37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966" name="Google Shape;966;g3aa9fb5ca3f_0_3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590934" y="6330522"/>
            <a:ext cx="1499906" cy="585000"/>
          </a:xfrm>
          <a:prstGeom prst="rect">
            <a:avLst/>
          </a:prstGeom>
          <a:noFill/>
          <a:ln>
            <a:noFill/>
          </a:ln>
        </p:spPr>
      </p:pic>
      <p:sp>
        <p:nvSpPr>
          <p:cNvPr id="967" name="Google Shape;967;g3aa9fb5ca3f_0_37"/>
          <p:cNvSpPr txBox="1"/>
          <p:nvPr/>
        </p:nvSpPr>
        <p:spPr>
          <a:xfrm>
            <a:off x="-1" y="6288587"/>
            <a:ext cx="5981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Term Paper Presentation | Ronit Dutta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68" name="Google Shape;968;g3aa9fb5ca3f_0_37"/>
          <p:cNvSpPr txBox="1"/>
          <p:nvPr/>
        </p:nvSpPr>
        <p:spPr>
          <a:xfrm>
            <a:off x="0" y="1217674"/>
            <a:ext cx="12192000" cy="295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-US" sz="1800" b="1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Speed–accuracy trade-off</a:t>
            </a:r>
            <a:r>
              <a:rPr lang="en-US" sz="1800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: Intensive search gives the highest speed but can significantly hurt accuracy on </a:t>
            </a:r>
            <a:r>
              <a:rPr lang="en-US" sz="1800" u="sng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large datasets (big drop in Recall@1 on In-Shop).​</a:t>
            </a:r>
            <a:endParaRPr sz="1800" u="sng">
              <a:solidFill>
                <a:schemeClr val="dk1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eorgia"/>
              <a:buChar char="●"/>
            </a:pPr>
            <a:r>
              <a:rPr lang="en-US" sz="1800" b="1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Less benefit on small datasets or dynamic data</a:t>
            </a:r>
            <a:endParaRPr sz="1800">
              <a:solidFill>
                <a:schemeClr val="dk1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-US" sz="1800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The cluster tree is built offline, when many new images arrive the tree may need to be rebuilt which is </a:t>
            </a:r>
            <a:r>
              <a:rPr lang="en-US" sz="1800" b="1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less ideal for highly dynamic systems.​</a:t>
            </a:r>
            <a:endParaRPr sz="1800" b="1">
              <a:solidFill>
                <a:schemeClr val="dk1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-US" sz="1800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Implementation-level limitation: All experiments use Python, </a:t>
            </a:r>
            <a:r>
              <a:rPr lang="en-US" sz="1800" b="1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the authors note that using a compiled language could further reduce overhead and improve speed beyond the reported numbers.</a:t>
            </a:r>
            <a:endParaRPr sz="1800" b="1">
              <a:solidFill>
                <a:schemeClr val="dk1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pic>
        <p:nvPicPr>
          <p:cNvPr id="969" name="Google Shape;969;g3aa9fb5ca3f_0_37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970" name="Google Shape;970;g3aa9fb5ca3f_0_3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590934" y="6330522"/>
            <a:ext cx="1499906" cy="585000"/>
          </a:xfrm>
          <a:prstGeom prst="rect">
            <a:avLst/>
          </a:prstGeom>
          <a:noFill/>
          <a:ln>
            <a:noFill/>
          </a:ln>
        </p:spPr>
      </p:pic>
      <p:sp>
        <p:nvSpPr>
          <p:cNvPr id="971" name="Google Shape;971;g3aa9fb5ca3f_0_37"/>
          <p:cNvSpPr txBox="1"/>
          <p:nvPr/>
        </p:nvSpPr>
        <p:spPr>
          <a:xfrm>
            <a:off x="-1" y="6288587"/>
            <a:ext cx="59811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Machine Learning Professional</a:t>
            </a:r>
            <a:b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Project</a:t>
            </a: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Presentation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972" name="Google Shape;972;g3aa9fb5ca3f_0_37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590875" y="6330524"/>
            <a:ext cx="1500023" cy="585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73" name="Google Shape;973;g3aa9fb5ca3f_0_37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sp>
        <p:nvSpPr>
          <p:cNvPr id="974" name="Google Shape;974;g3aa9fb5ca3f_0_37"/>
          <p:cNvSpPr txBox="1"/>
          <p:nvPr/>
        </p:nvSpPr>
        <p:spPr>
          <a:xfrm>
            <a:off x="-1" y="6288587"/>
            <a:ext cx="59811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Machine Learning Professional</a:t>
            </a:r>
            <a:b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Project</a:t>
            </a: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Presentation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975" name="Google Shape;975;g3aa9fb5ca3f_0_37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590875" y="6330524"/>
            <a:ext cx="1500023" cy="585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76" name="Google Shape;976;g3aa9fb5ca3f_0_37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sp>
        <p:nvSpPr>
          <p:cNvPr id="977" name="Google Shape;977;g3aa9fb5ca3f_0_37"/>
          <p:cNvSpPr txBox="1"/>
          <p:nvPr/>
        </p:nvSpPr>
        <p:spPr>
          <a:xfrm>
            <a:off x="-1" y="6234672"/>
            <a:ext cx="59811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Machine Learning Professional</a:t>
            </a:r>
            <a:b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Project</a:t>
            </a: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Presentation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978" name="Google Shape;978;g3aa9fb5ca3f_0_37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590875" y="6330524"/>
            <a:ext cx="1500023" cy="585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3" name="Google Shape;983;g39a337dd114_0_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984" name="Google Shape;984;g39a337dd114_0_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590934" y="6330522"/>
            <a:ext cx="1499906" cy="585000"/>
          </a:xfrm>
          <a:prstGeom prst="rect">
            <a:avLst/>
          </a:prstGeom>
          <a:noFill/>
          <a:ln>
            <a:noFill/>
          </a:ln>
        </p:spPr>
      </p:pic>
      <p:sp>
        <p:nvSpPr>
          <p:cNvPr id="985" name="Google Shape;985;g39a337dd114_0_0"/>
          <p:cNvSpPr txBox="1"/>
          <p:nvPr/>
        </p:nvSpPr>
        <p:spPr>
          <a:xfrm>
            <a:off x="-1" y="6288587"/>
            <a:ext cx="5981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Term Paper Presentation | Ronit Dutta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86" name="Google Shape;986;g39a337dd114_0_0"/>
          <p:cNvSpPr txBox="1"/>
          <p:nvPr/>
        </p:nvSpPr>
        <p:spPr>
          <a:xfrm>
            <a:off x="0" y="0"/>
            <a:ext cx="121920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3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Experiment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987" name="Google Shape;987;g39a337dd114_0_0"/>
          <p:cNvCxnSpPr/>
          <p:nvPr/>
        </p:nvCxnSpPr>
        <p:spPr>
          <a:xfrm rot="10800000" flipH="1">
            <a:off x="6" y="654189"/>
            <a:ext cx="6318000" cy="30600"/>
          </a:xfrm>
          <a:prstGeom prst="straightConnector1">
            <a:avLst/>
          </a:prstGeom>
          <a:noFill/>
          <a:ln w="9525" cap="flat" cmpd="sng">
            <a:solidFill>
              <a:srgbClr val="0E4D3B"/>
            </a:solidFill>
            <a:prstDash val="solid"/>
            <a:miter lim="800000"/>
            <a:headEnd type="none" w="sm" len="sm"/>
            <a:tailEnd type="none" w="sm" len="sm"/>
          </a:ln>
        </p:spPr>
      </p:cxnSp>
      <p:pic>
        <p:nvPicPr>
          <p:cNvPr id="988" name="Google Shape;988;g39a337dd114_0_0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989" name="Google Shape;989;g39a337dd114_0_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590934" y="6330522"/>
            <a:ext cx="1499906" cy="585000"/>
          </a:xfrm>
          <a:prstGeom prst="rect">
            <a:avLst/>
          </a:prstGeom>
          <a:noFill/>
          <a:ln>
            <a:noFill/>
          </a:ln>
        </p:spPr>
      </p:pic>
      <p:sp>
        <p:nvSpPr>
          <p:cNvPr id="990" name="Google Shape;990;g39a337dd114_0_0"/>
          <p:cNvSpPr txBox="1"/>
          <p:nvPr/>
        </p:nvSpPr>
        <p:spPr>
          <a:xfrm>
            <a:off x="-1" y="6288587"/>
            <a:ext cx="5981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Term Paper Presentation | Ronit Dutta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991" name="Google Shape;991;g39a337dd114_0_0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992" name="Google Shape;992;g39a337dd114_0_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590934" y="6330522"/>
            <a:ext cx="1499906" cy="585000"/>
          </a:xfrm>
          <a:prstGeom prst="rect">
            <a:avLst/>
          </a:prstGeom>
          <a:noFill/>
          <a:ln>
            <a:noFill/>
          </a:ln>
        </p:spPr>
      </p:pic>
      <p:sp>
        <p:nvSpPr>
          <p:cNvPr id="993" name="Google Shape;993;g39a337dd114_0_0"/>
          <p:cNvSpPr txBox="1"/>
          <p:nvPr/>
        </p:nvSpPr>
        <p:spPr>
          <a:xfrm>
            <a:off x="-1" y="6288587"/>
            <a:ext cx="5981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Term Paper Presentation | Ronit Dutta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994" name="Google Shape;994;g39a337dd114_0_0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995" name="Google Shape;995;g39a337dd114_0_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590934" y="6330522"/>
            <a:ext cx="1499906" cy="585000"/>
          </a:xfrm>
          <a:prstGeom prst="rect">
            <a:avLst/>
          </a:prstGeom>
          <a:noFill/>
          <a:ln>
            <a:noFill/>
          </a:ln>
        </p:spPr>
      </p:pic>
      <p:sp>
        <p:nvSpPr>
          <p:cNvPr id="996" name="Google Shape;996;g39a337dd114_0_0"/>
          <p:cNvSpPr txBox="1"/>
          <p:nvPr/>
        </p:nvSpPr>
        <p:spPr>
          <a:xfrm>
            <a:off x="-1" y="6288587"/>
            <a:ext cx="59811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Machine Learning Professional</a:t>
            </a:r>
            <a:b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Project</a:t>
            </a: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Presentation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997" name="Google Shape;997;g39a337dd114_0_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590875" y="6330524"/>
            <a:ext cx="1500023" cy="585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98" name="Google Shape;998;g39a337dd114_0_0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sp>
        <p:nvSpPr>
          <p:cNvPr id="999" name="Google Shape;999;g39a337dd114_0_0"/>
          <p:cNvSpPr txBox="1"/>
          <p:nvPr/>
        </p:nvSpPr>
        <p:spPr>
          <a:xfrm>
            <a:off x="-1" y="6288587"/>
            <a:ext cx="59811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Machine Learning Professional</a:t>
            </a:r>
            <a:b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Project</a:t>
            </a: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Presentation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1000" name="Google Shape;1000;g39a337dd114_0_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590875" y="6330524"/>
            <a:ext cx="1500023" cy="585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1" name="Google Shape;1001;g39a337dd114_0_0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sp>
        <p:nvSpPr>
          <p:cNvPr id="1002" name="Google Shape;1002;g39a337dd114_0_0"/>
          <p:cNvSpPr txBox="1"/>
          <p:nvPr/>
        </p:nvSpPr>
        <p:spPr>
          <a:xfrm>
            <a:off x="-1" y="6234672"/>
            <a:ext cx="59811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Machine Learning Professional</a:t>
            </a:r>
            <a:b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Project</a:t>
            </a: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Presentation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1003" name="Google Shape;1003;g39a337dd114_0_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590875" y="6330524"/>
            <a:ext cx="1500023" cy="585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04" name="Google Shape;1004;g39a337dd114_0_0"/>
          <p:cNvSpPr txBox="1"/>
          <p:nvPr/>
        </p:nvSpPr>
        <p:spPr>
          <a:xfrm>
            <a:off x="9272336" y="1217683"/>
            <a:ext cx="27192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Category-Level Retrieval</a:t>
            </a:r>
            <a:endParaRPr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005" name="Google Shape;1005;g39a337dd114_0_0"/>
          <p:cNvSpPr txBox="1"/>
          <p:nvPr/>
        </p:nvSpPr>
        <p:spPr>
          <a:xfrm>
            <a:off x="9320501" y="2339661"/>
            <a:ext cx="23100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Particular Object Retrieval</a:t>
            </a:r>
            <a:endParaRPr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1006" name="Google Shape;1006;g39a337dd114_0_0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0" y="654200"/>
            <a:ext cx="9172076" cy="2494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7" name="Google Shape;1007;g39a337dd114_0_0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533400" y="4253413"/>
            <a:ext cx="1039725" cy="8532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08" name="Google Shape;1008;g39a337dd114_0_0"/>
          <p:cNvCxnSpPr/>
          <p:nvPr/>
        </p:nvCxnSpPr>
        <p:spPr>
          <a:xfrm>
            <a:off x="2045370" y="4712375"/>
            <a:ext cx="6417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pic>
        <p:nvPicPr>
          <p:cNvPr id="1009" name="Google Shape;1009;g39a337dd114_0_0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3189375" y="3756519"/>
            <a:ext cx="1499925" cy="817756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0" name="Google Shape;1010;g39a337dd114_0_0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2381494" y="4983912"/>
            <a:ext cx="1218118" cy="817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1" name="Google Shape;1011;g39a337dd114_0_0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4148023" y="4983912"/>
            <a:ext cx="1833077" cy="817750"/>
          </a:xfrm>
          <a:prstGeom prst="rect">
            <a:avLst/>
          </a:prstGeom>
          <a:noFill/>
          <a:ln>
            <a:noFill/>
          </a:ln>
        </p:spPr>
      </p:pic>
      <p:sp>
        <p:nvSpPr>
          <p:cNvPr id="1012" name="Google Shape;1012;g39a337dd114_0_0"/>
          <p:cNvSpPr txBox="1"/>
          <p:nvPr/>
        </p:nvSpPr>
        <p:spPr>
          <a:xfrm>
            <a:off x="1709560" y="3267988"/>
            <a:ext cx="2719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b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Category-Level Retrieval</a:t>
            </a:r>
            <a:endParaRPr sz="1800" b="1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cxnSp>
        <p:nvCxnSpPr>
          <p:cNvPr id="1013" name="Google Shape;1013;g39a337dd114_0_0"/>
          <p:cNvCxnSpPr/>
          <p:nvPr/>
        </p:nvCxnSpPr>
        <p:spPr>
          <a:xfrm>
            <a:off x="9164150" y="762003"/>
            <a:ext cx="7800" cy="11595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14" name="Google Shape;1014;g39a337dd114_0_0"/>
          <p:cNvCxnSpPr/>
          <p:nvPr/>
        </p:nvCxnSpPr>
        <p:spPr>
          <a:xfrm>
            <a:off x="9176182" y="2097508"/>
            <a:ext cx="7800" cy="8301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1015" name="Google Shape;1015;g39a337dd114_0_0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7071624" y="4186212"/>
            <a:ext cx="828784" cy="9204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6" name="Google Shape;1016;g39a337dd114_0_0"/>
          <p:cNvCxnSpPr/>
          <p:nvPr/>
        </p:nvCxnSpPr>
        <p:spPr>
          <a:xfrm>
            <a:off x="8173438" y="4624125"/>
            <a:ext cx="6417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pic>
        <p:nvPicPr>
          <p:cNvPr id="1017" name="Google Shape;1017;g39a337dd114_0_0"/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9088200" y="3637303"/>
            <a:ext cx="828775" cy="1408898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8" name="Google Shape;1018;g39a337dd114_0_0"/>
          <p:cNvPicPr preferRelativeResize="0"/>
          <p:nvPr/>
        </p:nvPicPr>
        <p:blipFill>
          <a:blip r:embed="rId15">
            <a:alphaModFix/>
          </a:blip>
          <a:stretch>
            <a:fillRect/>
          </a:stretch>
        </p:blipFill>
        <p:spPr>
          <a:xfrm>
            <a:off x="9272325" y="5207533"/>
            <a:ext cx="1039725" cy="102714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9" name="Google Shape;1019;g39a337dd114_0_0"/>
          <p:cNvPicPr preferRelativeResize="0"/>
          <p:nvPr/>
        </p:nvPicPr>
        <p:blipFill>
          <a:blip r:embed="rId16">
            <a:alphaModFix/>
          </a:blip>
          <a:stretch>
            <a:fillRect/>
          </a:stretch>
        </p:blipFill>
        <p:spPr>
          <a:xfrm>
            <a:off x="10590870" y="3961677"/>
            <a:ext cx="1039725" cy="1436711"/>
          </a:xfrm>
          <a:prstGeom prst="rect">
            <a:avLst/>
          </a:prstGeom>
          <a:noFill/>
          <a:ln>
            <a:noFill/>
          </a:ln>
        </p:spPr>
      </p:pic>
      <p:sp>
        <p:nvSpPr>
          <p:cNvPr id="1020" name="Google Shape;1020;g39a337dd114_0_0"/>
          <p:cNvSpPr txBox="1"/>
          <p:nvPr/>
        </p:nvSpPr>
        <p:spPr>
          <a:xfrm>
            <a:off x="8336415" y="3219072"/>
            <a:ext cx="31137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b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Particular Object Retrieval</a:t>
            </a:r>
            <a:endParaRPr sz="1800" b="1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5" name="Google Shape;1025;g39a284b7f17_11_3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6" name="Google Shape;1026;g39a284b7f17_11_3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590934" y="6330522"/>
            <a:ext cx="1499906" cy="585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27" name="Google Shape;1027;g39a284b7f17_11_35"/>
          <p:cNvSpPr txBox="1"/>
          <p:nvPr/>
        </p:nvSpPr>
        <p:spPr>
          <a:xfrm>
            <a:off x="-1" y="6288587"/>
            <a:ext cx="5981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Term Paper Presentation | Ronit Dutta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028" name="Google Shape;1028;g39a284b7f17_11_35"/>
          <p:cNvSpPr txBox="1"/>
          <p:nvPr/>
        </p:nvSpPr>
        <p:spPr>
          <a:xfrm>
            <a:off x="0" y="0"/>
            <a:ext cx="12192000" cy="63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5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OUTLINE</a:t>
            </a:r>
            <a:endParaRPr sz="35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cxnSp>
        <p:nvCxnSpPr>
          <p:cNvPr id="1029" name="Google Shape;1029;g39a284b7f17_11_35"/>
          <p:cNvCxnSpPr/>
          <p:nvPr/>
        </p:nvCxnSpPr>
        <p:spPr>
          <a:xfrm rot="10800000" flipH="1">
            <a:off x="6" y="654189"/>
            <a:ext cx="6318000" cy="30600"/>
          </a:xfrm>
          <a:prstGeom prst="straightConnector1">
            <a:avLst/>
          </a:prstGeom>
          <a:noFill/>
          <a:ln w="9525" cap="flat" cmpd="sng">
            <a:solidFill>
              <a:srgbClr val="0E4D3B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030" name="Google Shape;1030;g39a284b7f17_11_35"/>
          <p:cNvSpPr txBox="1"/>
          <p:nvPr/>
        </p:nvSpPr>
        <p:spPr>
          <a:xfrm>
            <a:off x="265800" y="1660150"/>
            <a:ext cx="11603400" cy="290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457200" lvl="0" indent="-3556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2000"/>
              <a:buFont typeface="Georgia"/>
              <a:buAutoNum type="arabicPeriod"/>
            </a:pPr>
            <a:r>
              <a:rPr lang="en-US" sz="2000">
                <a:solidFill>
                  <a:srgbClr val="B7B7B7"/>
                </a:solidFill>
                <a:latin typeface="Georgia"/>
                <a:ea typeface="Georgia"/>
                <a:cs typeface="Georgia"/>
                <a:sym typeface="Georgia"/>
              </a:rPr>
              <a:t>Introduction &amp; Data Selection</a:t>
            </a:r>
            <a:endParaRPr sz="2000">
              <a:solidFill>
                <a:srgbClr val="B7B7B7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457200" lvl="0" indent="-3556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2000"/>
              <a:buFont typeface="Georgia"/>
              <a:buAutoNum type="arabicPeriod"/>
            </a:pPr>
            <a:r>
              <a:rPr lang="en-US" sz="2000">
                <a:solidFill>
                  <a:srgbClr val="B7B7B7"/>
                </a:solidFill>
                <a:latin typeface="Georgia"/>
                <a:ea typeface="Georgia"/>
                <a:cs typeface="Georgia"/>
                <a:sym typeface="Georgia"/>
              </a:rPr>
              <a:t>Mechanics</a:t>
            </a:r>
            <a:endParaRPr sz="2000">
              <a:solidFill>
                <a:srgbClr val="B7B7B7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457200" lvl="0" indent="-3556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2000"/>
              <a:buFont typeface="Georgia"/>
              <a:buAutoNum type="arabicPeriod"/>
            </a:pPr>
            <a:r>
              <a:rPr lang="en-US" sz="2000">
                <a:solidFill>
                  <a:srgbClr val="B7B7B7"/>
                </a:solidFill>
                <a:latin typeface="Georgia"/>
                <a:ea typeface="Georgia"/>
                <a:cs typeface="Georgia"/>
                <a:sym typeface="Georgia"/>
              </a:rPr>
              <a:t>Accuracy vs compute tradeoff</a:t>
            </a:r>
            <a:endParaRPr sz="2000">
              <a:solidFill>
                <a:srgbClr val="B7B7B7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457200" lvl="0" indent="-3556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2000"/>
              <a:buFont typeface="Georgia"/>
              <a:buAutoNum type="arabicPeriod"/>
            </a:pPr>
            <a:r>
              <a:rPr lang="en-US" sz="2000">
                <a:solidFill>
                  <a:srgbClr val="B7B7B7"/>
                </a:solidFill>
                <a:latin typeface="Georgia"/>
                <a:ea typeface="Georgia"/>
                <a:cs typeface="Georgia"/>
                <a:sym typeface="Georgia"/>
              </a:rPr>
              <a:t>Advantages, Disadvantages and Experimental Results</a:t>
            </a:r>
            <a:endParaRPr sz="2000">
              <a:solidFill>
                <a:srgbClr val="B7B7B7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457200" lvl="0" indent="-3556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eorgia"/>
              <a:buAutoNum type="arabicPeriod"/>
            </a:pPr>
            <a:r>
              <a:rPr lang="en-US" sz="2000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Future directions</a:t>
            </a:r>
            <a:endParaRPr sz="2000">
              <a:solidFill>
                <a:schemeClr val="dk1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pic>
        <p:nvPicPr>
          <p:cNvPr id="1031" name="Google Shape;1031;g39a284b7f17_11_35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2" name="Google Shape;1032;g39a284b7f17_11_3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590934" y="6330522"/>
            <a:ext cx="1499906" cy="585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33" name="Google Shape;1033;g39a284b7f17_11_35"/>
          <p:cNvSpPr txBox="1"/>
          <p:nvPr/>
        </p:nvSpPr>
        <p:spPr>
          <a:xfrm>
            <a:off x="-1" y="6288587"/>
            <a:ext cx="5981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Term Paper Presentation | Ronit Dutta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1034" name="Google Shape;1034;g39a284b7f17_11_35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5" name="Google Shape;1035;g39a284b7f17_11_3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590934" y="6330522"/>
            <a:ext cx="1499906" cy="585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36" name="Google Shape;1036;g39a284b7f17_11_35"/>
          <p:cNvSpPr txBox="1"/>
          <p:nvPr/>
        </p:nvSpPr>
        <p:spPr>
          <a:xfrm>
            <a:off x="-1" y="6288587"/>
            <a:ext cx="59811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Machine Learning Professional</a:t>
            </a:r>
            <a:b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Project</a:t>
            </a: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Presentation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1037" name="Google Shape;1037;g39a284b7f17_11_35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590875" y="6341462"/>
            <a:ext cx="1500023" cy="585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8" name="Google Shape;1038;g39a284b7f17_11_35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sp>
        <p:nvSpPr>
          <p:cNvPr id="1039" name="Google Shape;1039;g39a284b7f17_11_35"/>
          <p:cNvSpPr txBox="1"/>
          <p:nvPr/>
        </p:nvSpPr>
        <p:spPr>
          <a:xfrm>
            <a:off x="-1" y="6288587"/>
            <a:ext cx="59811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Machine Learning Professional</a:t>
            </a:r>
            <a:b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Project</a:t>
            </a: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Presentation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1040" name="Google Shape;1040;g39a284b7f17_11_35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590875" y="6330524"/>
            <a:ext cx="1500023" cy="585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41" name="Google Shape;1041;g39a284b7f17_11_35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sp>
        <p:nvSpPr>
          <p:cNvPr id="1042" name="Google Shape;1042;g39a284b7f17_11_35"/>
          <p:cNvSpPr txBox="1"/>
          <p:nvPr/>
        </p:nvSpPr>
        <p:spPr>
          <a:xfrm>
            <a:off x="-1" y="6234672"/>
            <a:ext cx="59811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Machine Learning Professional</a:t>
            </a:r>
            <a:b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Project</a:t>
            </a: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Presentation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1043" name="Google Shape;1043;g39a284b7f17_11_35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590875" y="6330524"/>
            <a:ext cx="1500023" cy="585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8" name="Google Shape;1048;g3aab165c69e_0_2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49" name="Google Shape;1049;g3aab165c69e_0_2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590934" y="6330522"/>
            <a:ext cx="1499906" cy="585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50" name="Google Shape;1050;g3aab165c69e_0_29"/>
          <p:cNvSpPr txBox="1"/>
          <p:nvPr/>
        </p:nvSpPr>
        <p:spPr>
          <a:xfrm>
            <a:off x="-1" y="6288587"/>
            <a:ext cx="5981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Term Paper Presentation | Ronit Dutta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051" name="Google Shape;1051;g3aab165c69e_0_29"/>
          <p:cNvSpPr txBox="1"/>
          <p:nvPr/>
        </p:nvSpPr>
        <p:spPr>
          <a:xfrm>
            <a:off x="89800" y="92425"/>
            <a:ext cx="121920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2600" b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ANN </a:t>
            </a:r>
            <a:r>
              <a:rPr lang="en-US" sz="26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(Approximate Nearest Neighbors Search) Overview</a:t>
            </a:r>
            <a:endParaRPr sz="26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cxnSp>
        <p:nvCxnSpPr>
          <p:cNvPr id="1052" name="Google Shape;1052;g3aab165c69e_0_29"/>
          <p:cNvCxnSpPr/>
          <p:nvPr/>
        </p:nvCxnSpPr>
        <p:spPr>
          <a:xfrm rot="10800000" flipH="1">
            <a:off x="6" y="654189"/>
            <a:ext cx="6318000" cy="30600"/>
          </a:xfrm>
          <a:prstGeom prst="straightConnector1">
            <a:avLst/>
          </a:prstGeom>
          <a:noFill/>
          <a:ln w="9525" cap="flat" cmpd="sng">
            <a:solidFill>
              <a:srgbClr val="0E4D3B"/>
            </a:solidFill>
            <a:prstDash val="solid"/>
            <a:miter lim="800000"/>
            <a:headEnd type="none" w="sm" len="sm"/>
            <a:tailEnd type="none" w="sm" len="sm"/>
          </a:ln>
        </p:spPr>
      </p:cxnSp>
      <p:pic>
        <p:nvPicPr>
          <p:cNvPr id="1053" name="Google Shape;1053;g3aab165c69e_0_29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54" name="Google Shape;1054;g3aab165c69e_0_2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590934" y="6330522"/>
            <a:ext cx="1499906" cy="585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55" name="Google Shape;1055;g3aab165c69e_0_29"/>
          <p:cNvSpPr txBox="1"/>
          <p:nvPr/>
        </p:nvSpPr>
        <p:spPr>
          <a:xfrm>
            <a:off x="-1" y="6288587"/>
            <a:ext cx="5981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Term Paper Presentation | Ronit Dutta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1056" name="Google Shape;1056;g3aab165c69e_0_29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57" name="Google Shape;1057;g3aab165c69e_0_2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590934" y="6330522"/>
            <a:ext cx="1499906" cy="585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58" name="Google Shape;1058;g3aab165c69e_0_29"/>
          <p:cNvSpPr txBox="1"/>
          <p:nvPr/>
        </p:nvSpPr>
        <p:spPr>
          <a:xfrm>
            <a:off x="-1" y="6288587"/>
            <a:ext cx="5981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Term Paper Presentation | Ronit Dutta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059" name="Google Shape;1059;g3aab165c69e_0_29"/>
          <p:cNvSpPr txBox="1"/>
          <p:nvPr/>
        </p:nvSpPr>
        <p:spPr>
          <a:xfrm>
            <a:off x="511900" y="884363"/>
            <a:ext cx="11347800" cy="21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</a:pPr>
            <a:r>
              <a:rPr lang="en-US" sz="2000" b="1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Purpose</a:t>
            </a:r>
            <a:r>
              <a:rPr lang="en-US" sz="2000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: Quickly find the top-K most similar points to a query in large-scale data (vectors)</a:t>
            </a:r>
            <a:endParaRPr>
              <a:solidFill>
                <a:schemeClr val="dk1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457200" lvl="0" indent="-355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</a:pPr>
            <a:r>
              <a:rPr lang="en-US" sz="2000" b="1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Categories</a:t>
            </a:r>
            <a:r>
              <a:rPr lang="en-US" sz="2000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:</a:t>
            </a:r>
            <a:endParaRPr sz="2000">
              <a:solidFill>
                <a:schemeClr val="dk1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914400" lvl="1" indent="-355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eorgia"/>
              <a:buChar char="○"/>
            </a:pPr>
            <a:r>
              <a:rPr lang="en-US" sz="2000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Tree-based</a:t>
            </a:r>
            <a:endParaRPr sz="2000">
              <a:solidFill>
                <a:schemeClr val="dk1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914400" lvl="1" indent="-355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eorgia"/>
              <a:buChar char="○"/>
            </a:pPr>
            <a:r>
              <a:rPr lang="en-US" sz="2000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Graph-based</a:t>
            </a:r>
            <a:endParaRPr sz="2000">
              <a:solidFill>
                <a:schemeClr val="dk1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914400" lvl="1" indent="-355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eorgia"/>
              <a:buChar char="○"/>
            </a:pPr>
            <a:r>
              <a:rPr lang="en-US" sz="2000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Hashing-based</a:t>
            </a:r>
            <a:endParaRPr sz="2000">
              <a:solidFill>
                <a:schemeClr val="dk1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Georgia"/>
              <a:ea typeface="Georgia"/>
              <a:cs typeface="Georgia"/>
              <a:sym typeface="Georgia"/>
            </a:endParaRPr>
          </a:p>
        </p:txBody>
      </p:sp>
      <p:pic>
        <p:nvPicPr>
          <p:cNvPr id="1060" name="Google Shape;1060;g3aab165c69e_0_29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60900" y="2961911"/>
            <a:ext cx="11142199" cy="31996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061" name="Google Shape;1061;g3aab165c69e_0_29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62" name="Google Shape;1062;g3aab165c69e_0_2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590934" y="6330522"/>
            <a:ext cx="1499906" cy="585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63" name="Google Shape;1063;g3aab165c69e_0_29"/>
          <p:cNvSpPr txBox="1"/>
          <p:nvPr/>
        </p:nvSpPr>
        <p:spPr>
          <a:xfrm>
            <a:off x="-1" y="6288587"/>
            <a:ext cx="59811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Machine Learning Professional</a:t>
            </a:r>
            <a:b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Project</a:t>
            </a: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Presentation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1064" name="Google Shape;1064;g3aab165c69e_0_29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0590875" y="6330524"/>
            <a:ext cx="1500023" cy="585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65" name="Google Shape;1065;g3aab165c69e_0_29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sp>
        <p:nvSpPr>
          <p:cNvPr id="1066" name="Google Shape;1066;g3aab165c69e_0_29"/>
          <p:cNvSpPr txBox="1"/>
          <p:nvPr/>
        </p:nvSpPr>
        <p:spPr>
          <a:xfrm>
            <a:off x="-1" y="6288587"/>
            <a:ext cx="59811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Machine Learning Professional</a:t>
            </a:r>
            <a:b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Project</a:t>
            </a: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Presentation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1067" name="Google Shape;1067;g3aab165c69e_0_29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0590875" y="6330524"/>
            <a:ext cx="1500023" cy="585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68" name="Google Shape;1068;g3aab165c69e_0_29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sp>
        <p:nvSpPr>
          <p:cNvPr id="1069" name="Google Shape;1069;g3aab165c69e_0_29"/>
          <p:cNvSpPr txBox="1"/>
          <p:nvPr/>
        </p:nvSpPr>
        <p:spPr>
          <a:xfrm>
            <a:off x="-1" y="6234672"/>
            <a:ext cx="59811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Machine Learning Professional</a:t>
            </a:r>
            <a:b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Project</a:t>
            </a: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Presentation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1070" name="Google Shape;1070;g3aab165c69e_0_29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0590875" y="6330524"/>
            <a:ext cx="1500023" cy="585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5" name="Google Shape;1075;g3aab165c69e_0_5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76" name="Google Shape;1076;g3aab165c69e_0_5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590934" y="6330522"/>
            <a:ext cx="1499906" cy="585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77" name="Google Shape;1077;g3aab165c69e_0_50"/>
          <p:cNvSpPr txBox="1"/>
          <p:nvPr/>
        </p:nvSpPr>
        <p:spPr>
          <a:xfrm>
            <a:off x="-1" y="6288587"/>
            <a:ext cx="5981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Term Paper Presentation | Ronit Dutta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078" name="Google Shape;1078;g3aab165c69e_0_50"/>
          <p:cNvSpPr txBox="1"/>
          <p:nvPr/>
        </p:nvSpPr>
        <p:spPr>
          <a:xfrm>
            <a:off x="0" y="0"/>
            <a:ext cx="121920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2600" b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Example1:</a:t>
            </a:r>
            <a:r>
              <a:rPr lang="en-US" sz="26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HNSW (Hierarchical Navigable Small World)</a:t>
            </a:r>
            <a:endParaRPr sz="26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cxnSp>
        <p:nvCxnSpPr>
          <p:cNvPr id="1079" name="Google Shape;1079;g3aab165c69e_0_50"/>
          <p:cNvCxnSpPr/>
          <p:nvPr/>
        </p:nvCxnSpPr>
        <p:spPr>
          <a:xfrm rot="10800000" flipH="1">
            <a:off x="6" y="654189"/>
            <a:ext cx="6318000" cy="30600"/>
          </a:xfrm>
          <a:prstGeom prst="straightConnector1">
            <a:avLst/>
          </a:prstGeom>
          <a:noFill/>
          <a:ln w="9525" cap="flat" cmpd="sng">
            <a:solidFill>
              <a:srgbClr val="0E4D3B"/>
            </a:solidFill>
            <a:prstDash val="solid"/>
            <a:miter lim="800000"/>
            <a:headEnd type="none" w="sm" len="sm"/>
            <a:tailEnd type="none" w="sm" len="sm"/>
          </a:ln>
        </p:spPr>
      </p:cxnSp>
      <p:pic>
        <p:nvPicPr>
          <p:cNvPr id="1080" name="Google Shape;1080;g3aab165c69e_0_50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81" name="Google Shape;1081;g3aab165c69e_0_5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590934" y="6330522"/>
            <a:ext cx="1499906" cy="585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82" name="Google Shape;1082;g3aab165c69e_0_50"/>
          <p:cNvSpPr txBox="1"/>
          <p:nvPr/>
        </p:nvSpPr>
        <p:spPr>
          <a:xfrm>
            <a:off x="-1" y="6288587"/>
            <a:ext cx="5981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Term Paper Presentation | Ronit Dutta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1083" name="Google Shape;1083;g3aab165c69e_0_50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84" name="Google Shape;1084;g3aab165c69e_0_5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590934" y="6330522"/>
            <a:ext cx="1499906" cy="585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85" name="Google Shape;1085;g3aab165c69e_0_50"/>
          <p:cNvSpPr txBox="1"/>
          <p:nvPr/>
        </p:nvSpPr>
        <p:spPr>
          <a:xfrm>
            <a:off x="-1" y="6288587"/>
            <a:ext cx="5981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Term Paper Presentation | Ronit Dutta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086" name="Google Shape;1086;g3aab165c69e_0_50"/>
          <p:cNvSpPr txBox="1"/>
          <p:nvPr/>
        </p:nvSpPr>
        <p:spPr>
          <a:xfrm>
            <a:off x="0" y="783675"/>
            <a:ext cx="11347800" cy="99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7465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Char char="●"/>
            </a:pPr>
            <a:r>
              <a:rPr lang="en-US" sz="1900" b="1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Industry standard:</a:t>
            </a:r>
            <a:r>
              <a:rPr lang="en-US" sz="1900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 excellent trade-off between high recall and low latency</a:t>
            </a:r>
            <a:endParaRPr sz="1900" b="1">
              <a:solidFill>
                <a:schemeClr val="dk1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457200" lvl="0" indent="-37465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Char char="●"/>
            </a:pPr>
            <a:r>
              <a:rPr lang="en-US" sz="1900" b="1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Hierarchical structure: </a:t>
            </a:r>
            <a:r>
              <a:rPr lang="en-US" sz="1900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fast coarse search + accurate local search</a:t>
            </a:r>
            <a:endParaRPr sz="2300" b="1">
              <a:solidFill>
                <a:schemeClr val="dk1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pic>
        <p:nvPicPr>
          <p:cNvPr id="1087" name="Google Shape;1087;g3aab165c69e_0_5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952628" y="2241338"/>
            <a:ext cx="5825635" cy="3281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88" name="Google Shape;1088;g3aab165c69e_0_50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89" name="Google Shape;1089;g3aab165c69e_0_5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590934" y="6330522"/>
            <a:ext cx="1499906" cy="585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90" name="Google Shape;1090;g3aab165c69e_0_50"/>
          <p:cNvSpPr txBox="1"/>
          <p:nvPr/>
        </p:nvSpPr>
        <p:spPr>
          <a:xfrm>
            <a:off x="-1" y="6288587"/>
            <a:ext cx="59811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Machine Learning Professional</a:t>
            </a:r>
            <a:b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Project</a:t>
            </a: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Presentation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1091" name="Google Shape;1091;g3aab165c69e_0_50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0590875" y="6330524"/>
            <a:ext cx="1500023" cy="585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2" name="Google Shape;1092;g3aab165c69e_0_50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sp>
        <p:nvSpPr>
          <p:cNvPr id="1093" name="Google Shape;1093;g3aab165c69e_0_50"/>
          <p:cNvSpPr txBox="1"/>
          <p:nvPr/>
        </p:nvSpPr>
        <p:spPr>
          <a:xfrm>
            <a:off x="-1" y="6288587"/>
            <a:ext cx="59811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Machine Learning Professional</a:t>
            </a:r>
            <a:b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Project</a:t>
            </a: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Presentation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1094" name="Google Shape;1094;g3aab165c69e_0_50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0590875" y="6330524"/>
            <a:ext cx="1500023" cy="585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5" name="Google Shape;1095;g3aab165c69e_0_50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sp>
        <p:nvSpPr>
          <p:cNvPr id="1096" name="Google Shape;1096;g3aab165c69e_0_50"/>
          <p:cNvSpPr txBox="1"/>
          <p:nvPr/>
        </p:nvSpPr>
        <p:spPr>
          <a:xfrm>
            <a:off x="-1" y="6234672"/>
            <a:ext cx="59811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Machine Learning Professional</a:t>
            </a:r>
            <a:b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Project</a:t>
            </a: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Presentation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1097" name="Google Shape;1097;g3aab165c69e_0_50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0590875" y="6330524"/>
            <a:ext cx="1500023" cy="585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02" name="Google Shape;1102;g3aab165c69e_0_7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3" name="Google Shape;1103;g3aab165c69e_0_7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590934" y="6330522"/>
            <a:ext cx="1499906" cy="585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04" name="Google Shape;1104;g3aab165c69e_0_71"/>
          <p:cNvSpPr txBox="1"/>
          <p:nvPr/>
        </p:nvSpPr>
        <p:spPr>
          <a:xfrm>
            <a:off x="-1" y="6288587"/>
            <a:ext cx="5981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Term Paper Presentation | Ronit Dutta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105" name="Google Shape;1105;g3aab165c69e_0_71"/>
          <p:cNvSpPr txBox="1"/>
          <p:nvPr/>
        </p:nvSpPr>
        <p:spPr>
          <a:xfrm>
            <a:off x="0" y="0"/>
            <a:ext cx="121920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600" b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Example 2</a:t>
            </a:r>
            <a:r>
              <a:rPr lang="en-US" sz="26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 Deep Hashing </a:t>
            </a:r>
            <a:endParaRPr sz="26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106" name="Google Shape;1106;g3aab165c69e_0_71"/>
          <p:cNvCxnSpPr/>
          <p:nvPr/>
        </p:nvCxnSpPr>
        <p:spPr>
          <a:xfrm rot="10800000" flipH="1">
            <a:off x="6" y="654189"/>
            <a:ext cx="6318000" cy="30600"/>
          </a:xfrm>
          <a:prstGeom prst="straightConnector1">
            <a:avLst/>
          </a:prstGeom>
          <a:noFill/>
          <a:ln w="9525" cap="flat" cmpd="sng">
            <a:solidFill>
              <a:srgbClr val="0E4D3B"/>
            </a:solidFill>
            <a:prstDash val="solid"/>
            <a:miter lim="800000"/>
            <a:headEnd type="none" w="sm" len="sm"/>
            <a:tailEnd type="none" w="sm" len="sm"/>
          </a:ln>
        </p:spPr>
      </p:cxnSp>
      <p:pic>
        <p:nvPicPr>
          <p:cNvPr id="1107" name="Google Shape;1107;g3aab165c69e_0_71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8" name="Google Shape;1108;g3aab165c69e_0_7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590934" y="6330522"/>
            <a:ext cx="1499906" cy="585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09" name="Google Shape;1109;g3aab165c69e_0_71"/>
          <p:cNvSpPr txBox="1"/>
          <p:nvPr/>
        </p:nvSpPr>
        <p:spPr>
          <a:xfrm>
            <a:off x="-1" y="6288587"/>
            <a:ext cx="5981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Term Paper Presentation | Ronit Dutta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1110" name="Google Shape;1110;g3aab165c69e_0_71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1111" name="Google Shape;1111;g3aab165c69e_0_7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590934" y="6330522"/>
            <a:ext cx="1499906" cy="585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12" name="Google Shape;1112;g3aab165c69e_0_71"/>
          <p:cNvSpPr txBox="1"/>
          <p:nvPr/>
        </p:nvSpPr>
        <p:spPr>
          <a:xfrm>
            <a:off x="-1" y="6288587"/>
            <a:ext cx="5981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Term Paper Presentation | Ronit Dutta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113" name="Google Shape;1113;g3aab165c69e_0_71"/>
          <p:cNvSpPr txBox="1"/>
          <p:nvPr/>
        </p:nvSpPr>
        <p:spPr>
          <a:xfrm>
            <a:off x="70750" y="793600"/>
            <a:ext cx="8850600" cy="141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-US" sz="1600" b="1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What</a:t>
            </a:r>
            <a:r>
              <a:rPr lang="en-US" sz="1600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: DNNs + Hashing →</a:t>
            </a:r>
            <a:r>
              <a:rPr lang="en-US" sz="1600" b="1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 convert each image into a binary hash code</a:t>
            </a:r>
            <a:endParaRPr sz="1600" b="1">
              <a:solidFill>
                <a:schemeClr val="dk1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-US" sz="1600" b="1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Why</a:t>
            </a:r>
            <a:r>
              <a:rPr lang="en-US" sz="1600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: </a:t>
            </a:r>
            <a:endParaRPr sz="1600">
              <a:solidFill>
                <a:schemeClr val="dk1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91440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</a:pPr>
            <a:r>
              <a:rPr lang="en-US" sz="1600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Dramatically reduce storage requirements and enable extremely fast comparisons;</a:t>
            </a:r>
            <a:r>
              <a:rPr lang="en-US" sz="1600" b="1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 </a:t>
            </a:r>
            <a:endParaRPr sz="1600" b="1">
              <a:solidFill>
                <a:schemeClr val="dk1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91440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</a:pPr>
            <a:r>
              <a:rPr lang="en-US" sz="1600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Suitable for </a:t>
            </a:r>
            <a:r>
              <a:rPr lang="en-US" sz="1600" b="1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million–billion scale</a:t>
            </a:r>
            <a:r>
              <a:rPr lang="en-US" sz="1600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 databases.</a:t>
            </a:r>
            <a:endParaRPr b="1">
              <a:solidFill>
                <a:schemeClr val="dk1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pic>
        <p:nvPicPr>
          <p:cNvPr id="1114" name="Google Shape;1114;g3aab165c69e_0_71"/>
          <p:cNvPicPr preferRelativeResize="0"/>
          <p:nvPr/>
        </p:nvPicPr>
        <p:blipFill rotWithShape="1">
          <a:blip r:embed="rId6">
            <a:alphaModFix/>
          </a:blip>
          <a:srcRect l="3603" r="4239" b="33962"/>
          <a:stretch/>
        </p:blipFill>
        <p:spPr>
          <a:xfrm>
            <a:off x="2510665" y="2302423"/>
            <a:ext cx="7349359" cy="1417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15" name="Google Shape;1115;g3aab165c69e_0_71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2202574" y="3703302"/>
            <a:ext cx="1357850" cy="293299"/>
          </a:xfrm>
          <a:prstGeom prst="rect">
            <a:avLst/>
          </a:prstGeom>
          <a:noFill/>
          <a:ln>
            <a:noFill/>
          </a:ln>
        </p:spPr>
      </p:pic>
      <p:pic>
        <p:nvPicPr>
          <p:cNvPr id="1116" name="Google Shape;1116;g3aab165c69e_0_71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3937375" y="3703029"/>
            <a:ext cx="1245491" cy="287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17" name="Google Shape;1117;g3aab165c69e_0_71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4019649" y="4106286"/>
            <a:ext cx="771838" cy="28710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118" name="Google Shape;1118;g3aab165c69e_0_71"/>
          <p:cNvCxnSpPr>
            <a:stCxn id="1115" idx="3"/>
            <a:endCxn id="1116" idx="1"/>
          </p:cNvCxnSpPr>
          <p:nvPr/>
        </p:nvCxnSpPr>
        <p:spPr>
          <a:xfrm rot="10800000" flipH="1">
            <a:off x="3560424" y="3846652"/>
            <a:ext cx="377100" cy="3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pic>
        <p:nvPicPr>
          <p:cNvPr id="1119" name="Google Shape;1119;g3aab165c69e_0_71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5627720" y="3933750"/>
            <a:ext cx="2848650" cy="1018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20" name="Google Shape;1120;g3aab165c69e_0_71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5607087" y="5239400"/>
            <a:ext cx="2905750" cy="79390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121" name="Google Shape;1121;g3aab165c69e_0_71"/>
          <p:cNvCxnSpPr>
            <a:stCxn id="1119" idx="2"/>
            <a:endCxn id="1120" idx="0"/>
          </p:cNvCxnSpPr>
          <p:nvPr/>
        </p:nvCxnSpPr>
        <p:spPr>
          <a:xfrm>
            <a:off x="7052045" y="4952375"/>
            <a:ext cx="7800" cy="2871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pic>
        <p:nvPicPr>
          <p:cNvPr id="1122" name="Google Shape;1122;g3aab165c69e_0_71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1123" name="Google Shape;1123;g3aab165c69e_0_7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590934" y="6330522"/>
            <a:ext cx="1499906" cy="585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24" name="Google Shape;1124;g3aab165c69e_0_71"/>
          <p:cNvSpPr txBox="1"/>
          <p:nvPr/>
        </p:nvSpPr>
        <p:spPr>
          <a:xfrm>
            <a:off x="-1" y="6288587"/>
            <a:ext cx="59811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Machine Learning Professional</a:t>
            </a:r>
            <a:b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Project</a:t>
            </a: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Presentation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1125" name="Google Shape;1125;g3aab165c69e_0_71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10590875" y="6330524"/>
            <a:ext cx="1500023" cy="585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26" name="Google Shape;1126;g3aab165c69e_0_71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sp>
        <p:nvSpPr>
          <p:cNvPr id="1127" name="Google Shape;1127;g3aab165c69e_0_71"/>
          <p:cNvSpPr txBox="1"/>
          <p:nvPr/>
        </p:nvSpPr>
        <p:spPr>
          <a:xfrm>
            <a:off x="-1" y="6288587"/>
            <a:ext cx="59811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Machine Learning Professional</a:t>
            </a:r>
            <a:b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Project</a:t>
            </a: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Presentation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1128" name="Google Shape;1128;g3aab165c69e_0_71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10590875" y="6330524"/>
            <a:ext cx="1500023" cy="585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29" name="Google Shape;1129;g3aab165c69e_0_71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sp>
        <p:nvSpPr>
          <p:cNvPr id="1130" name="Google Shape;1130;g3aab165c69e_0_71"/>
          <p:cNvSpPr txBox="1"/>
          <p:nvPr/>
        </p:nvSpPr>
        <p:spPr>
          <a:xfrm>
            <a:off x="-1" y="6234672"/>
            <a:ext cx="59811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Machine Learning Professional</a:t>
            </a:r>
            <a:b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Project</a:t>
            </a: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Presentation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1131" name="Google Shape;1131;g3aab165c69e_0_71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10590875" y="6330524"/>
            <a:ext cx="1500023" cy="585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36" name="Google Shape;1136;g39a284b7f17_9_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1137" name="Google Shape;1137;g39a284b7f17_9_4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590934" y="6330522"/>
            <a:ext cx="1499906" cy="585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38" name="Google Shape;1138;g39a284b7f17_9_4"/>
          <p:cNvSpPr txBox="1"/>
          <p:nvPr/>
        </p:nvSpPr>
        <p:spPr>
          <a:xfrm>
            <a:off x="-1" y="6288587"/>
            <a:ext cx="5981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Term Paper Presentation | Ronit Dutta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139" name="Google Shape;1139;g39a284b7f17_9_4"/>
          <p:cNvSpPr txBox="1"/>
          <p:nvPr/>
        </p:nvSpPr>
        <p:spPr>
          <a:xfrm>
            <a:off x="67025" y="192200"/>
            <a:ext cx="121920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600" b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Content-based Image Retrieval </a:t>
            </a:r>
            <a:endParaRPr sz="2600" b="1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cxnSp>
        <p:nvCxnSpPr>
          <p:cNvPr id="1140" name="Google Shape;1140;g39a284b7f17_9_4"/>
          <p:cNvCxnSpPr/>
          <p:nvPr/>
        </p:nvCxnSpPr>
        <p:spPr>
          <a:xfrm rot="10800000" flipH="1">
            <a:off x="6" y="654189"/>
            <a:ext cx="6318000" cy="30600"/>
          </a:xfrm>
          <a:prstGeom prst="straightConnector1">
            <a:avLst/>
          </a:prstGeom>
          <a:noFill/>
          <a:ln w="9525" cap="flat" cmpd="sng">
            <a:solidFill>
              <a:srgbClr val="0E4D3B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141" name="Google Shape;1141;g39a284b7f17_9_4"/>
          <p:cNvSpPr txBox="1"/>
          <p:nvPr/>
        </p:nvSpPr>
        <p:spPr>
          <a:xfrm>
            <a:off x="2347200" y="4295800"/>
            <a:ext cx="7229400" cy="164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600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Q&amp;A</a:t>
            </a:r>
            <a:endParaRPr sz="6600">
              <a:solidFill>
                <a:schemeClr val="dk1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pic>
        <p:nvPicPr>
          <p:cNvPr id="1142" name="Google Shape;1142;g39a284b7f17_9_4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1143" name="Google Shape;1143;g39a284b7f17_9_4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590934" y="6330522"/>
            <a:ext cx="1499906" cy="585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4" name="Google Shape;1144;g39a284b7f17_9_4"/>
          <p:cNvSpPr txBox="1"/>
          <p:nvPr/>
        </p:nvSpPr>
        <p:spPr>
          <a:xfrm>
            <a:off x="-1" y="6288587"/>
            <a:ext cx="5981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Term Paper Presentation | Ronit Dutta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1145" name="Google Shape;1145;g39a284b7f17_9_4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1146" name="Google Shape;1146;g39a284b7f17_9_4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590934" y="6330522"/>
            <a:ext cx="1499906" cy="585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7" name="Google Shape;1147;g39a284b7f17_9_4"/>
          <p:cNvSpPr txBox="1"/>
          <p:nvPr/>
        </p:nvSpPr>
        <p:spPr>
          <a:xfrm>
            <a:off x="-1" y="6288587"/>
            <a:ext cx="59811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Machine Learning Professional</a:t>
            </a:r>
            <a:b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Project</a:t>
            </a: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Presentation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1148" name="Google Shape;1148;g39a284b7f17_9_4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590875" y="6341462"/>
            <a:ext cx="1500023" cy="585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49" name="Google Shape;1149;g39a284b7f17_9_4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sp>
        <p:nvSpPr>
          <p:cNvPr id="1150" name="Google Shape;1150;g39a284b7f17_9_4"/>
          <p:cNvSpPr txBox="1"/>
          <p:nvPr/>
        </p:nvSpPr>
        <p:spPr>
          <a:xfrm>
            <a:off x="-1" y="6288587"/>
            <a:ext cx="59811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Machine Learning Professional</a:t>
            </a:r>
            <a:b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Project</a:t>
            </a: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Presentation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1151" name="Google Shape;1151;g39a284b7f17_9_4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590875" y="6330524"/>
            <a:ext cx="1500023" cy="585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52" name="Google Shape;1152;g39a284b7f17_9_4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sp>
        <p:nvSpPr>
          <p:cNvPr id="1153" name="Google Shape;1153;g39a284b7f17_9_4"/>
          <p:cNvSpPr txBox="1"/>
          <p:nvPr/>
        </p:nvSpPr>
        <p:spPr>
          <a:xfrm>
            <a:off x="-1" y="6234672"/>
            <a:ext cx="59811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Machine Learning Professional</a:t>
            </a:r>
            <a:b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Project</a:t>
            </a: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Presentation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1154" name="Google Shape;1154;g39a284b7f17_9_4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590875" y="6330524"/>
            <a:ext cx="1500023" cy="585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55" name="Google Shape;1155;g39a284b7f17_9_4"/>
          <p:cNvPicPr preferRelativeResize="0"/>
          <p:nvPr/>
        </p:nvPicPr>
        <p:blipFill rotWithShape="1">
          <a:blip r:embed="rId8">
            <a:alphaModFix/>
          </a:blip>
          <a:srcRect l="29780" t="29588" b="5354"/>
          <a:stretch/>
        </p:blipFill>
        <p:spPr>
          <a:xfrm>
            <a:off x="2755000" y="1003175"/>
            <a:ext cx="6318000" cy="32926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0" name="Google Shape;1160;g3ade42c3485_0_2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1161" name="Google Shape;1161;g3ade42c3485_0_2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590934" y="6330522"/>
            <a:ext cx="1499906" cy="585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62" name="Google Shape;1162;g3ade42c3485_0_23"/>
          <p:cNvSpPr txBox="1"/>
          <p:nvPr/>
        </p:nvSpPr>
        <p:spPr>
          <a:xfrm>
            <a:off x="-1" y="6288587"/>
            <a:ext cx="5981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Term Paper Presentation | Ronit Dutta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163" name="Google Shape;1163;g3ade42c3485_0_23"/>
          <p:cNvSpPr txBox="1"/>
          <p:nvPr/>
        </p:nvSpPr>
        <p:spPr>
          <a:xfrm>
            <a:off x="0" y="0"/>
            <a:ext cx="12192000" cy="63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5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Credit</a:t>
            </a:r>
            <a:endParaRPr sz="35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cxnSp>
        <p:nvCxnSpPr>
          <p:cNvPr id="1164" name="Google Shape;1164;g3ade42c3485_0_23"/>
          <p:cNvCxnSpPr/>
          <p:nvPr/>
        </p:nvCxnSpPr>
        <p:spPr>
          <a:xfrm rot="10800000" flipH="1">
            <a:off x="6" y="654189"/>
            <a:ext cx="6318000" cy="30600"/>
          </a:xfrm>
          <a:prstGeom prst="straightConnector1">
            <a:avLst/>
          </a:prstGeom>
          <a:noFill/>
          <a:ln w="9525" cap="flat" cmpd="sng">
            <a:solidFill>
              <a:srgbClr val="0E4D3B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165" name="Google Shape;1165;g3ade42c3485_0_23"/>
          <p:cNvSpPr txBox="1"/>
          <p:nvPr/>
        </p:nvSpPr>
        <p:spPr>
          <a:xfrm>
            <a:off x="265800" y="1660150"/>
            <a:ext cx="11603400" cy="290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457200" lvl="0" indent="-3556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eorgia"/>
              <a:buAutoNum type="arabicPeriod"/>
            </a:pPr>
            <a:r>
              <a:rPr lang="en-US" sz="2000">
                <a:solidFill>
                  <a:srgbClr val="999999"/>
                </a:solidFill>
                <a:latin typeface="Georgia"/>
                <a:ea typeface="Georgia"/>
                <a:cs typeface="Georgia"/>
                <a:sym typeface="Georgia"/>
              </a:rPr>
              <a:t>Introduction &amp; Data Selection</a:t>
            </a:r>
            <a:r>
              <a:rPr lang="en-US" sz="2000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 - Timothy</a:t>
            </a:r>
            <a:endParaRPr sz="2000">
              <a:solidFill>
                <a:schemeClr val="dk1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457200" lvl="0" indent="-3556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eorgia"/>
              <a:buAutoNum type="arabicPeriod"/>
            </a:pPr>
            <a:r>
              <a:rPr lang="en-US" sz="2000">
                <a:solidFill>
                  <a:srgbClr val="999999"/>
                </a:solidFill>
                <a:latin typeface="Georgia"/>
                <a:ea typeface="Georgia"/>
                <a:cs typeface="Georgia"/>
                <a:sym typeface="Georgia"/>
              </a:rPr>
              <a:t>Mechanics</a:t>
            </a:r>
            <a:r>
              <a:rPr lang="en-US" sz="2000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 - Ronit</a:t>
            </a:r>
            <a:endParaRPr sz="2000">
              <a:solidFill>
                <a:schemeClr val="dk1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457200" lvl="0" indent="-3556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eorgia"/>
              <a:buAutoNum type="arabicPeriod"/>
            </a:pPr>
            <a:r>
              <a:rPr lang="en-US" sz="2000">
                <a:solidFill>
                  <a:srgbClr val="999999"/>
                </a:solidFill>
                <a:latin typeface="Georgia"/>
                <a:ea typeface="Georgia"/>
                <a:cs typeface="Georgia"/>
                <a:sym typeface="Georgia"/>
              </a:rPr>
              <a:t>Accuracy vs compute tradeoff</a:t>
            </a:r>
            <a:r>
              <a:rPr lang="en-US" sz="2000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 - Mohamed</a:t>
            </a:r>
            <a:endParaRPr sz="2000">
              <a:solidFill>
                <a:schemeClr val="dk1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457200" lvl="0" indent="-3556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eorgia"/>
              <a:buAutoNum type="arabicPeriod"/>
            </a:pPr>
            <a:r>
              <a:rPr lang="en-US" sz="2000">
                <a:solidFill>
                  <a:srgbClr val="999999"/>
                </a:solidFill>
                <a:latin typeface="Georgia"/>
                <a:ea typeface="Georgia"/>
                <a:cs typeface="Georgia"/>
                <a:sym typeface="Georgia"/>
              </a:rPr>
              <a:t>Advantages, Disadvantages and Experimental Results</a:t>
            </a:r>
            <a:r>
              <a:rPr lang="en-US" sz="2000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 - Afifah</a:t>
            </a:r>
            <a:endParaRPr sz="2000">
              <a:solidFill>
                <a:schemeClr val="dk1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marL="457200" lvl="0" indent="-3556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eorgia"/>
              <a:buAutoNum type="arabicPeriod"/>
            </a:pPr>
            <a:r>
              <a:rPr lang="en-US" sz="2000">
                <a:solidFill>
                  <a:srgbClr val="999999"/>
                </a:solidFill>
                <a:latin typeface="Georgia"/>
                <a:ea typeface="Georgia"/>
                <a:cs typeface="Georgia"/>
                <a:sym typeface="Georgia"/>
              </a:rPr>
              <a:t>Future directions</a:t>
            </a:r>
            <a:r>
              <a:rPr lang="en-US" sz="2000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 - Nan</a:t>
            </a:r>
            <a:endParaRPr sz="2000">
              <a:solidFill>
                <a:schemeClr val="dk1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pic>
        <p:nvPicPr>
          <p:cNvPr id="1166" name="Google Shape;1166;g3ade42c3485_0_23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1167" name="Google Shape;1167;g3ade42c3485_0_2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590934" y="6330522"/>
            <a:ext cx="1499906" cy="585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68" name="Google Shape;1168;g3ade42c3485_0_23"/>
          <p:cNvSpPr txBox="1"/>
          <p:nvPr/>
        </p:nvSpPr>
        <p:spPr>
          <a:xfrm>
            <a:off x="-1" y="6288587"/>
            <a:ext cx="5981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Term Paper Presentation | Ronit Dutta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1169" name="Google Shape;1169;g3ade42c3485_0_23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0" name="Google Shape;1170;g3ade42c3485_0_2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590934" y="6330522"/>
            <a:ext cx="1499906" cy="585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71" name="Google Shape;1171;g3ade42c3485_0_23"/>
          <p:cNvSpPr txBox="1"/>
          <p:nvPr/>
        </p:nvSpPr>
        <p:spPr>
          <a:xfrm>
            <a:off x="-1" y="6288587"/>
            <a:ext cx="59811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Machine Learning Professional</a:t>
            </a:r>
            <a:b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Project</a:t>
            </a: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Presentation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1172" name="Google Shape;1172;g3ade42c3485_0_23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590875" y="6341462"/>
            <a:ext cx="1500023" cy="585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3" name="Google Shape;1173;g3ade42c3485_0_23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sp>
        <p:nvSpPr>
          <p:cNvPr id="1174" name="Google Shape;1174;g3ade42c3485_0_23"/>
          <p:cNvSpPr txBox="1"/>
          <p:nvPr/>
        </p:nvSpPr>
        <p:spPr>
          <a:xfrm>
            <a:off x="-1" y="6288587"/>
            <a:ext cx="59811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Machine Learning Professional</a:t>
            </a:r>
            <a:b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Project</a:t>
            </a: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Presentation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1175" name="Google Shape;1175;g3ade42c3485_0_23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590875" y="6330524"/>
            <a:ext cx="1500023" cy="585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6" name="Google Shape;1176;g3ade42c3485_0_23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-4" y="6211289"/>
            <a:ext cx="12192003" cy="1285104"/>
          </a:xfrm>
          <a:prstGeom prst="rect">
            <a:avLst/>
          </a:prstGeom>
          <a:noFill/>
          <a:ln>
            <a:noFill/>
          </a:ln>
        </p:spPr>
      </p:pic>
      <p:sp>
        <p:nvSpPr>
          <p:cNvPr id="1177" name="Google Shape;1177;g3ade42c3485_0_23"/>
          <p:cNvSpPr txBox="1"/>
          <p:nvPr/>
        </p:nvSpPr>
        <p:spPr>
          <a:xfrm>
            <a:off x="-1" y="6234672"/>
            <a:ext cx="59811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Machine Learning Professional</a:t>
            </a:r>
            <a:b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Project</a:t>
            </a:r>
            <a:r>
              <a:rPr lang="en-US" sz="1800" b="0" i="0" u="none" strike="noStrike" cap="non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Presentation</a:t>
            </a:r>
            <a:endParaRPr sz="1800" b="0" i="0" u="none" strike="noStrike" cap="non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1178" name="Google Shape;1178;g3ade42c3485_0_23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590875" y="6330524"/>
            <a:ext cx="1500023" cy="585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3199</Words>
  <Application>Microsoft Office PowerPoint</Application>
  <PresentationFormat>Widescreen</PresentationFormat>
  <Paragraphs>475</Paragraphs>
  <Slides>41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6" baseType="lpstr">
      <vt:lpstr>Arial</vt:lpstr>
      <vt:lpstr>Calibri</vt:lpstr>
      <vt:lpstr>Georgia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Shobhit Saheb Dey</dc:creator>
  <cp:lastModifiedBy>PhD - Ronit Dutta</cp:lastModifiedBy>
  <cp:revision>1</cp:revision>
  <dcterms:created xsi:type="dcterms:W3CDTF">2022-11-19T15:54:29Z</dcterms:created>
  <dcterms:modified xsi:type="dcterms:W3CDTF">2025-12-05T16:37:25Z</dcterms:modified>
</cp:coreProperties>
</file>