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hmCphm0DKCxwREXfBTmE+0Ju/N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DF710F-BB62-43C1-824B-F57393B684B4}">
  <a:tblStyle styleId="{1ADF710F-BB62-43C1-824B-F57393B68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7e3fc8b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aa7e3fc8be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284b7f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9a284b7f17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a284b7f17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9a284b7f17_1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a284b7f17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Define what a query is - images that </a:t>
            </a:r>
            <a:endParaRPr/>
          </a:p>
        </p:txBody>
      </p:sp>
      <p:sp>
        <p:nvSpPr>
          <p:cNvPr id="144" name="Google Shape;144;g39a284b7f17_2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3552e755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Define what a query is - images that </a:t>
            </a:r>
            <a:endParaRPr/>
          </a:p>
        </p:txBody>
      </p:sp>
      <p:sp>
        <p:nvSpPr>
          <p:cNvPr id="168" name="Google Shape;168;g39a3552e755_2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b687fb0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ab687fb00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a323119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9a3231195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b687fb00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3ab687fb00f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a3552e755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39a3552e755_2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a3552e755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9a3552e755_2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b687fb00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ab687fb00f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9a284b7f17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g39a284b7f17_2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bb6a546c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g3abb6a546c7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b687fb00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g3ab687fb00f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bb6a546c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7" name="Google Shape;457;g3abb6a546c7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abb6a546c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g3abb6a546c7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bb6a546c7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9" name="Google Shape;529;g3abb6a546c7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bb6a546c7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8" name="Google Shape;558;g3abb6a546c7_0_2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abb6a546c7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3" name="Google Shape;593;g3abb6a546c7_0_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abb6a546c7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4" name="Google Shape;624;g3abb6a546c7_0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abb6a546c7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3" name="Google Shape;653;g3abb6a546c7_0_6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b687fb00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4" name="Google Shape;684;g3ab687fb00f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9a284b7f17_1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0" name="Google Shape;710;g39a284b7f17_11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9a3552e755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3" name="Google Shape;733;g39a3552e755_9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9a284b7f17_1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7" name="Google Shape;757;g39a284b7f17_11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9a3231195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1" name="Google Shape;781;g39a3231195e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9a3231195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5" name="Google Shape;805;g39a3231195e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9a3231195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9" name="Google Shape;829;g39a3231195e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9a3231195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2" name="Google Shape;852;g39a3231195e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9a3231195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5" name="Google Shape;875;g39a3231195e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9a3231195e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9" name="Google Shape;899;g39a3231195e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9a3231195e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2" name="Google Shape;922;g39a3231195e_0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9a3231195e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8" name="Google Shape;948;g39a3231195e_0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9a3231195e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1" name="Google Shape;971;g39a3231195e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9a284b7f17_1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6" name="Google Shape;996;g39a284b7f17_1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aba38fc1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9" name="Google Shape;1019;g3aba38fc11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aa9fb5ca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5" name="Google Shape;1045;g3aa9fb5ca3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aa9fb5ca3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1" name="Google Shape;1071;g3aa9fb5ca3f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9a337dd1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7" name="Google Shape;1097;g39a337dd11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9a284b7f17_1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9" name="Google Shape;1139;g39a284b7f17_1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aab165c6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Two Main Directions for Optimizing Image Retrieval： </a:t>
            </a:r>
            <a:r>
              <a:rPr b="1" lang="en-US">
                <a:solidFill>
                  <a:schemeClr val="dk1"/>
                </a:solidFill>
              </a:rPr>
              <a:t>1. Improving feature representation：</a:t>
            </a:r>
            <a:r>
              <a:rPr lang="en-US">
                <a:solidFill>
                  <a:schemeClr val="dk1"/>
                </a:solidFill>
              </a:rPr>
              <a:t>Better network architectures &amp; training strategies；Higher-quality embeddings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2. Improving retrieval efficiency</a:t>
            </a:r>
            <a:r>
              <a:rPr lang="en-US">
                <a:solidFill>
                  <a:schemeClr val="dk1"/>
                </a:solidFill>
              </a:rPr>
              <a:t>：Speeding up similarity search；Scaling to large databases.     </a:t>
            </a:r>
            <a:r>
              <a:rPr b="1" lang="en-US">
                <a:solidFill>
                  <a:schemeClr val="dk1"/>
                </a:solidFill>
              </a:rPr>
              <a:t>PQ：</a:t>
            </a:r>
            <a:r>
              <a:rPr lang="en-US">
                <a:solidFill>
                  <a:schemeClr val="dk1"/>
                </a:solidFill>
              </a:rPr>
              <a:t>Compress feature vectors using quantized subspaces   These three methods are often combined depending on the application scenario.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2" name="Google Shape;1162;g3aab165c69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aab165c69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 current industry practice, tree-based approaches are only one category of commonly adopted solutions. Graph-based and hashing-based methods are also widely used at the industry level. </a:t>
            </a:r>
            <a:endParaRPr/>
          </a:p>
        </p:txBody>
      </p:sp>
      <p:sp>
        <p:nvSpPr>
          <p:cNvPr id="1187" name="Google Shape;1187;g3aab165c69e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3aab165c69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HNSW</a:t>
            </a:r>
            <a:r>
              <a:rPr lang="en-US">
                <a:solidFill>
                  <a:schemeClr val="dk1"/>
                </a:solidFill>
              </a:rPr>
              <a:t> is widely regarded as the </a:t>
            </a:r>
            <a:r>
              <a:rPr b="1" lang="en-US">
                <a:solidFill>
                  <a:schemeClr val="dk1"/>
                </a:solidFill>
              </a:rPr>
              <a:t>industrial standard</a:t>
            </a:r>
            <a:r>
              <a:rPr lang="en-US">
                <a:solidFill>
                  <a:schemeClr val="dk1"/>
                </a:solidFill>
              </a:rPr>
              <a:t> today.  HNSW organizes data in a multi-layer graph. The upper layers allow very </a:t>
            </a:r>
            <a:r>
              <a:rPr b="1" lang="en-US">
                <a:solidFill>
                  <a:schemeClr val="dk1"/>
                </a:solidFill>
              </a:rPr>
              <a:t>fast coarse search</a:t>
            </a:r>
            <a:r>
              <a:rPr lang="en-US">
                <a:solidFill>
                  <a:schemeClr val="dk1"/>
                </a:solidFill>
              </a:rPr>
              <a:t>,  while the lower layers provide </a:t>
            </a:r>
            <a:r>
              <a:rPr b="1" lang="en-US">
                <a:solidFill>
                  <a:schemeClr val="dk1"/>
                </a:solidFill>
              </a:rPr>
              <a:t>accurate local refinement</a:t>
            </a:r>
            <a:r>
              <a:rPr lang="en-US">
                <a:solidFill>
                  <a:schemeClr val="dk1"/>
                </a:solidFill>
              </a:rPr>
              <a:t>.  Both the graph construction process and the search process follow a </a:t>
            </a:r>
            <a:r>
              <a:rPr b="1" lang="en-US">
                <a:solidFill>
                  <a:schemeClr val="dk1"/>
                </a:solidFill>
              </a:rPr>
              <a:t>top-down navigation strategy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4" name="Google Shape;1214;g3aab165c69e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aab165c69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Deep hashing aims to convert the high-dimensional feature vectors produced by neural networks into </a:t>
            </a:r>
            <a:r>
              <a:rPr b="1" lang="en-US">
                <a:solidFill>
                  <a:schemeClr val="dk1"/>
                </a:solidFill>
              </a:rPr>
              <a:t>compact binary codes；</a:t>
            </a:r>
            <a:r>
              <a:rPr lang="en-US" sz="1200">
                <a:solidFill>
                  <a:schemeClr val="dk1"/>
                </a:solidFill>
              </a:rPr>
              <a:t>Apply </a:t>
            </a:r>
            <a:r>
              <a:rPr b="1" lang="en-US" sz="1200">
                <a:solidFill>
                  <a:schemeClr val="dk1"/>
                </a:solidFill>
              </a:rPr>
              <a:t>binarization layer</a:t>
            </a:r>
            <a:r>
              <a:rPr lang="en-US" sz="1200">
                <a:solidFill>
                  <a:schemeClr val="dk1"/>
                </a:solidFill>
              </a:rPr>
              <a:t> → output binary code</a:t>
            </a:r>
            <a:r>
              <a:rPr b="1" lang="en-US" sz="1200">
                <a:solidFill>
                  <a:schemeClr val="dk1"/>
                </a:solidFill>
              </a:rPr>
              <a:t>;</a:t>
            </a:r>
            <a:r>
              <a:rPr lang="en-US" sz="1200">
                <a:solidFill>
                  <a:schemeClr val="dk1"/>
                </a:solidFill>
              </a:rPr>
              <a:t> Store code in database; Query = compute binary code → compare using fast Hamming distance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241" name="Google Shape;1241;g3aab165c69e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9a284b7f17_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5" name="Google Shape;1275;g39a284b7f17_9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56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45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10" Type="http://schemas.openxmlformats.org/officeDocument/2006/relationships/image" Target="../media/image54.png"/><Relationship Id="rId9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10" Type="http://schemas.openxmlformats.org/officeDocument/2006/relationships/image" Target="../media/image47.png"/><Relationship Id="rId9" Type="http://schemas.openxmlformats.org/officeDocument/2006/relationships/image" Target="../media/image3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4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5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10" Type="http://schemas.openxmlformats.org/officeDocument/2006/relationships/image" Target="../media/image30.png"/><Relationship Id="rId9" Type="http://schemas.openxmlformats.org/officeDocument/2006/relationships/image" Target="../media/image28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32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59.png"/><Relationship Id="rId13" Type="http://schemas.openxmlformats.org/officeDocument/2006/relationships/image" Target="../media/image39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52.png"/><Relationship Id="rId15" Type="http://schemas.openxmlformats.org/officeDocument/2006/relationships/image" Target="../media/image38.png"/><Relationship Id="rId14" Type="http://schemas.openxmlformats.org/officeDocument/2006/relationships/image" Target="../media/image53.png"/><Relationship Id="rId16" Type="http://schemas.openxmlformats.org/officeDocument/2006/relationships/image" Target="../media/image55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0.png"/><Relationship Id="rId8" Type="http://schemas.openxmlformats.org/officeDocument/2006/relationships/image" Target="../media/image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4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1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51.png"/><Relationship Id="rId13" Type="http://schemas.openxmlformats.org/officeDocument/2006/relationships/image" Target="../media/image4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50.png"/><Relationship Id="rId5" Type="http://schemas.openxmlformats.org/officeDocument/2006/relationships/image" Target="../media/image5.png"/><Relationship Id="rId6" Type="http://schemas.openxmlformats.org/officeDocument/2006/relationships/image" Target="../media/image60.png"/><Relationship Id="rId7" Type="http://schemas.openxmlformats.org/officeDocument/2006/relationships/image" Target="../media/image57.png"/><Relationship Id="rId8" Type="http://schemas.openxmlformats.org/officeDocument/2006/relationships/image" Target="../media/image4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1782" y="-935852"/>
            <a:ext cx="13053689" cy="1257999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4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85" name="Google Shape;85;p1"/>
          <p:cNvSpPr txBox="1"/>
          <p:nvPr/>
        </p:nvSpPr>
        <p:spPr>
          <a:xfrm>
            <a:off x="-25" y="243875"/>
            <a:ext cx="6771900" cy="27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Image Retrieval Using Hierarchical K-Means Clustering</a:t>
            </a:r>
            <a:endParaRPr b="0" i="0" sz="43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-25" y="2663400"/>
            <a:ext cx="6868500" cy="4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TEAM PROJECT</a:t>
            </a:r>
            <a:endParaRPr b="0" i="0" sz="20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Subject : </a:t>
            </a:r>
            <a:r>
              <a:rPr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MACHINE LEARNING</a:t>
            </a:r>
            <a:endParaRPr sz="20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r>
              <a:rPr lang="en-US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embers: </a:t>
            </a:r>
            <a:endParaRPr sz="17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Char char="●"/>
            </a:pPr>
            <a:r>
              <a:rPr lang="en-US" sz="1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Ronit Dutta (1010683)</a:t>
            </a:r>
            <a:endParaRPr sz="1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Georgia"/>
              <a:buChar char="●"/>
            </a:pPr>
            <a:r>
              <a:rPr lang="en-US" sz="1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Nan Li (1009421)</a:t>
            </a:r>
            <a:endParaRPr sz="17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Char char="●"/>
            </a:pPr>
            <a:r>
              <a:rPr lang="en-US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Mohamed Mukhtar (1009406)</a:t>
            </a:r>
            <a:endParaRPr sz="17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Char char="●"/>
            </a:pPr>
            <a:r>
              <a:rPr lang="en-US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Afifah Mesha Putri (1010690)</a:t>
            </a:r>
            <a:endParaRPr sz="17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Char char="●"/>
            </a:pPr>
            <a:r>
              <a:rPr lang="en-US" sz="1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Timothy Wee (1005545)</a:t>
            </a:r>
            <a:endParaRPr sz="17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6925" y="2587993"/>
            <a:ext cx="4312870" cy="168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a7e3fc8be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aa7e3fc8be_0_22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g3aa7e3fc8be_0_22"/>
          <p:cNvPicPr preferRelativeResize="0"/>
          <p:nvPr/>
        </p:nvPicPr>
        <p:blipFill rotWithShape="1">
          <a:blip r:embed="rId4">
            <a:alphaModFix/>
          </a:blip>
          <a:srcRect b="0" l="0" r="2056" t="0"/>
          <a:stretch/>
        </p:blipFill>
        <p:spPr>
          <a:xfrm>
            <a:off x="3546225" y="46650"/>
            <a:ext cx="4994875" cy="613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aa7e3fc8be_0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9a284b7f17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9a284b7f17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9a284b7f17_0_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9a284b7f17_0_5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4" name="Google Shape;104;g39a284b7f17_0_5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g39a284b7f17_0_5"/>
          <p:cNvSpPr txBox="1"/>
          <p:nvPr/>
        </p:nvSpPr>
        <p:spPr>
          <a:xfrm>
            <a:off x="265800" y="1660150"/>
            <a:ext cx="11603400" cy="29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Introduction &amp; D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ata Selection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Mechanics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Accuracy vs compute tradeoff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Advantages, Disadvantages and Experimental Results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Future directions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6" name="Google Shape;106;g39a284b7f17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9a284b7f17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9a284b7f17_0_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g39a284b7f17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9a284b7f17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9a284b7f17_0_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g39a284b7f17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9a284b7f17_0_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9a284b7f17_0_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g39a284b7f17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9a284b7f17_0_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9a284b7f17_0_5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</a:t>
            </a: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9a284b7f17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9a284b7f17_1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9a284b7f17_1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9a284b7f17_11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9a284b7f17_11_0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" name="Google Shape;127;g39a284b7f17_11_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g39a284b7f17_11_0"/>
          <p:cNvSpPr txBox="1"/>
          <p:nvPr/>
        </p:nvSpPr>
        <p:spPr>
          <a:xfrm>
            <a:off x="265800" y="1660150"/>
            <a:ext cx="11603400" cy="29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Introduction &amp; Data Selection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Mechanics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Accuracy vs </a:t>
            </a: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compute </a:t>
            </a: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tradeoff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Advantages, Disadvantages and Experimental Results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Future directions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9" name="Google Shape;129;g39a284b7f17_1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9a284b7f17_1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9a284b7f17_11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g39a284b7f17_1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9a284b7f17_1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9a284b7f17_11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g39a284b7f17_11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9a284b7f17_11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9a284b7f17_11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g39a284b7f17_11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9a284b7f17_11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9a284b7f17_11_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g39a284b7f17_11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a284b7f17_2_7"/>
          <p:cNvSpPr txBox="1"/>
          <p:nvPr/>
        </p:nvSpPr>
        <p:spPr>
          <a:xfrm>
            <a:off x="201100" y="1345200"/>
            <a:ext cx="5286600" cy="42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Content-based Image Retrieval (CBIR)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allows users to retrieve images from a large scale dataset, by describing the content of the 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image.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General approach: 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Modern CBIR strategies represent images as compact vectors, then utilise image-query similarity search.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7" name="Google Shape;147;g39a284b7f17_2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9a284b7f17_2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9a284b7f17_2_7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g39a284b7f17_2_7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1" name="Google Shape;151;g39a284b7f17_2_7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2" name="Google Shape;152;g39a284b7f17_2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9a284b7f17_2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9a284b7f17_2_7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g39a284b7f17_2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9a284b7f17_2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9a284b7f17_2_7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" name="Google Shape;158;g39a284b7f17_2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9a284b7f17_2_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9a284b7f17_2_7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g39a284b7f17_2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9a284b7f17_2_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9a284b7f17_2_7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g39a284b7f17_2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9a284b7f17_2_7"/>
          <p:cNvPicPr preferRelativeResize="0"/>
          <p:nvPr/>
        </p:nvPicPr>
        <p:blipFill rotWithShape="1">
          <a:blip r:embed="rId8">
            <a:alphaModFix/>
          </a:blip>
          <a:srcRect b="5354" l="29780" r="0" t="29588"/>
          <a:stretch/>
        </p:blipFill>
        <p:spPr>
          <a:xfrm>
            <a:off x="5874000" y="1919750"/>
            <a:ext cx="6318000" cy="3292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a3552e755_2_52"/>
          <p:cNvSpPr txBox="1"/>
          <p:nvPr/>
        </p:nvSpPr>
        <p:spPr>
          <a:xfrm>
            <a:off x="201100" y="1345200"/>
            <a:ext cx="5169600" cy="42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Challenge: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As image datasets grow extremely large, most CBIR strategies becomes slow and computationally expensive.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Research question: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how can we perform CBIR more quickly, with a lower computational cost?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71" name="Google Shape;171;g39a3552e755_2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9a3552e755_2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9a3552e755_2_52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39a3552e755_2_52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5" name="Google Shape;175;g39a3552e755_2_52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6" name="Google Shape;176;g39a3552e755_2_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9a3552e755_2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9a3552e755_2_52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g39a3552e755_2_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9a3552e755_2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9a3552e755_2_52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g39a3552e755_2_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9a3552e755_2_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9a3552e755_2_52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g39a3552e755_2_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9a3552e755_2_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9a3552e755_2_52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39a3552e755_2_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9a3552e755_2_52"/>
          <p:cNvPicPr preferRelativeResize="0"/>
          <p:nvPr/>
        </p:nvPicPr>
        <p:blipFill rotWithShape="1">
          <a:blip r:embed="rId8">
            <a:alphaModFix/>
          </a:blip>
          <a:srcRect b="0" l="0" r="18817" t="0"/>
          <a:stretch/>
        </p:blipFill>
        <p:spPr>
          <a:xfrm>
            <a:off x="5550000" y="1791225"/>
            <a:ext cx="6642002" cy="35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3ab687fb00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ab687fb00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ab687fb00f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3ab687fb00f_0_0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Motivations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8" name="Google Shape;198;g3ab687fb00f_0_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g3ab687fb00f_0_0"/>
          <p:cNvSpPr txBox="1"/>
          <p:nvPr/>
        </p:nvSpPr>
        <p:spPr>
          <a:xfrm>
            <a:off x="201100" y="1345200"/>
            <a:ext cx="6052200" cy="42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Computational Cost: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Computing similarity between query and all database images is prohibitively expensive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Scale: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Internet-scale datasets with exponentially growing images and videos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Real-time Requirement: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Fields like visual localisation in robotics need fast retrieval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Research Gap: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While much is done to improve accuracy, retrieval speed improvements lag behind. Speed is needed for real-world applications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00" name="Google Shape;200;g3ab687fb00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ab687fb00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ab687fb00f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g3ab687fb00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ab687fb00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ab687fb00f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8000" y="1607602"/>
            <a:ext cx="5622451" cy="354664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ab687fb00f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g3ab687fb00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ab687fb00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ab687fb00f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g3ab687fb00f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ab687fb00f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ab687fb00f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g3ab687fb00f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ab687fb00f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ab687fb00f_0_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6" name="Google Shape;216;g3ab687fb00f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g39a3231195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9a3231195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9a3231195e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g39a3231195e_0_0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Speed-Accuracy Tradeoff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5" name="Google Shape;225;g39a3231195e_0_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6" name="Google Shape;226;g39a3231195e_0_0"/>
          <p:cNvSpPr txBox="1"/>
          <p:nvPr/>
        </p:nvSpPr>
        <p:spPr>
          <a:xfrm>
            <a:off x="265800" y="1660150"/>
            <a:ext cx="6318000" cy="29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Three search algorithms enable flexible optimisation: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Intensive Search: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Selects 1 node per level → fastest, potential accuracy loss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Relaxed Search: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Selects multiple nodes → best accuracy preservation, slower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Auto Search: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Automatic threshold detection → middle ground, no need for manual hyperparameter tuning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Generality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Works with CLIP-based models (UNICOM) and CNN-based models (R-GeM)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27" name="Google Shape;227;g39a3231195e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9a3231195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9a3231195e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0" name="Google Shape;230;g39a3231195e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9a3231195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9a3231195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1500" y="1189475"/>
            <a:ext cx="5619348" cy="401624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9a3231195e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g39a3231195e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9a3231195e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9a3231195e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7" name="Google Shape;237;g39a3231195e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9a3231195e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9a3231195e_0_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0" name="Google Shape;240;g39a3231195e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3ab687fb00f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ab687fb00f_0_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ab687fb00f_0_14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g3ab687fb00f_0_140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Selection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9" name="Google Shape;249;g3ab687fb00f_0_14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" name="Google Shape;250;g3ab687fb00f_0_140"/>
          <p:cNvSpPr txBox="1"/>
          <p:nvPr/>
        </p:nvSpPr>
        <p:spPr>
          <a:xfrm>
            <a:off x="265800" y="1270475"/>
            <a:ext cx="6211800" cy="29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categorical-level retrieval, three datasets were chosen: 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Caltech-UCSD Birds (CUB)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- 11,788 images of 200 bird species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 Stanford Cars dataset (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CARS)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- 8,131 images categorized into 98 car types.</a:t>
            </a:r>
            <a:b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Inshop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- 12612 clothing item images, 3985 classes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These two datasets are 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standard test datasets, 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allowing authors to 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benchmark accuracy and speed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of their approach against more traditional approaches.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51" name="Google Shape;251;g3ab687fb00f_0_1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ab687fb00f_0_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ab687fb00f_0_14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4" name="Google Shape;254;g3ab687fb00f_0_1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ab687fb00f_0_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ab687fb00f_0_1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9825" y="1458163"/>
            <a:ext cx="5267726" cy="31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ab687fb00f_0_14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g3ab687fb00f_0_140"/>
          <p:cNvSpPr txBox="1"/>
          <p:nvPr/>
        </p:nvSpPr>
        <p:spPr>
          <a:xfrm>
            <a:off x="6659825" y="4649538"/>
            <a:ext cx="6211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Caltech-UCSD Birds (CUB)</a:t>
            </a:r>
            <a:r>
              <a:rPr i="1" lang="en-US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- 11,788 images of 200 bird species</a:t>
            </a:r>
            <a:endParaRPr i="1"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59" name="Google Shape;259;g3ab687fb00f_0_1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ab687fb00f_0_1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ab687fb00f_0_14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2" name="Google Shape;262;g3ab687fb00f_0_1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ab687fb00f_0_1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ab687fb00f_0_14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5" name="Google Shape;265;g3ab687fb00f_0_1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g39a3552e755_2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39a3552e755_2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9a3552e755_2_81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g39a3552e755_2_81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Selection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4" name="Google Shape;274;g39a3552e755_2_81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5" name="Google Shape;275;g39a3552e755_2_81"/>
          <p:cNvSpPr txBox="1"/>
          <p:nvPr/>
        </p:nvSpPr>
        <p:spPr>
          <a:xfrm>
            <a:off x="106200" y="1403625"/>
            <a:ext cx="6211800" cy="29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Particular Object Retrieval, four datasets were chosen: 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Oxford 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5063 images, 11 classes</a:t>
            </a:r>
            <a:b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Paris 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6392 images, 11 classes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Oxford and Paris datasets are well-known benchmarks used in particular object image retrieval tasks. </a:t>
            </a:r>
            <a:b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Both datasets contain images categorised into landmark or object classes, and include query images for evaluation.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76" name="Google Shape;276;g39a3552e755_2_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9a3552e755_2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9a3552e755_2_81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g39a3552e755_2_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9a3552e755_2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9a3552e755_2_81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g39a3552e755_2_81"/>
          <p:cNvSpPr txBox="1"/>
          <p:nvPr/>
        </p:nvSpPr>
        <p:spPr>
          <a:xfrm>
            <a:off x="6670650" y="5398263"/>
            <a:ext cx="6211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Oxford Dataset - </a:t>
            </a:r>
            <a:r>
              <a:rPr i="1" lang="en-US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5063 images, 11 classes</a:t>
            </a:r>
            <a:endParaRPr i="1"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83" name="Google Shape;283;g39a3552e755_2_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9a3552e755_2_8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39a3552e755_2_81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6" name="Google Shape;286;g39a3552e755_2_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9a3552e755_2_8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9a3552e755_2_81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9" name="Google Shape;289;g39a3552e755_2_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9a3552e755_2_81"/>
          <p:cNvPicPr preferRelativeResize="0"/>
          <p:nvPr/>
        </p:nvPicPr>
        <p:blipFill rotWithShape="1">
          <a:blip r:embed="rId8">
            <a:alphaModFix/>
          </a:blip>
          <a:srcRect b="0" l="4219" r="5233" t="0"/>
          <a:stretch/>
        </p:blipFill>
        <p:spPr>
          <a:xfrm>
            <a:off x="6768950" y="956150"/>
            <a:ext cx="4022450" cy="44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g39a3552e755_2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9a3552e755_2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9a3552e755_2_28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g39a3552e755_2_28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Selection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9" name="Google Shape;299;g39a3552e755_2_28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0" name="Google Shape;300;g39a3552e755_2_28"/>
          <p:cNvSpPr txBox="1"/>
          <p:nvPr/>
        </p:nvSpPr>
        <p:spPr>
          <a:xfrm>
            <a:off x="173975" y="914225"/>
            <a:ext cx="6211800" cy="29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Two newer datasets were also used: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ROxford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Revisited version of Oxford with 4993 images, 13 categories, 70 queries.</a:t>
            </a:r>
            <a:b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RParis 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Revisited version of Paris with 6322 images, 12 classes, 70 queries.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evisited datasets (ROxford and RParis) stratify queries into easy, medium, and hard, reflecting increasing difficulty in retrieval due to factors like occlusion or distortion.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01" name="Google Shape;301;g39a3552e755_2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39a3552e755_2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39a3552e755_2_28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4" name="Google Shape;304;g39a3552e755_2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9a3552e755_2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9a3552e755_2_28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g39a3552e755_2_28"/>
          <p:cNvSpPr txBox="1"/>
          <p:nvPr/>
        </p:nvSpPr>
        <p:spPr>
          <a:xfrm>
            <a:off x="6659825" y="5039213"/>
            <a:ext cx="6211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RParis </a:t>
            </a:r>
            <a:r>
              <a:rPr i="1" lang="en-US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- 6322 images, 12 classes</a:t>
            </a:r>
            <a:endParaRPr i="1"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08" name="Google Shape;308;g39a3552e755_2_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39a3552e755_2_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9a3552e755_2_28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1" name="Google Shape;311;g39a3552e755_2_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9a3552e755_2_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9a3552e755_2_28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4" name="Google Shape;314;g39a3552e755_2_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9a3552e755_2_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38175" y="737400"/>
            <a:ext cx="5460595" cy="4149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g3ab687fb00f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g3ab687fb00f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ab687fb00f_0_21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g3ab687fb00f_0_21"/>
          <p:cNvSpPr txBox="1"/>
          <p:nvPr/>
        </p:nvSpPr>
        <p:spPr>
          <a:xfrm>
            <a:off x="0" y="12980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&amp; Descriptor Statistics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4" name="Google Shape;324;g3ab687fb00f_0_21"/>
          <p:cNvCxnSpPr/>
          <p:nvPr/>
        </p:nvCxnSpPr>
        <p:spPr>
          <a:xfrm flipH="1" rot="10800000">
            <a:off x="6" y="7380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25" name="Google Shape;325;g3ab687fb00f_0_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ab687fb00f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ab687fb00f_0_21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8" name="Google Shape;328;g3ab687fb00f_0_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ab687fb00f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ab687fb00f_0_21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1" name="Google Shape;331;g3ab687fb00f_0_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ab687fb00f_0_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ab687fb00f_0_21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4" name="Google Shape;334;g3ab687fb00f_0_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3ab687fb00f_0_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ab687fb00f_0_21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7" name="Google Shape;337;g3ab687fb00f_0_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ab687fb00f_0_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03333" y="1374175"/>
            <a:ext cx="7639133" cy="440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g39a284b7f17_2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9a284b7f17_2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9a284b7f17_2_9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g39a284b7f17_2_90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7" name="Google Shape;347;g39a284b7f17_2_9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8" name="Google Shape;348;g39a284b7f17_2_90"/>
          <p:cNvSpPr txBox="1"/>
          <p:nvPr/>
        </p:nvSpPr>
        <p:spPr>
          <a:xfrm>
            <a:off x="265800" y="1660150"/>
            <a:ext cx="11603400" cy="29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Introduction &amp; Data Selection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Mechanics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Accuracy vs compute tradeoff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Advantages, Disadvantages and Experimental Results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Future directions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49" name="Google Shape;349;g39a284b7f17_2_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9a284b7f17_2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9a284b7f17_2_9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2" name="Google Shape;352;g39a284b7f17_2_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39a284b7f17_2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9a284b7f17_2_9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5" name="Google Shape;355;g39a284b7f17_2_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g39a284b7f17_2_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9a284b7f17_2_9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8" name="Google Shape;358;g39a284b7f17_2_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9a284b7f17_2_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9a284b7f17_2_9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1" name="Google Shape;361;g39a284b7f17_2_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bb6a546c7_0_50"/>
          <p:cNvSpPr txBox="1"/>
          <p:nvPr/>
        </p:nvSpPr>
        <p:spPr>
          <a:xfrm>
            <a:off x="1075450" y="5906713"/>
            <a:ext cx="949800" cy="2763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END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abb6a546c7_0_50"/>
          <p:cNvSpPr/>
          <p:nvPr/>
        </p:nvSpPr>
        <p:spPr>
          <a:xfrm>
            <a:off x="4944975" y="4062304"/>
            <a:ext cx="5465325" cy="1986717"/>
          </a:xfrm>
          <a:prstGeom prst="flowChartProcess">
            <a:avLst/>
          </a:prstGeom>
          <a:noFill/>
          <a:ln cap="flat" cmpd="sng" w="17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975" lIns="85975" spcFirstLastPara="1" rIns="85975" wrap="square" tIns="8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6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abb6a546c7_0_50"/>
          <p:cNvSpPr/>
          <p:nvPr/>
        </p:nvSpPr>
        <p:spPr>
          <a:xfrm>
            <a:off x="1075450" y="4232913"/>
            <a:ext cx="3507150" cy="1645525"/>
          </a:xfrm>
          <a:prstGeom prst="flowChartProcess">
            <a:avLst/>
          </a:prstGeom>
          <a:noFill/>
          <a:ln cap="flat" cmpd="sng" w="169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475" lIns="81475" spcFirstLastPara="1" rIns="81475" wrap="square" tIns="8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abb6a546c7_0_50"/>
          <p:cNvSpPr/>
          <p:nvPr/>
        </p:nvSpPr>
        <p:spPr>
          <a:xfrm>
            <a:off x="5965669" y="4144208"/>
            <a:ext cx="3201600" cy="837900"/>
          </a:xfrm>
          <a:prstGeom prst="rect">
            <a:avLst/>
          </a:prstGeom>
          <a:solidFill>
            <a:schemeClr val="lt2"/>
          </a:solidFill>
          <a:ln cap="flat" cmpd="sng" w="17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00" lIns="81000" spcFirstLastPara="1" rIns="81000" wrap="square" tIns="81000">
            <a:noAutofit/>
          </a:bodyPr>
          <a:lstStyle/>
          <a:p>
            <a:pPr indent="-121255" lvl="0" marL="161262" rtl="0" algn="ctr">
              <a:spcBef>
                <a:spcPts val="0"/>
              </a:spcBef>
              <a:spcAft>
                <a:spcPts val="0"/>
              </a:spcAft>
              <a:buSzPts val="1063"/>
              <a:buFont typeface="Calibri"/>
              <a:buAutoNum type="arabicPeriod"/>
            </a:pPr>
            <a:r>
              <a:rPr lang="en-US" sz="1063">
                <a:latin typeface="Calibri"/>
                <a:ea typeface="Calibri"/>
                <a:cs typeface="Calibri"/>
                <a:sym typeface="Calibri"/>
              </a:rPr>
              <a:t>Calculate the similarity between query set and pairwise similarity vector for </a:t>
            </a:r>
            <a:r>
              <a:rPr b="1" lang="en-US" sz="1063">
                <a:latin typeface="Calibri"/>
                <a:ea typeface="Calibri"/>
                <a:cs typeface="Calibri"/>
                <a:sym typeface="Calibri"/>
              </a:rPr>
              <a:t>internal </a:t>
            </a:r>
            <a:r>
              <a:rPr lang="en-US" sz="1063">
                <a:latin typeface="Calibri"/>
                <a:ea typeface="Calibri"/>
                <a:cs typeface="Calibri"/>
                <a:sym typeface="Calibri"/>
              </a:rPr>
              <a:t>centroid node. </a:t>
            </a:r>
            <a:endParaRPr sz="1063">
              <a:latin typeface="Calibri"/>
              <a:ea typeface="Calibri"/>
              <a:cs typeface="Calibri"/>
              <a:sym typeface="Calibri"/>
            </a:endParaRPr>
          </a:p>
          <a:p>
            <a:pPr indent="-121255" lvl="0" marL="161262" rtl="0" algn="ctr">
              <a:spcBef>
                <a:spcPts val="0"/>
              </a:spcBef>
              <a:spcAft>
                <a:spcPts val="0"/>
              </a:spcAft>
              <a:buSzPts val="1063"/>
              <a:buFont typeface="Calibri"/>
              <a:buAutoNum type="arabicPeriod"/>
            </a:pPr>
            <a:r>
              <a:rPr b="1" lang="en-US" sz="1063">
                <a:latin typeface="Calibri"/>
                <a:ea typeface="Calibri"/>
                <a:cs typeface="Calibri"/>
                <a:sym typeface="Calibri"/>
              </a:rPr>
              <a:t>Sort </a:t>
            </a:r>
            <a:r>
              <a:rPr i="1" lang="en-US" sz="1063">
                <a:latin typeface="Calibri"/>
                <a:ea typeface="Calibri"/>
                <a:cs typeface="Calibri"/>
                <a:sym typeface="Calibri"/>
              </a:rPr>
              <a:t>{&lt;v_q , μ_k&gt;}</a:t>
            </a:r>
            <a:r>
              <a:rPr lang="en-US" sz="1063">
                <a:latin typeface="Calibri"/>
                <a:ea typeface="Calibri"/>
                <a:cs typeface="Calibri"/>
                <a:sym typeface="Calibri"/>
              </a:rPr>
              <a:t> vector. Select </a:t>
            </a:r>
            <a:r>
              <a:rPr b="1" lang="en-US" sz="1063">
                <a:latin typeface="Calibri"/>
                <a:ea typeface="Calibri"/>
                <a:cs typeface="Calibri"/>
                <a:sym typeface="Calibri"/>
              </a:rPr>
              <a:t>argmin/argmax.</a:t>
            </a:r>
            <a:endParaRPr b="1" sz="106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abb6a546c7_0_50"/>
          <p:cNvSpPr/>
          <p:nvPr/>
        </p:nvSpPr>
        <p:spPr>
          <a:xfrm>
            <a:off x="7267667" y="1028488"/>
            <a:ext cx="3033966" cy="2695500"/>
          </a:xfrm>
          <a:prstGeom prst="flowChartProcess">
            <a:avLst/>
          </a:prstGeom>
          <a:solidFill>
            <a:srgbClr val="B89B9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abb6a546c7_0_50"/>
          <p:cNvSpPr/>
          <p:nvPr/>
        </p:nvSpPr>
        <p:spPr>
          <a:xfrm>
            <a:off x="201425" y="2931675"/>
            <a:ext cx="6711200" cy="891100"/>
          </a:xfrm>
          <a:prstGeom prst="flowChartProcess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abb6a546c7_0_50"/>
          <p:cNvSpPr/>
          <p:nvPr/>
        </p:nvSpPr>
        <p:spPr>
          <a:xfrm>
            <a:off x="201425" y="929700"/>
            <a:ext cx="6711200" cy="1645525"/>
          </a:xfrm>
          <a:prstGeom prst="flowChartProcess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abb6a546c7_0_50"/>
          <p:cNvSpPr/>
          <p:nvPr/>
        </p:nvSpPr>
        <p:spPr>
          <a:xfrm>
            <a:off x="4806730" y="1096729"/>
            <a:ext cx="1768200" cy="1210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00" lIns="86100" spcFirstLastPara="1" rIns="86100" wrap="square" tIns="86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30">
                <a:latin typeface="Calibri"/>
                <a:ea typeface="Calibri"/>
                <a:cs typeface="Calibri"/>
                <a:sym typeface="Calibri"/>
              </a:rPr>
              <a:t>Data Output</a:t>
            </a:r>
            <a:r>
              <a:rPr b="1" lang="en-US" sz="1130">
                <a:latin typeface="Calibri"/>
                <a:ea typeface="Calibri"/>
                <a:cs typeface="Calibri"/>
                <a:sym typeface="Calibri"/>
              </a:rPr>
              <a:t> : </a:t>
            </a:r>
            <a:endParaRPr b="1" sz="113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latin typeface="Calibri"/>
                <a:ea typeface="Calibri"/>
                <a:cs typeface="Calibri"/>
                <a:sym typeface="Calibri"/>
              </a:rPr>
              <a:t>Vector descriptor of vector space dimension Δ for every image in the database</a:t>
            </a:r>
            <a:endParaRPr sz="113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g3abb6a546c7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3abb6a546c7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abb6a546c7_0_5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g3abb6a546c7_0_50"/>
          <p:cNvSpPr txBox="1"/>
          <p:nvPr/>
        </p:nvSpPr>
        <p:spPr>
          <a:xfrm>
            <a:off x="0" y="-25950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Mechanics review — STEP 1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8" name="Google Shape;378;g3abb6a546c7_0_50"/>
          <p:cNvCxnSpPr/>
          <p:nvPr/>
        </p:nvCxnSpPr>
        <p:spPr>
          <a:xfrm flipH="1" rot="10800000">
            <a:off x="6" y="45133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79" name="Google Shape;379;g3abb6a546c7_0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3abb6a546c7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abb6a546c7_0_5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2" name="Google Shape;382;g3abb6a546c7_0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3abb6a546c7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g3abb6a546c7_0_5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5" name="Google Shape;385;g3abb6a546c7_0_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abb6a546c7_0_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abb6a546c7_0_5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8" name="Google Shape;388;g3abb6a546c7_0_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abb6a546c7_0_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abb6a546c7_0_5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1" name="Google Shape;391;g3abb6a546c7_0_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abb6a546c7_0_50"/>
          <p:cNvSpPr/>
          <p:nvPr/>
        </p:nvSpPr>
        <p:spPr>
          <a:xfrm>
            <a:off x="435675" y="1096734"/>
            <a:ext cx="1768200" cy="1210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00" lIns="86100" spcFirstLastPara="1" rIns="86100" wrap="square" tIns="86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30">
                <a:latin typeface="Calibri"/>
                <a:ea typeface="Calibri"/>
                <a:cs typeface="Calibri"/>
                <a:sym typeface="Calibri"/>
              </a:rPr>
              <a:t>Data Input : </a:t>
            </a:r>
            <a:endParaRPr b="1" sz="113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latin typeface="Calibri"/>
                <a:ea typeface="Calibri"/>
                <a:cs typeface="Calibri"/>
                <a:sym typeface="Calibri"/>
              </a:rPr>
              <a:t>Image dataset of size D. Total number of images N. Candidate image is d_j and label for the same is y_j.</a:t>
            </a:r>
            <a:endParaRPr sz="11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abb6a546c7_0_50"/>
          <p:cNvSpPr/>
          <p:nvPr/>
        </p:nvSpPr>
        <p:spPr>
          <a:xfrm>
            <a:off x="2672925" y="1007925"/>
            <a:ext cx="1768200" cy="2721300"/>
          </a:xfrm>
          <a:prstGeom prst="rect">
            <a:avLst/>
          </a:prstGeom>
          <a:solidFill>
            <a:srgbClr val="B89B9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00" lIns="86100" spcFirstLastPara="1" rIns="86100" wrap="square" tIns="86100">
            <a:noAutofit/>
          </a:bodyPr>
          <a:lstStyle/>
          <a:p>
            <a:pPr indent="0" lvl="0" marL="53823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30">
                <a:latin typeface="Calibri"/>
                <a:ea typeface="Calibri"/>
                <a:cs typeface="Calibri"/>
                <a:sym typeface="Calibri"/>
              </a:rPr>
              <a:t>Encoding Machine : </a:t>
            </a:r>
            <a:endParaRPr b="1" sz="1130">
              <a:latin typeface="Calibri"/>
              <a:ea typeface="Calibri"/>
              <a:cs typeface="Calibri"/>
              <a:sym typeface="Calibri"/>
            </a:endParaRPr>
          </a:p>
          <a:p>
            <a:pPr indent="-125589" lvl="0" marL="161471" rtl="0" algn="ctr">
              <a:spcBef>
                <a:spcPts val="0"/>
              </a:spcBef>
              <a:spcAft>
                <a:spcPts val="0"/>
              </a:spcAft>
              <a:buSzPts val="1130"/>
              <a:buFont typeface="Calibri"/>
              <a:buAutoNum type="arabicPeriod"/>
            </a:pPr>
            <a:r>
              <a:rPr lang="en-US" sz="1130">
                <a:latin typeface="Calibri"/>
                <a:ea typeface="Calibri"/>
                <a:cs typeface="Calibri"/>
                <a:sym typeface="Calibri"/>
              </a:rPr>
              <a:t>Path 1 : R-GEM method</a:t>
            </a:r>
            <a:endParaRPr sz="1130">
              <a:latin typeface="Calibri"/>
              <a:ea typeface="Calibri"/>
              <a:cs typeface="Calibri"/>
              <a:sym typeface="Calibri"/>
            </a:endParaRPr>
          </a:p>
          <a:p>
            <a:pPr indent="-125589" lvl="0" marL="161471" rtl="0" algn="ctr">
              <a:spcBef>
                <a:spcPts val="0"/>
              </a:spcBef>
              <a:spcAft>
                <a:spcPts val="0"/>
              </a:spcAft>
              <a:buSzPts val="1130"/>
              <a:buFont typeface="Calibri"/>
              <a:buAutoNum type="arabicPeriod"/>
            </a:pPr>
            <a:r>
              <a:rPr lang="en-US" sz="1130">
                <a:latin typeface="Calibri"/>
                <a:ea typeface="Calibri"/>
                <a:cs typeface="Calibri"/>
                <a:sym typeface="Calibri"/>
              </a:rPr>
              <a:t>Path 2 : ViT method</a:t>
            </a:r>
            <a:endParaRPr sz="11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abb6a546c7_0_50"/>
          <p:cNvSpPr txBox="1"/>
          <p:nvPr/>
        </p:nvSpPr>
        <p:spPr>
          <a:xfrm>
            <a:off x="2443325" y="653400"/>
            <a:ext cx="2363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Step 1 : Dataset encoding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5" name="Google Shape;395;g3abb6a546c7_0_50"/>
          <p:cNvSpPr/>
          <p:nvPr/>
        </p:nvSpPr>
        <p:spPr>
          <a:xfrm>
            <a:off x="435675" y="3106860"/>
            <a:ext cx="1768200" cy="369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00" lIns="86100" spcFirstLastPara="1" rIns="86100" wrap="square" tIns="86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30">
                <a:latin typeface="Calibri"/>
                <a:ea typeface="Calibri"/>
                <a:cs typeface="Calibri"/>
                <a:sym typeface="Calibri"/>
              </a:rPr>
              <a:t>Query (single/set)</a:t>
            </a:r>
            <a:endParaRPr sz="11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abb6a546c7_0_50"/>
          <p:cNvSpPr/>
          <p:nvPr/>
        </p:nvSpPr>
        <p:spPr>
          <a:xfrm>
            <a:off x="4806725" y="3001449"/>
            <a:ext cx="1768200" cy="727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00" lIns="86100" spcFirstLastPara="1" rIns="86100" wrap="square" tIns="86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30">
                <a:latin typeface="Calibri"/>
                <a:ea typeface="Calibri"/>
                <a:cs typeface="Calibri"/>
                <a:sym typeface="Calibri"/>
              </a:rPr>
              <a:t>Query output</a:t>
            </a:r>
            <a:r>
              <a:rPr b="1" lang="en-US" sz="1130">
                <a:latin typeface="Calibri"/>
                <a:ea typeface="Calibri"/>
                <a:cs typeface="Calibri"/>
                <a:sym typeface="Calibri"/>
              </a:rPr>
              <a:t> : </a:t>
            </a:r>
            <a:endParaRPr b="1" sz="113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latin typeface="Calibri"/>
                <a:ea typeface="Calibri"/>
                <a:cs typeface="Calibri"/>
                <a:sym typeface="Calibri"/>
              </a:rPr>
              <a:t>Vector of space dimension </a:t>
            </a:r>
            <a:r>
              <a:rPr lang="en-US" sz="11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 for each query q_i in set Q or single query.</a:t>
            </a:r>
            <a:endParaRPr sz="113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" name="Google Shape;397;g3abb6a546c7_0_50"/>
          <p:cNvCxnSpPr/>
          <p:nvPr/>
        </p:nvCxnSpPr>
        <p:spPr>
          <a:xfrm>
            <a:off x="2212625" y="1705650"/>
            <a:ext cx="44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8" name="Google Shape;398;g3abb6a546c7_0_50"/>
          <p:cNvCxnSpPr>
            <a:endCxn id="373" idx="1"/>
          </p:cNvCxnSpPr>
          <p:nvPr/>
        </p:nvCxnSpPr>
        <p:spPr>
          <a:xfrm flipH="1" rot="10800000">
            <a:off x="4441030" y="1701979"/>
            <a:ext cx="365700" cy="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" name="Google Shape;399;g3abb6a546c7_0_50"/>
          <p:cNvCxnSpPr/>
          <p:nvPr/>
        </p:nvCxnSpPr>
        <p:spPr>
          <a:xfrm>
            <a:off x="2218200" y="3310725"/>
            <a:ext cx="44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g3abb6a546c7_0_50"/>
          <p:cNvCxnSpPr/>
          <p:nvPr/>
        </p:nvCxnSpPr>
        <p:spPr>
          <a:xfrm flipH="1" rot="10800000">
            <a:off x="4441030" y="3286854"/>
            <a:ext cx="365700" cy="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1" name="Google Shape;401;g3abb6a546c7_0_50"/>
          <p:cNvSpPr txBox="1"/>
          <p:nvPr/>
        </p:nvSpPr>
        <p:spPr>
          <a:xfrm>
            <a:off x="2443325" y="3822775"/>
            <a:ext cx="2363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Step 2 : Query encoding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2" name="Google Shape;402;g3abb6a546c7_0_50"/>
          <p:cNvSpPr/>
          <p:nvPr/>
        </p:nvSpPr>
        <p:spPr>
          <a:xfrm>
            <a:off x="7550335" y="1142532"/>
            <a:ext cx="2301000" cy="1190700"/>
          </a:xfrm>
          <a:prstGeom prst="rect">
            <a:avLst/>
          </a:prstGeom>
          <a:solidFill>
            <a:schemeClr val="lt2"/>
          </a:solidFill>
          <a:ln cap="flat" cmpd="sng" w="17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25" lIns="77225" spcFirstLastPara="1" rIns="77225" wrap="square" tIns="7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latin typeface="Calibri"/>
                <a:ea typeface="Calibri"/>
                <a:cs typeface="Calibri"/>
                <a:sym typeface="Calibri"/>
              </a:rPr>
              <a:t>HKM tree (level “L”)</a:t>
            </a:r>
            <a:r>
              <a:rPr b="1" lang="en-US" sz="1013">
                <a:latin typeface="Calibri"/>
                <a:ea typeface="Calibri"/>
                <a:cs typeface="Calibri"/>
                <a:sym typeface="Calibri"/>
              </a:rPr>
              <a:t>: </a:t>
            </a:r>
            <a:endParaRPr b="1" sz="1013">
              <a:latin typeface="Calibri"/>
              <a:ea typeface="Calibri"/>
              <a:cs typeface="Calibri"/>
              <a:sym typeface="Calibri"/>
            </a:endParaRPr>
          </a:p>
          <a:p>
            <a:pPr indent="-115653" lvl="0" marL="153813" rtl="0" algn="l">
              <a:spcBef>
                <a:spcPts val="0"/>
              </a:spcBef>
              <a:spcAft>
                <a:spcPts val="0"/>
              </a:spcAft>
              <a:buSzPts val="1014"/>
              <a:buFont typeface="Calibri"/>
              <a:buAutoNum type="arabicPeriod"/>
            </a:pPr>
            <a:r>
              <a:rPr lang="en-US" sz="1013">
                <a:latin typeface="Calibri"/>
                <a:ea typeface="Calibri"/>
                <a:cs typeface="Calibri"/>
                <a:sym typeface="Calibri"/>
              </a:rPr>
              <a:t>Set hyperparameters for k-means aka branching ratio (</a:t>
            </a:r>
            <a:r>
              <a:rPr b="1" lang="en-US" sz="1013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013">
                <a:latin typeface="Calibri"/>
                <a:ea typeface="Calibri"/>
                <a:cs typeface="Calibri"/>
                <a:sym typeface="Calibri"/>
              </a:rPr>
              <a:t>) and tree depth (</a:t>
            </a:r>
            <a:r>
              <a:rPr b="1" lang="en-US" sz="1013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013">
                <a:latin typeface="Calibri"/>
                <a:ea typeface="Calibri"/>
                <a:cs typeface="Calibri"/>
                <a:sym typeface="Calibri"/>
              </a:rPr>
              <a:t>).</a:t>
            </a:r>
            <a:endParaRPr sz="1013">
              <a:latin typeface="Calibri"/>
              <a:ea typeface="Calibri"/>
              <a:cs typeface="Calibri"/>
              <a:sym typeface="Calibri"/>
            </a:endParaRPr>
          </a:p>
          <a:p>
            <a:pPr indent="-115653" lvl="0" marL="153813" rtl="0" algn="l">
              <a:spcBef>
                <a:spcPts val="0"/>
              </a:spcBef>
              <a:spcAft>
                <a:spcPts val="0"/>
              </a:spcAft>
              <a:buSzPts val="1014"/>
              <a:buFont typeface="Calibri"/>
              <a:buAutoNum type="arabicPeriod"/>
            </a:pPr>
            <a:r>
              <a:rPr lang="en-US" sz="1013">
                <a:latin typeface="Calibri"/>
                <a:ea typeface="Calibri"/>
                <a:cs typeface="Calibri"/>
                <a:sym typeface="Calibri"/>
              </a:rPr>
              <a:t>Calculate appropriate centroids using image global descriptors.</a:t>
            </a:r>
            <a:endParaRPr sz="1013">
              <a:latin typeface="Calibri"/>
              <a:ea typeface="Calibri"/>
              <a:cs typeface="Calibri"/>
              <a:sym typeface="Calibri"/>
            </a:endParaRPr>
          </a:p>
          <a:p>
            <a:pPr indent="-115653" lvl="0" marL="153813" rtl="0" algn="l">
              <a:spcBef>
                <a:spcPts val="0"/>
              </a:spcBef>
              <a:spcAft>
                <a:spcPts val="0"/>
              </a:spcAft>
              <a:buSzPts val="1014"/>
              <a:buFont typeface="Calibri"/>
              <a:buAutoNum type="arabicPeriod"/>
            </a:pPr>
            <a:r>
              <a:rPr lang="en-US" sz="1013">
                <a:latin typeface="Calibri"/>
                <a:ea typeface="Calibri"/>
                <a:cs typeface="Calibri"/>
                <a:sym typeface="Calibri"/>
              </a:rPr>
              <a:t>Set up appropriate cluster bucket for each centroid.</a:t>
            </a:r>
            <a:endParaRPr sz="1013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3" name="Google Shape;403;g3abb6a546c7_0_50"/>
          <p:cNvCxnSpPr>
            <a:stCxn id="402" idx="2"/>
            <a:endCxn id="404" idx="0"/>
          </p:cNvCxnSpPr>
          <p:nvPr/>
        </p:nvCxnSpPr>
        <p:spPr>
          <a:xfrm>
            <a:off x="8700835" y="2333232"/>
            <a:ext cx="0" cy="188700"/>
          </a:xfrm>
          <a:prstGeom prst="straightConnector1">
            <a:avLst/>
          </a:prstGeom>
          <a:noFill/>
          <a:ln cap="flat" cmpd="sng" w="17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g3abb6a546c7_0_50"/>
          <p:cNvSpPr/>
          <p:nvPr/>
        </p:nvSpPr>
        <p:spPr>
          <a:xfrm>
            <a:off x="7550335" y="2522001"/>
            <a:ext cx="2301000" cy="524700"/>
          </a:xfrm>
          <a:prstGeom prst="rect">
            <a:avLst/>
          </a:prstGeom>
          <a:solidFill>
            <a:schemeClr val="lt2"/>
          </a:solidFill>
          <a:ln cap="flat" cmpd="sng" w="17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25" lIns="77225" spcFirstLastPara="1" rIns="77225" wrap="square" tIns="7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latin typeface="Calibri"/>
                <a:ea typeface="Calibri"/>
                <a:cs typeface="Calibri"/>
                <a:sym typeface="Calibri"/>
              </a:rPr>
              <a:t>Go down to the next level </a:t>
            </a:r>
            <a:br>
              <a:rPr b="1" lang="en-US" sz="1013">
                <a:latin typeface="Calibri"/>
                <a:ea typeface="Calibri"/>
                <a:cs typeface="Calibri"/>
                <a:sym typeface="Calibri"/>
              </a:rPr>
            </a:br>
            <a:r>
              <a:rPr lang="en-US" sz="1013"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1" lang="en-US" sz="1013">
                <a:latin typeface="Calibri"/>
                <a:ea typeface="Calibri"/>
                <a:cs typeface="Calibri"/>
                <a:sym typeface="Calibri"/>
              </a:rPr>
              <a:t>each branch </a:t>
            </a:r>
            <a:r>
              <a:rPr lang="en-US" sz="1013">
                <a:latin typeface="Calibri"/>
                <a:ea typeface="Calibri"/>
                <a:cs typeface="Calibri"/>
                <a:sym typeface="Calibri"/>
              </a:rPr>
              <a:t>with total </a:t>
            </a:r>
            <a:r>
              <a:rPr lang="en-US" sz="1013">
                <a:latin typeface="Calibri"/>
                <a:ea typeface="Calibri"/>
                <a:cs typeface="Calibri"/>
                <a:sym typeface="Calibri"/>
              </a:rPr>
              <a:t>descriptors</a:t>
            </a:r>
            <a:r>
              <a:rPr lang="en-US" sz="1013"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1013">
                <a:latin typeface="Calibri"/>
                <a:ea typeface="Calibri"/>
                <a:cs typeface="Calibri"/>
                <a:sym typeface="Calibri"/>
              </a:rPr>
            </a:br>
            <a:r>
              <a:rPr lang="en-US" sz="1013">
                <a:latin typeface="Calibri"/>
                <a:ea typeface="Calibri"/>
                <a:cs typeface="Calibri"/>
                <a:sym typeface="Calibri"/>
              </a:rPr>
              <a:t>in sets of bucket size b_k </a:t>
            </a:r>
            <a:r>
              <a:rPr b="1" lang="en-US" sz="1013">
                <a:latin typeface="Calibri"/>
                <a:ea typeface="Calibri"/>
                <a:cs typeface="Calibri"/>
                <a:sym typeface="Calibri"/>
              </a:rPr>
              <a:t>RECURSIVELY.</a:t>
            </a:r>
            <a:endParaRPr b="1" sz="1013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" name="Google Shape;405;g3abb6a546c7_0_50"/>
          <p:cNvCxnSpPr>
            <a:stCxn id="404" idx="3"/>
          </p:cNvCxnSpPr>
          <p:nvPr/>
        </p:nvCxnSpPr>
        <p:spPr>
          <a:xfrm>
            <a:off x="9851335" y="2784351"/>
            <a:ext cx="600" cy="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g3abb6a546c7_0_50"/>
          <p:cNvCxnSpPr>
            <a:stCxn id="404" idx="3"/>
            <a:endCxn id="402" idx="3"/>
          </p:cNvCxnSpPr>
          <p:nvPr/>
        </p:nvCxnSpPr>
        <p:spPr>
          <a:xfrm flipH="1" rot="10800000">
            <a:off x="9851335" y="1737951"/>
            <a:ext cx="600" cy="1046400"/>
          </a:xfrm>
          <a:prstGeom prst="curvedConnector3">
            <a:avLst>
              <a:gd fmla="val 39687500" name="adj1"/>
            </a:avLst>
          </a:prstGeom>
          <a:noFill/>
          <a:ln cap="flat" cmpd="sng" w="17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g3abb6a546c7_0_50"/>
          <p:cNvCxnSpPr>
            <a:stCxn id="373" idx="3"/>
            <a:endCxn id="402" idx="1"/>
          </p:cNvCxnSpPr>
          <p:nvPr/>
        </p:nvCxnSpPr>
        <p:spPr>
          <a:xfrm>
            <a:off x="6574930" y="1701979"/>
            <a:ext cx="975300" cy="36000"/>
          </a:xfrm>
          <a:prstGeom prst="straightConnector1">
            <a:avLst/>
          </a:prstGeom>
          <a:noFill/>
          <a:ln cap="flat" cmpd="sng" w="17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8" name="Google Shape;408;g3abb6a546c7_0_50"/>
          <p:cNvSpPr txBox="1"/>
          <p:nvPr/>
        </p:nvSpPr>
        <p:spPr>
          <a:xfrm>
            <a:off x="7573050" y="752188"/>
            <a:ext cx="2363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Step 3 : OFFLINE :- HKM Tree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9" name="Google Shape;409;g3abb6a546c7_0_50"/>
          <p:cNvSpPr/>
          <p:nvPr/>
        </p:nvSpPr>
        <p:spPr>
          <a:xfrm>
            <a:off x="10810625" y="1908500"/>
            <a:ext cx="1143000" cy="11262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00" lIns="86100" spcFirstLastPara="1" rIns="86100" wrap="square" tIns="86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0">
                <a:latin typeface="Calibri"/>
                <a:ea typeface="Calibri"/>
                <a:cs typeface="Calibri"/>
                <a:sym typeface="Calibri"/>
              </a:rPr>
              <a:t>HKM TREE - </a:t>
            </a:r>
            <a:endParaRPr b="1" sz="103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0">
                <a:latin typeface="Calibri"/>
                <a:ea typeface="Calibri"/>
                <a:cs typeface="Calibri"/>
                <a:sym typeface="Calibri"/>
              </a:rPr>
              <a:t>Constructed using recursive k-means at each SUB-LEVEL</a:t>
            </a:r>
            <a:endParaRPr sz="103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g3abb6a546c7_0_50"/>
          <p:cNvCxnSpPr>
            <a:stCxn id="370" idx="3"/>
            <a:endCxn id="409" idx="1"/>
          </p:cNvCxnSpPr>
          <p:nvPr/>
        </p:nvCxnSpPr>
        <p:spPr>
          <a:xfrm>
            <a:off x="10301633" y="2376238"/>
            <a:ext cx="509100" cy="9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1" name="Google Shape;411;g3abb6a546c7_0_50"/>
          <p:cNvSpPr txBox="1"/>
          <p:nvPr/>
        </p:nvSpPr>
        <p:spPr>
          <a:xfrm>
            <a:off x="7287593" y="3177325"/>
            <a:ext cx="293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975" lIns="87975" spcFirstLastPara="1" rIns="87975" wrap="square" tIns="8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chemeClr val="dk1"/>
                </a:solidFill>
              </a:rPr>
              <a:t>You repeat the k-means step for every internal node. Full process: </a:t>
            </a:r>
            <a:r>
              <a:rPr b="1" lang="en-US" sz="1010">
                <a:solidFill>
                  <a:schemeClr val="dk1"/>
                </a:solidFill>
              </a:rPr>
              <a:t>offline HKM indexing.</a:t>
            </a:r>
            <a:endParaRPr b="1" sz="10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abb6a546c7_0_50"/>
          <p:cNvSpPr/>
          <p:nvPr/>
        </p:nvSpPr>
        <p:spPr>
          <a:xfrm>
            <a:off x="10410300" y="4168638"/>
            <a:ext cx="1781700" cy="512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00" lIns="86100" spcFirstLastPara="1" rIns="86100" wrap="square" tIns="86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latin typeface="Calibri"/>
                <a:ea typeface="Calibri"/>
                <a:cs typeface="Calibri"/>
                <a:sym typeface="Calibri"/>
              </a:rPr>
              <a:t>Choose similarity metric : cosine/ distance.</a:t>
            </a:r>
            <a:endParaRPr sz="11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abb6a546c7_0_50"/>
          <p:cNvSpPr/>
          <p:nvPr/>
        </p:nvSpPr>
        <p:spPr>
          <a:xfrm>
            <a:off x="5025593" y="5218231"/>
            <a:ext cx="2045700" cy="736200"/>
          </a:xfrm>
          <a:prstGeom prst="rect">
            <a:avLst/>
          </a:prstGeom>
          <a:solidFill>
            <a:schemeClr val="lt2"/>
          </a:solidFill>
          <a:ln cap="flat" cmpd="sng" w="17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00" lIns="81000" spcFirstLastPara="1" rIns="81000" wrap="square" tIns="81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3">
                <a:latin typeface="Calibri"/>
                <a:ea typeface="Calibri"/>
                <a:cs typeface="Calibri"/>
                <a:sym typeface="Calibri"/>
              </a:rPr>
              <a:t>Choose </a:t>
            </a:r>
            <a:r>
              <a:rPr b="1" lang="en-US" sz="1063">
                <a:latin typeface="Calibri"/>
                <a:ea typeface="Calibri"/>
                <a:cs typeface="Calibri"/>
                <a:sym typeface="Calibri"/>
              </a:rPr>
              <a:t>BEST candidate (INTENSIVE SEARCH)</a:t>
            </a:r>
            <a:r>
              <a:rPr lang="en-US" sz="1063"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1063">
                <a:latin typeface="Calibri"/>
                <a:ea typeface="Calibri"/>
                <a:cs typeface="Calibri"/>
                <a:sym typeface="Calibri"/>
              </a:rPr>
            </a:br>
            <a:r>
              <a:rPr lang="en-US" sz="1063">
                <a:latin typeface="Calibri"/>
                <a:ea typeface="Calibri"/>
                <a:cs typeface="Calibri"/>
                <a:sym typeface="Calibri"/>
              </a:rPr>
              <a:t>(or try </a:t>
            </a:r>
            <a:r>
              <a:rPr lang="en-US" sz="1063">
                <a:latin typeface="Calibri"/>
                <a:ea typeface="Calibri"/>
                <a:cs typeface="Calibri"/>
                <a:sym typeface="Calibri"/>
              </a:rPr>
              <a:t>different search strategy)</a:t>
            </a:r>
            <a:endParaRPr sz="106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abb6a546c7_0_50"/>
          <p:cNvSpPr/>
          <p:nvPr/>
        </p:nvSpPr>
        <p:spPr>
          <a:xfrm>
            <a:off x="7587278" y="5218230"/>
            <a:ext cx="2736000" cy="736200"/>
          </a:xfrm>
          <a:prstGeom prst="rect">
            <a:avLst/>
          </a:prstGeom>
          <a:solidFill>
            <a:schemeClr val="lt2"/>
          </a:solidFill>
          <a:ln cap="flat" cmpd="sng" w="17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00" lIns="81000" spcFirstLastPara="1" rIns="81000" wrap="square" tIns="81000">
            <a:noAutofit/>
          </a:bodyPr>
          <a:lstStyle/>
          <a:p>
            <a:pPr indent="-127810" lvl="0" marL="60309" rtl="0" algn="ctr">
              <a:spcBef>
                <a:spcPts val="0"/>
              </a:spcBef>
              <a:spcAft>
                <a:spcPts val="0"/>
              </a:spcAft>
              <a:buSzPts val="1063"/>
              <a:buFont typeface="Calibri"/>
              <a:buAutoNum type="arabicPeriod"/>
            </a:pPr>
            <a:r>
              <a:rPr lang="en-US" sz="1063">
                <a:latin typeface="Calibri"/>
                <a:ea typeface="Calibri"/>
                <a:cs typeface="Calibri"/>
                <a:sym typeface="Calibri"/>
              </a:rPr>
              <a:t>Go down that “</a:t>
            </a:r>
            <a:r>
              <a:rPr b="1" lang="en-US" sz="1063">
                <a:latin typeface="Calibri"/>
                <a:ea typeface="Calibri"/>
                <a:cs typeface="Calibri"/>
                <a:sym typeface="Calibri"/>
              </a:rPr>
              <a:t>BEST” </a:t>
            </a:r>
            <a:r>
              <a:rPr lang="en-US" sz="1063">
                <a:latin typeface="Calibri"/>
                <a:ea typeface="Calibri"/>
                <a:cs typeface="Calibri"/>
                <a:sym typeface="Calibri"/>
              </a:rPr>
              <a:t>candidate and then explore the k-centroids of the next level</a:t>
            </a:r>
            <a:endParaRPr sz="1063">
              <a:latin typeface="Calibri"/>
              <a:ea typeface="Calibri"/>
              <a:cs typeface="Calibri"/>
              <a:sym typeface="Calibri"/>
            </a:endParaRPr>
          </a:p>
          <a:p>
            <a:pPr indent="-127810" lvl="0" marL="60309" rtl="0" algn="ctr">
              <a:spcBef>
                <a:spcPts val="0"/>
              </a:spcBef>
              <a:spcAft>
                <a:spcPts val="0"/>
              </a:spcAft>
              <a:buSzPts val="1063"/>
              <a:buFont typeface="Calibri"/>
              <a:buAutoNum type="arabicPeriod"/>
            </a:pPr>
            <a:r>
              <a:rPr lang="en-US" sz="1063">
                <a:latin typeface="Calibri"/>
                <a:ea typeface="Calibri"/>
                <a:cs typeface="Calibri"/>
                <a:sym typeface="Calibri"/>
              </a:rPr>
              <a:t>Repeat loop</a:t>
            </a:r>
            <a:endParaRPr sz="1063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g3abb6a546c7_0_50"/>
          <p:cNvCxnSpPr>
            <a:stCxn id="409" idx="2"/>
            <a:endCxn id="412" idx="0"/>
          </p:cNvCxnSpPr>
          <p:nvPr/>
        </p:nvCxnSpPr>
        <p:spPr>
          <a:xfrm flipH="1">
            <a:off x="11301125" y="3034700"/>
            <a:ext cx="81000" cy="113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g3abb6a546c7_0_50"/>
          <p:cNvCxnSpPr>
            <a:endCxn id="369" idx="3"/>
          </p:cNvCxnSpPr>
          <p:nvPr/>
        </p:nvCxnSpPr>
        <p:spPr>
          <a:xfrm flipH="1" rot="5400000">
            <a:off x="9151219" y="4579208"/>
            <a:ext cx="648600" cy="616500"/>
          </a:xfrm>
          <a:prstGeom prst="curvedConnector2">
            <a:avLst/>
          </a:prstGeom>
          <a:noFill/>
          <a:ln cap="flat" cmpd="sng" w="179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g3abb6a546c7_0_50"/>
          <p:cNvCxnSpPr>
            <a:stCxn id="369" idx="1"/>
          </p:cNvCxnSpPr>
          <p:nvPr/>
        </p:nvCxnSpPr>
        <p:spPr>
          <a:xfrm flipH="1">
            <a:off x="5545669" y="4563158"/>
            <a:ext cx="420000" cy="654900"/>
          </a:xfrm>
          <a:prstGeom prst="curvedConnector2">
            <a:avLst/>
          </a:prstGeom>
          <a:noFill/>
          <a:ln cap="flat" cmpd="sng" w="179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g3abb6a546c7_0_50"/>
          <p:cNvCxnSpPr>
            <a:stCxn id="413" idx="3"/>
            <a:endCxn id="414" idx="1"/>
          </p:cNvCxnSpPr>
          <p:nvPr/>
        </p:nvCxnSpPr>
        <p:spPr>
          <a:xfrm>
            <a:off x="7071293" y="5586331"/>
            <a:ext cx="516000" cy="600"/>
          </a:xfrm>
          <a:prstGeom prst="curvedConnector3">
            <a:avLst>
              <a:gd fmla="val 49987" name="adj1"/>
            </a:avLst>
          </a:prstGeom>
          <a:noFill/>
          <a:ln cap="flat" cmpd="sng" w="179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g3abb6a546c7_0_50"/>
          <p:cNvCxnSpPr>
            <a:stCxn id="412" idx="1"/>
            <a:endCxn id="369" idx="3"/>
          </p:cNvCxnSpPr>
          <p:nvPr/>
        </p:nvCxnSpPr>
        <p:spPr>
          <a:xfrm flipH="1">
            <a:off x="9167400" y="4424688"/>
            <a:ext cx="1242900" cy="13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0" name="Google Shape;420;g3abb6a546c7_0_50"/>
          <p:cNvSpPr txBox="1"/>
          <p:nvPr/>
        </p:nvSpPr>
        <p:spPr>
          <a:xfrm>
            <a:off x="10410300" y="4993563"/>
            <a:ext cx="1500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Step 4 : ONLINE : Tree Traversal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1" name="Google Shape;421;g3abb6a546c7_0_50"/>
          <p:cNvSpPr/>
          <p:nvPr/>
        </p:nvSpPr>
        <p:spPr>
          <a:xfrm>
            <a:off x="1532750" y="5439825"/>
            <a:ext cx="2592600" cy="275400"/>
          </a:xfrm>
          <a:prstGeom prst="rect">
            <a:avLst/>
          </a:prstGeom>
          <a:solidFill>
            <a:schemeClr val="lt2"/>
          </a:solidFill>
          <a:ln cap="flat" cmpd="sng" w="169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50" lIns="76750" spcFirstLastPara="1" rIns="76750" wrap="square" tIns="76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7">
                <a:latin typeface="Calibri"/>
                <a:ea typeface="Calibri"/>
                <a:cs typeface="Calibri"/>
                <a:sym typeface="Calibri"/>
              </a:rPr>
              <a:t>argsort </a:t>
            </a:r>
            <a:r>
              <a:rPr lang="en-US" sz="1107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1107">
                <a:latin typeface="Calibri"/>
                <a:ea typeface="Calibri"/>
                <a:cs typeface="Calibri"/>
                <a:sym typeface="Calibri"/>
              </a:rPr>
              <a:t>retrieve top-1</a:t>
            </a:r>
            <a:r>
              <a:rPr lang="en-US" sz="1107">
                <a:latin typeface="Calibri"/>
                <a:ea typeface="Calibri"/>
                <a:cs typeface="Calibri"/>
                <a:sym typeface="Calibri"/>
              </a:rPr>
              <a:t>. (</a:t>
            </a:r>
            <a:r>
              <a:rPr b="1" lang="en-US" sz="1107">
                <a:latin typeface="Calibri"/>
                <a:ea typeface="Calibri"/>
                <a:cs typeface="Calibri"/>
                <a:sym typeface="Calibri"/>
              </a:rPr>
              <a:t>INTENSIVE</a:t>
            </a:r>
            <a:r>
              <a:rPr lang="en-US" sz="1107"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110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abb6a546c7_0_50"/>
          <p:cNvSpPr/>
          <p:nvPr/>
        </p:nvSpPr>
        <p:spPr>
          <a:xfrm>
            <a:off x="1145875" y="4396125"/>
            <a:ext cx="3366300" cy="275400"/>
          </a:xfrm>
          <a:prstGeom prst="rect">
            <a:avLst/>
          </a:prstGeom>
          <a:solidFill>
            <a:schemeClr val="lt2"/>
          </a:solidFill>
          <a:ln cap="flat" cmpd="sng" w="169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50" lIns="76750" spcFirstLastPara="1" rIns="76750" wrap="square" tIns="76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7">
                <a:latin typeface="Calibri"/>
                <a:ea typeface="Calibri"/>
                <a:cs typeface="Calibri"/>
                <a:sym typeface="Calibri"/>
              </a:rPr>
              <a:t>Choose </a:t>
            </a:r>
            <a:r>
              <a:rPr b="1" lang="en-US" sz="1107">
                <a:latin typeface="Calibri"/>
                <a:ea typeface="Calibri"/>
                <a:cs typeface="Calibri"/>
                <a:sym typeface="Calibri"/>
              </a:rPr>
              <a:t>BEST </a:t>
            </a:r>
            <a:r>
              <a:rPr lang="en-US" sz="1107">
                <a:latin typeface="Calibri"/>
                <a:ea typeface="Calibri"/>
                <a:cs typeface="Calibri"/>
                <a:sym typeface="Calibri"/>
              </a:rPr>
              <a:t>internal node (</a:t>
            </a:r>
            <a:r>
              <a:rPr b="1" i="1" lang="en-US" sz="106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μ</a:t>
            </a:r>
            <a:r>
              <a:rPr b="1" lang="en-US" sz="1107"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1107">
                <a:latin typeface="Calibri"/>
                <a:ea typeface="Calibri"/>
                <a:cs typeface="Calibri"/>
                <a:sym typeface="Calibri"/>
              </a:rPr>
              <a:t>). </a:t>
            </a:r>
            <a:r>
              <a:rPr lang="en-US" sz="1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Explore it’s </a:t>
            </a:r>
            <a:r>
              <a:rPr lang="en-US" sz="1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leaf nodes</a:t>
            </a:r>
            <a:endParaRPr sz="110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abb6a546c7_0_50"/>
          <p:cNvSpPr/>
          <p:nvPr/>
        </p:nvSpPr>
        <p:spPr>
          <a:xfrm>
            <a:off x="1532738" y="4934650"/>
            <a:ext cx="2592600" cy="276300"/>
          </a:xfrm>
          <a:prstGeom prst="rect">
            <a:avLst/>
          </a:prstGeom>
          <a:solidFill>
            <a:schemeClr val="lt2"/>
          </a:solidFill>
          <a:ln cap="flat" cmpd="sng" w="169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50" lIns="76750" spcFirstLastPara="1" rIns="76750" wrap="square" tIns="76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7">
                <a:latin typeface="Calibri"/>
                <a:ea typeface="Calibri"/>
                <a:cs typeface="Calibri"/>
                <a:sym typeface="Calibri"/>
              </a:rPr>
              <a:t>Calculate </a:t>
            </a:r>
            <a:r>
              <a:rPr b="1" lang="en-US" sz="1107">
                <a:latin typeface="Calibri"/>
                <a:ea typeface="Calibri"/>
                <a:cs typeface="Calibri"/>
                <a:sym typeface="Calibri"/>
              </a:rPr>
              <a:t>similarity vector</a:t>
            </a:r>
            <a:r>
              <a:rPr lang="en-US" sz="1107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{&lt;v_q , v*_d&gt;}.</a:t>
            </a:r>
            <a:endParaRPr sz="110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abb6a546c7_0_50"/>
          <p:cNvSpPr txBox="1"/>
          <p:nvPr/>
        </p:nvSpPr>
        <p:spPr>
          <a:xfrm>
            <a:off x="201425" y="651188"/>
            <a:ext cx="975300" cy="2763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 -&gt;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g3abb6a546c7_0_50"/>
          <p:cNvCxnSpPr>
            <a:stCxn id="422" idx="2"/>
            <a:endCxn id="423" idx="0"/>
          </p:cNvCxnSpPr>
          <p:nvPr/>
        </p:nvCxnSpPr>
        <p:spPr>
          <a:xfrm>
            <a:off x="2829025" y="4671525"/>
            <a:ext cx="0" cy="26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g3abb6a546c7_0_50"/>
          <p:cNvCxnSpPr>
            <a:stCxn id="423" idx="2"/>
            <a:endCxn id="421" idx="0"/>
          </p:cNvCxnSpPr>
          <p:nvPr/>
        </p:nvCxnSpPr>
        <p:spPr>
          <a:xfrm>
            <a:off x="2829038" y="5210950"/>
            <a:ext cx="0" cy="22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" name="Google Shape;427;g3abb6a546c7_0_50"/>
          <p:cNvCxnSpPr>
            <a:stCxn id="367" idx="1"/>
            <a:endCxn id="368" idx="3"/>
          </p:cNvCxnSpPr>
          <p:nvPr/>
        </p:nvCxnSpPr>
        <p:spPr>
          <a:xfrm rot="10800000">
            <a:off x="4582575" y="5055663"/>
            <a:ext cx="36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8" name="Google Shape;428;g3abb6a546c7_0_50"/>
          <p:cNvSpPr txBox="1"/>
          <p:nvPr/>
        </p:nvSpPr>
        <p:spPr>
          <a:xfrm>
            <a:off x="0" y="4544350"/>
            <a:ext cx="1075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Step 5 : </a:t>
            </a:r>
            <a:b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Leaf level traversal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9" name="Google Shape;429;g3abb6a546c7_0_50"/>
          <p:cNvSpPr/>
          <p:nvPr/>
        </p:nvSpPr>
        <p:spPr>
          <a:xfrm>
            <a:off x="7390070" y="3225266"/>
            <a:ext cx="2780700" cy="396000"/>
          </a:xfrm>
          <a:prstGeom prst="roundRect">
            <a:avLst>
              <a:gd fmla="val 16667" name="adj"/>
            </a:avLst>
          </a:prstGeom>
          <a:noFill/>
          <a:ln cap="flat" cmpd="sng" w="204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050" lIns="98050" spcFirstLastPara="1" rIns="98050" wrap="square" tIns="98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g3abb6a546c7_0_50"/>
          <p:cNvCxnSpPr>
            <a:endCxn id="392" idx="1"/>
          </p:cNvCxnSpPr>
          <p:nvPr/>
        </p:nvCxnSpPr>
        <p:spPr>
          <a:xfrm rot="5400000">
            <a:off x="174375" y="1184184"/>
            <a:ext cx="779100" cy="256500"/>
          </a:xfrm>
          <a:prstGeom prst="curvedConnector4">
            <a:avLst>
              <a:gd fmla="val 11157" name="adj1"/>
              <a:gd fmla="val 269854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g3abb6a546c7_0_50"/>
          <p:cNvCxnSpPr>
            <a:endCxn id="366" idx="3"/>
          </p:cNvCxnSpPr>
          <p:nvPr/>
        </p:nvCxnSpPr>
        <p:spPr>
          <a:xfrm flipH="1">
            <a:off x="2025250" y="5735863"/>
            <a:ext cx="816600" cy="309000"/>
          </a:xfrm>
          <a:prstGeom prst="curvedConnector3">
            <a:avLst>
              <a:gd fmla="val 386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g3ab687fb00f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g3ab687fb00f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ab687fb00f_0_4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g3ab687fb00f_0_40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 strategies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40" name="Google Shape;440;g3ab687fb00f_0_4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41" name="Google Shape;441;g3ab687fb00f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g3ab687fb00f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g3ab687fb00f_0_4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4" name="Google Shape;444;g3ab687fb00f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3ab687fb00f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3ab687fb00f_0_4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7" name="Google Shape;447;g3ab687fb00f_0_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ab687fb00f_0_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ab687fb00f_0_4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0" name="Google Shape;450;g3ab687fb00f_0_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3ab687fb00f_0_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g3ab687fb00f_0_4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3" name="Google Shape;453;g3ab687fb00f_0_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4" name="Google Shape;454;g3ab687fb00f_0_40"/>
          <p:cNvGraphicFramePr/>
          <p:nvPr/>
        </p:nvGraphicFramePr>
        <p:xfrm>
          <a:off x="594513" y="161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{1ADF710F-BB62-43C1-824B-F57393B684B4}</a:tableStyleId>
              </a:tblPr>
              <a:tblGrid>
                <a:gridCol w="1559050"/>
                <a:gridCol w="4113150"/>
                <a:gridCol w="5330775"/>
              </a:tblGrid>
              <a:tr h="51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Category Level Retrieval</a:t>
                      </a:r>
                      <a:endParaRPr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Particular Object Level Retrieval</a:t>
                      </a:r>
                      <a:endParaRPr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/>
                </a:tc>
              </a:tr>
              <a:tr h="95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Goal / Intuition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</a:t>
                      </a: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etrieve images with the same semantic category. (semantic / content similarity)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</a:t>
                      </a: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etrieve the same specific instance/object (e.g. exact landmark). (instance-level, fine-grained appearance matching.)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6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Dataset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CUB, CARS, In-Shop.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Oxford, Paris, ROxford, RParis.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6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Backbone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UNICOM (CLIP/ViT (</a:t>
                      </a:r>
                      <a:r>
                        <a:rPr i="1"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Vision Transformer</a:t>
                      </a: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)-based).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R-GeM (CNN + GeM pooling).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6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Metric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Recall@1.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mAP (mean Average Precision)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g3abb6a546c7_0_115"/>
          <p:cNvPicPr preferRelativeResize="0"/>
          <p:nvPr/>
        </p:nvPicPr>
        <p:blipFill rotWithShape="1">
          <a:blip r:embed="rId3">
            <a:alphaModFix/>
          </a:blip>
          <a:srcRect b="0" l="0" r="3456" t="0"/>
          <a:stretch/>
        </p:blipFill>
        <p:spPr>
          <a:xfrm>
            <a:off x="18900" y="1308913"/>
            <a:ext cx="5738050" cy="3255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abb6a546c7_0_115"/>
          <p:cNvSpPr/>
          <p:nvPr/>
        </p:nvSpPr>
        <p:spPr>
          <a:xfrm>
            <a:off x="5840850" y="738638"/>
            <a:ext cx="6029700" cy="526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1" name="Google Shape;461;g3abb6a546c7_0_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g3abb6a546c7_0_1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g3abb6a546c7_0_11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g3abb6a546c7_0_115"/>
          <p:cNvSpPr txBox="1"/>
          <p:nvPr/>
        </p:nvSpPr>
        <p:spPr>
          <a:xfrm>
            <a:off x="18896" y="1"/>
            <a:ext cx="114690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3000" lIns="86000" spcFirstLastPara="1" rIns="86000" wrap="square" tIns="43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0"/>
              <a:buFont typeface="Arial"/>
              <a:buNone/>
            </a:pPr>
            <a:r>
              <a:rPr lang="en-US" sz="272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: </a:t>
            </a:r>
            <a:r>
              <a:rPr lang="en-US" sz="272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Encoding - ViT based (category wise retrieval)</a:t>
            </a:r>
            <a:endParaRPr b="0" i="0" sz="2728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5" name="Google Shape;465;g3abb6a546c7_0_115"/>
          <p:cNvCxnSpPr/>
          <p:nvPr/>
        </p:nvCxnSpPr>
        <p:spPr>
          <a:xfrm flipH="1" rot="10800000">
            <a:off x="18902" y="469776"/>
            <a:ext cx="5943300" cy="28800"/>
          </a:xfrm>
          <a:prstGeom prst="straightConnector1">
            <a:avLst/>
          </a:prstGeom>
          <a:noFill/>
          <a:ln cap="flat" cmpd="sng" w="8950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66" name="Google Shape;466;g3abb6a546c7_0_1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g3abb6a546c7_0_1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abb6a546c7_0_11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9" name="Google Shape;469;g3abb6a546c7_0_1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g3abb6a546c7_0_1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3abb6a546c7_0_11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2" name="Google Shape;472;g3abb6a546c7_0_1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g3abb6a546c7_0_1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3abb6a546c7_0_11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5" name="Google Shape;475;g3abb6a546c7_0_1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3abb6a546c7_0_1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g3abb6a546c7_0_115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8" name="Google Shape;478;g3abb6a546c7_0_1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abb6a546c7_0_115"/>
          <p:cNvPicPr preferRelativeResize="0"/>
          <p:nvPr/>
        </p:nvPicPr>
        <p:blipFill rotWithShape="1">
          <a:blip r:embed="rId9">
            <a:alphaModFix/>
          </a:blip>
          <a:srcRect b="84950" l="0" r="3716" t="0"/>
          <a:stretch/>
        </p:blipFill>
        <p:spPr>
          <a:xfrm>
            <a:off x="5865775" y="801563"/>
            <a:ext cx="5889300" cy="69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3abb6a546c7_0_115"/>
          <p:cNvPicPr preferRelativeResize="0"/>
          <p:nvPr/>
        </p:nvPicPr>
        <p:blipFill rotWithShape="1">
          <a:blip r:embed="rId9">
            <a:alphaModFix/>
          </a:blip>
          <a:srcRect b="35891" l="0" r="3716" t="47131"/>
          <a:stretch/>
        </p:blipFill>
        <p:spPr>
          <a:xfrm>
            <a:off x="5865775" y="3390863"/>
            <a:ext cx="5889300" cy="78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g3abb6a546c7_0_115"/>
          <p:cNvPicPr preferRelativeResize="0"/>
          <p:nvPr/>
        </p:nvPicPr>
        <p:blipFill rotWithShape="1">
          <a:blip r:embed="rId9">
            <a:alphaModFix/>
          </a:blip>
          <a:srcRect b="68344" l="0" r="3716" t="14678"/>
          <a:stretch/>
        </p:blipFill>
        <p:spPr>
          <a:xfrm>
            <a:off x="5865775" y="1683313"/>
            <a:ext cx="5889300" cy="78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3abb6a546c7_0_115"/>
          <p:cNvPicPr preferRelativeResize="0"/>
          <p:nvPr/>
        </p:nvPicPr>
        <p:blipFill rotWithShape="1">
          <a:blip r:embed="rId9">
            <a:alphaModFix/>
          </a:blip>
          <a:srcRect b="52155" l="0" r="2837" t="30867"/>
          <a:stretch/>
        </p:blipFill>
        <p:spPr>
          <a:xfrm>
            <a:off x="5865775" y="2545538"/>
            <a:ext cx="5943300" cy="78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abb6a546c7_0_115"/>
          <p:cNvPicPr preferRelativeResize="0"/>
          <p:nvPr/>
        </p:nvPicPr>
        <p:blipFill rotWithShape="1">
          <a:blip r:embed="rId9">
            <a:alphaModFix/>
          </a:blip>
          <a:srcRect b="14931" l="0" r="3716" t="64087"/>
          <a:stretch/>
        </p:blipFill>
        <p:spPr>
          <a:xfrm>
            <a:off x="5865775" y="4236188"/>
            <a:ext cx="5889300" cy="96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g3abb6a546c7_0_115"/>
          <p:cNvPicPr preferRelativeResize="0"/>
          <p:nvPr/>
        </p:nvPicPr>
        <p:blipFill rotWithShape="1">
          <a:blip r:embed="rId9">
            <a:alphaModFix/>
          </a:blip>
          <a:srcRect b="0" l="0" r="3716" t="84950"/>
          <a:stretch/>
        </p:blipFill>
        <p:spPr>
          <a:xfrm>
            <a:off x="5865775" y="5233313"/>
            <a:ext cx="5889300" cy="69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5" name="Google Shape;485;g3abb6a546c7_0_115"/>
          <p:cNvCxnSpPr/>
          <p:nvPr/>
        </p:nvCxnSpPr>
        <p:spPr>
          <a:xfrm>
            <a:off x="5861825" y="1640438"/>
            <a:ext cx="604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g3abb6a546c7_0_115"/>
          <p:cNvCxnSpPr/>
          <p:nvPr/>
        </p:nvCxnSpPr>
        <p:spPr>
          <a:xfrm>
            <a:off x="5835600" y="2474438"/>
            <a:ext cx="604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g3abb6a546c7_0_115"/>
          <p:cNvCxnSpPr/>
          <p:nvPr/>
        </p:nvCxnSpPr>
        <p:spPr>
          <a:xfrm>
            <a:off x="5835600" y="3381838"/>
            <a:ext cx="604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g3abb6a546c7_0_115"/>
          <p:cNvCxnSpPr/>
          <p:nvPr/>
        </p:nvCxnSpPr>
        <p:spPr>
          <a:xfrm>
            <a:off x="5835588" y="4205363"/>
            <a:ext cx="604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g3abb6a546c7_0_115"/>
          <p:cNvCxnSpPr/>
          <p:nvPr/>
        </p:nvCxnSpPr>
        <p:spPr>
          <a:xfrm>
            <a:off x="5861813" y="5175688"/>
            <a:ext cx="604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bb6a546c7_0_25"/>
          <p:cNvSpPr/>
          <p:nvPr/>
        </p:nvSpPr>
        <p:spPr>
          <a:xfrm>
            <a:off x="199250" y="2721000"/>
            <a:ext cx="5641500" cy="3355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abb6a546c7_0_25"/>
          <p:cNvSpPr txBox="1"/>
          <p:nvPr/>
        </p:nvSpPr>
        <p:spPr>
          <a:xfrm>
            <a:off x="6522450" y="3041000"/>
            <a:ext cx="4257300" cy="25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abb6a546c7_0_25"/>
          <p:cNvSpPr txBox="1"/>
          <p:nvPr/>
        </p:nvSpPr>
        <p:spPr>
          <a:xfrm>
            <a:off x="152400" y="2737500"/>
            <a:ext cx="5828700" cy="3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g3abb6a546c7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3abb6a546c7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g3abb6a546c7_0_2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g3abb6a546c7_0_25"/>
          <p:cNvSpPr txBox="1"/>
          <p:nvPr/>
        </p:nvSpPr>
        <p:spPr>
          <a:xfrm>
            <a:off x="0" y="62925"/>
            <a:ext cx="12192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: Encoding - CNN based (object retrieval)</a:t>
            </a:r>
            <a:endParaRPr b="0" i="0" sz="2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1" name="Google Shape;501;g3abb6a546c7_0_25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02" name="Google Shape;502;g3abb6a546c7_0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g3abb6a546c7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3abb6a546c7_0_2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5" name="Google Shape;505;g3abb6a546c7_0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g3abb6a546c7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g3abb6a546c7_0_2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8" name="Google Shape;508;g3abb6a546c7_0_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g3abb6a546c7_0_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abb6a546c7_0_2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1" name="Google Shape;511;g3abb6a546c7_0_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g3abb6a546c7_0_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g3abb6a546c7_0_25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4" name="Google Shape;514;g3abb6a546c7_0_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g3abb6a546c7_0_25"/>
          <p:cNvPicPr preferRelativeResize="0"/>
          <p:nvPr/>
        </p:nvPicPr>
        <p:blipFill rotWithShape="1">
          <a:blip r:embed="rId8">
            <a:alphaModFix/>
          </a:blip>
          <a:srcRect b="49831" l="0" r="0" t="0"/>
          <a:stretch/>
        </p:blipFill>
        <p:spPr>
          <a:xfrm>
            <a:off x="94369" y="842325"/>
            <a:ext cx="9604962" cy="174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g3abb6a546c7_0_25"/>
          <p:cNvPicPr preferRelativeResize="0"/>
          <p:nvPr/>
        </p:nvPicPr>
        <p:blipFill rotWithShape="1">
          <a:blip r:embed="rId9">
            <a:alphaModFix/>
          </a:blip>
          <a:srcRect b="69787" l="5731" r="0" t="5591"/>
          <a:stretch/>
        </p:blipFill>
        <p:spPr>
          <a:xfrm>
            <a:off x="513825" y="2780250"/>
            <a:ext cx="5274101" cy="107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g3abb6a546c7_0_25"/>
          <p:cNvPicPr preferRelativeResize="0"/>
          <p:nvPr/>
        </p:nvPicPr>
        <p:blipFill rotWithShape="1">
          <a:blip r:embed="rId9">
            <a:alphaModFix/>
          </a:blip>
          <a:srcRect b="24604" l="5418" r="58719" t="67809"/>
          <a:stretch/>
        </p:blipFill>
        <p:spPr>
          <a:xfrm>
            <a:off x="6821325" y="3152000"/>
            <a:ext cx="2228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g3abb6a546c7_0_25"/>
          <p:cNvPicPr preferRelativeResize="0"/>
          <p:nvPr/>
        </p:nvPicPr>
        <p:blipFill rotWithShape="1">
          <a:blip r:embed="rId9">
            <a:alphaModFix/>
          </a:blip>
          <a:srcRect b="44187" l="4961" r="0" t="29867"/>
          <a:stretch/>
        </p:blipFill>
        <p:spPr>
          <a:xfrm>
            <a:off x="500388" y="4269275"/>
            <a:ext cx="5317225" cy="11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g3abb6a546c7_0_25"/>
          <p:cNvPicPr preferRelativeResize="0"/>
          <p:nvPr/>
        </p:nvPicPr>
        <p:blipFill rotWithShape="1">
          <a:blip r:embed="rId9">
            <a:alphaModFix/>
          </a:blip>
          <a:srcRect b="8312" l="6261" r="59818" t="85726"/>
          <a:stretch/>
        </p:blipFill>
        <p:spPr>
          <a:xfrm>
            <a:off x="6821325" y="4725025"/>
            <a:ext cx="2107725" cy="2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g3abb6a546c7_0_25"/>
          <p:cNvPicPr preferRelativeResize="0"/>
          <p:nvPr/>
        </p:nvPicPr>
        <p:blipFill rotWithShape="1">
          <a:blip r:embed="rId9">
            <a:alphaModFix/>
          </a:blip>
          <a:srcRect b="13765" l="46422" r="18813" t="75167"/>
          <a:stretch/>
        </p:blipFill>
        <p:spPr>
          <a:xfrm>
            <a:off x="8409975" y="3578725"/>
            <a:ext cx="2160150" cy="5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g3abb6a546c7_0_25"/>
          <p:cNvPicPr preferRelativeResize="0"/>
          <p:nvPr/>
        </p:nvPicPr>
        <p:blipFill rotWithShape="1">
          <a:blip r:embed="rId9">
            <a:alphaModFix/>
          </a:blip>
          <a:srcRect b="0" l="51149" r="23367" t="92414"/>
          <a:stretch/>
        </p:blipFill>
        <p:spPr>
          <a:xfrm>
            <a:off x="8698350" y="5137025"/>
            <a:ext cx="15834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g3abb6a546c7_0_25"/>
          <p:cNvSpPr/>
          <p:nvPr/>
        </p:nvSpPr>
        <p:spPr>
          <a:xfrm>
            <a:off x="6422725" y="2996450"/>
            <a:ext cx="4718700" cy="2606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3" name="Google Shape;523;g3abb6a546c7_0_25"/>
          <p:cNvPicPr preferRelativeResize="0"/>
          <p:nvPr/>
        </p:nvPicPr>
        <p:blipFill rotWithShape="1">
          <a:blip r:embed="rId9">
            <a:alphaModFix/>
          </a:blip>
          <a:srcRect b="78371" l="44989" r="17337" t="13203"/>
          <a:stretch/>
        </p:blipFill>
        <p:spPr>
          <a:xfrm>
            <a:off x="2757875" y="3174100"/>
            <a:ext cx="210772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g3abb6a546c7_0_25"/>
          <p:cNvPicPr preferRelativeResize="0"/>
          <p:nvPr/>
        </p:nvPicPr>
        <p:blipFill rotWithShape="1">
          <a:blip r:embed="rId9">
            <a:alphaModFix/>
          </a:blip>
          <a:srcRect b="39701" l="0" r="16450" t="54337"/>
          <a:stretch/>
        </p:blipFill>
        <p:spPr>
          <a:xfrm>
            <a:off x="470950" y="5257200"/>
            <a:ext cx="5191600" cy="2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g3abb6a546c7_0_25"/>
          <p:cNvPicPr preferRelativeResize="0"/>
          <p:nvPr/>
        </p:nvPicPr>
        <p:blipFill rotWithShape="1">
          <a:blip r:embed="rId9">
            <a:alphaModFix/>
          </a:blip>
          <a:srcRect b="31388" l="57303" r="26495" t="61025"/>
          <a:stretch/>
        </p:blipFill>
        <p:spPr>
          <a:xfrm>
            <a:off x="2563400" y="5661738"/>
            <a:ext cx="1006699" cy="36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6" name="Google Shape;526;g3abb6a546c7_0_25"/>
          <p:cNvCxnSpPr>
            <a:stCxn id="518" idx="3"/>
            <a:endCxn id="522" idx="1"/>
          </p:cNvCxnSpPr>
          <p:nvPr/>
        </p:nvCxnSpPr>
        <p:spPr>
          <a:xfrm flipH="1" rot="10800000">
            <a:off x="5817613" y="4299413"/>
            <a:ext cx="605100" cy="53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bb6a546c7_0_196"/>
          <p:cNvSpPr/>
          <p:nvPr/>
        </p:nvSpPr>
        <p:spPr>
          <a:xfrm>
            <a:off x="6899950" y="2086750"/>
            <a:ext cx="5001900" cy="1614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2" name="Google Shape;532;g3abb6a546c7_0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g3abb6a546c7_0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g3abb6a546c7_0_196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g3abb6a546c7_0_196"/>
          <p:cNvSpPr txBox="1"/>
          <p:nvPr/>
        </p:nvSpPr>
        <p:spPr>
          <a:xfrm>
            <a:off x="0" y="12980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 : Query Encoding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6" name="Google Shape;536;g3abb6a546c7_0_196"/>
          <p:cNvCxnSpPr/>
          <p:nvPr/>
        </p:nvCxnSpPr>
        <p:spPr>
          <a:xfrm flipH="1" rot="10800000">
            <a:off x="6" y="7380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37" name="Google Shape;537;g3abb6a546c7_0_1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g3abb6a546c7_0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abb6a546c7_0_196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0" name="Google Shape;540;g3abb6a546c7_0_1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g3abb6a546c7_0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g3abb6a546c7_0_196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3" name="Google Shape;543;g3abb6a546c7_0_1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3abb6a546c7_0_1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3abb6a546c7_0_196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6" name="Google Shape;546;g3abb6a546c7_0_1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g3abb6a546c7_0_1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g3abb6a546c7_0_196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9" name="Google Shape;549;g3abb6a546c7_0_1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3abb6a546c7_0_196"/>
          <p:cNvPicPr preferRelativeResize="0"/>
          <p:nvPr/>
        </p:nvPicPr>
        <p:blipFill rotWithShape="1">
          <a:blip r:embed="rId8">
            <a:alphaModFix/>
          </a:blip>
          <a:srcRect b="69636" l="0" r="52077" t="0"/>
          <a:stretch/>
        </p:blipFill>
        <p:spPr>
          <a:xfrm>
            <a:off x="6994550" y="2271300"/>
            <a:ext cx="3900651" cy="93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g3abb6a546c7_0_19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1903" y="1051750"/>
            <a:ext cx="5948418" cy="30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g3abb6a546c7_0_196"/>
          <p:cNvPicPr preferRelativeResize="0"/>
          <p:nvPr/>
        </p:nvPicPr>
        <p:blipFill rotWithShape="1">
          <a:blip r:embed="rId8">
            <a:alphaModFix/>
          </a:blip>
          <a:srcRect b="0" l="0" r="0" t="44530"/>
          <a:stretch/>
        </p:blipFill>
        <p:spPr>
          <a:xfrm>
            <a:off x="545275" y="4291175"/>
            <a:ext cx="8139400" cy="171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3" name="Google Shape;553;g3abb6a546c7_0_196"/>
          <p:cNvCxnSpPr>
            <a:stCxn id="531" idx="2"/>
            <a:endCxn id="554" idx="3"/>
          </p:cNvCxnSpPr>
          <p:nvPr/>
        </p:nvCxnSpPr>
        <p:spPr>
          <a:xfrm rot="5400000">
            <a:off x="8317000" y="4013350"/>
            <a:ext cx="1395900" cy="771900"/>
          </a:xfrm>
          <a:prstGeom prst="curvedConnector2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4" name="Google Shape;554;g3abb6a546c7_0_196"/>
          <p:cNvSpPr/>
          <p:nvPr/>
        </p:nvSpPr>
        <p:spPr>
          <a:xfrm>
            <a:off x="489600" y="4242025"/>
            <a:ext cx="8139300" cy="1710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`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5" name="Google Shape;555;g3abb6a546c7_0_196"/>
          <p:cNvPicPr preferRelativeResize="0"/>
          <p:nvPr/>
        </p:nvPicPr>
        <p:blipFill rotWithShape="1">
          <a:blip r:embed="rId8">
            <a:alphaModFix/>
          </a:blip>
          <a:srcRect b="55086" l="36001" r="37903" t="32936"/>
          <a:stretch/>
        </p:blipFill>
        <p:spPr>
          <a:xfrm>
            <a:off x="8338875" y="3207500"/>
            <a:ext cx="2124051" cy="3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abb6a546c7_0_223"/>
          <p:cNvSpPr/>
          <p:nvPr/>
        </p:nvSpPr>
        <p:spPr>
          <a:xfrm>
            <a:off x="504050" y="4348950"/>
            <a:ext cx="4508400" cy="140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abb6a546c7_0_223"/>
          <p:cNvSpPr/>
          <p:nvPr/>
        </p:nvSpPr>
        <p:spPr>
          <a:xfrm>
            <a:off x="6526200" y="3999738"/>
            <a:ext cx="5057700" cy="2106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abb6a546c7_0_223"/>
          <p:cNvSpPr/>
          <p:nvPr/>
        </p:nvSpPr>
        <p:spPr>
          <a:xfrm>
            <a:off x="6449400" y="876450"/>
            <a:ext cx="5211300" cy="2646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3" name="Google Shape;563;g3abb6a546c7_0_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g3abb6a546c7_0_2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g3abb6a546c7_0_223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g3abb6a546c7_0_223"/>
          <p:cNvSpPr txBox="1"/>
          <p:nvPr/>
        </p:nvSpPr>
        <p:spPr>
          <a:xfrm>
            <a:off x="0" y="12980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 : Offline - HKM tree building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7" name="Google Shape;567;g3abb6a546c7_0_223"/>
          <p:cNvCxnSpPr/>
          <p:nvPr/>
        </p:nvCxnSpPr>
        <p:spPr>
          <a:xfrm flipH="1" rot="10800000">
            <a:off x="6" y="7380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68" name="Google Shape;568;g3abb6a546c7_0_2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g3abb6a546c7_0_2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g3abb6a546c7_0_223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1" name="Google Shape;571;g3abb6a546c7_0_2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g3abb6a546c7_0_2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g3abb6a546c7_0_223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4" name="Google Shape;574;g3abb6a546c7_0_2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g3abb6a546c7_0_2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g3abb6a546c7_0_223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7" name="Google Shape;577;g3abb6a546c7_0_2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g3abb6a546c7_0_2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g3abb6a546c7_0_223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0" name="Google Shape;580;g3abb6a546c7_0_2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g3abb6a546c7_0_2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150" y="1223164"/>
            <a:ext cx="6217850" cy="2858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g3abb6a546c7_0_2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54406" y="876450"/>
            <a:ext cx="505777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g3abb6a546c7_0_223"/>
          <p:cNvPicPr preferRelativeResize="0"/>
          <p:nvPr/>
        </p:nvPicPr>
        <p:blipFill rotWithShape="1">
          <a:blip r:embed="rId10">
            <a:alphaModFix/>
          </a:blip>
          <a:srcRect b="88849" l="0" r="40062" t="0"/>
          <a:stretch/>
        </p:blipFill>
        <p:spPr>
          <a:xfrm>
            <a:off x="7304188" y="4132288"/>
            <a:ext cx="339045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g3abb6a546c7_0_223"/>
          <p:cNvPicPr preferRelativeResize="0"/>
          <p:nvPr/>
        </p:nvPicPr>
        <p:blipFill rotWithShape="1">
          <a:blip r:embed="rId10">
            <a:alphaModFix/>
          </a:blip>
          <a:srcRect b="21692" l="0" r="34093" t="60643"/>
          <a:stretch/>
        </p:blipFill>
        <p:spPr>
          <a:xfrm>
            <a:off x="634250" y="4497588"/>
            <a:ext cx="3727925" cy="585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5" name="Google Shape;585;g3abb6a546c7_0_223"/>
          <p:cNvCxnSpPr>
            <a:stCxn id="562" idx="2"/>
            <a:endCxn id="561" idx="0"/>
          </p:cNvCxnSpPr>
          <p:nvPr/>
        </p:nvCxnSpPr>
        <p:spPr>
          <a:xfrm>
            <a:off x="9055050" y="3523350"/>
            <a:ext cx="0" cy="47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" name="Google Shape;586;g3abb6a546c7_0_223"/>
          <p:cNvCxnSpPr>
            <a:stCxn id="561" idx="1"/>
            <a:endCxn id="560" idx="3"/>
          </p:cNvCxnSpPr>
          <p:nvPr/>
        </p:nvCxnSpPr>
        <p:spPr>
          <a:xfrm rot="10800000">
            <a:off x="5012400" y="5052888"/>
            <a:ext cx="1513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87" name="Google Shape;587;g3abb6a546c7_0_223"/>
          <p:cNvPicPr preferRelativeResize="0"/>
          <p:nvPr/>
        </p:nvPicPr>
        <p:blipFill rotWithShape="1">
          <a:blip r:embed="rId10">
            <a:alphaModFix/>
          </a:blip>
          <a:srcRect b="66091" l="44198" r="15016" t="10735"/>
          <a:stretch/>
        </p:blipFill>
        <p:spPr>
          <a:xfrm>
            <a:off x="8230375" y="4406373"/>
            <a:ext cx="2307000" cy="76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g3abb6a546c7_0_223"/>
          <p:cNvPicPr preferRelativeResize="0"/>
          <p:nvPr/>
        </p:nvPicPr>
        <p:blipFill rotWithShape="1">
          <a:blip r:embed="rId10">
            <a:alphaModFix/>
          </a:blip>
          <a:srcRect b="56908" l="0" r="42844" t="31940"/>
          <a:stretch/>
        </p:blipFill>
        <p:spPr>
          <a:xfrm>
            <a:off x="7410263" y="5031675"/>
            <a:ext cx="3233174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g3abb6a546c7_0_223"/>
          <p:cNvPicPr preferRelativeResize="0"/>
          <p:nvPr/>
        </p:nvPicPr>
        <p:blipFill rotWithShape="1">
          <a:blip r:embed="rId10">
            <a:alphaModFix/>
          </a:blip>
          <a:srcRect b="37870" l="39419" r="10588" t="42608"/>
          <a:stretch/>
        </p:blipFill>
        <p:spPr>
          <a:xfrm>
            <a:off x="7978032" y="5410988"/>
            <a:ext cx="2827950" cy="6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g3abb6a546c7_0_223"/>
          <p:cNvPicPr preferRelativeResize="0"/>
          <p:nvPr/>
        </p:nvPicPr>
        <p:blipFill rotWithShape="1">
          <a:blip r:embed="rId10">
            <a:alphaModFix/>
          </a:blip>
          <a:srcRect b="0" l="53199" r="21118" t="78847"/>
          <a:stretch/>
        </p:blipFill>
        <p:spPr>
          <a:xfrm>
            <a:off x="2031912" y="4958800"/>
            <a:ext cx="1452676" cy="7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bb6a546c7_0_253"/>
          <p:cNvSpPr/>
          <p:nvPr/>
        </p:nvSpPr>
        <p:spPr>
          <a:xfrm>
            <a:off x="401100" y="2014488"/>
            <a:ext cx="5515800" cy="282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abb6a546c7_0_253"/>
          <p:cNvSpPr/>
          <p:nvPr/>
        </p:nvSpPr>
        <p:spPr>
          <a:xfrm>
            <a:off x="6836050" y="1942038"/>
            <a:ext cx="4804500" cy="297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7" name="Google Shape;597;g3abb6a546c7_0_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g3abb6a546c7_0_2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g3abb6a546c7_0_253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g3abb6a546c7_0_253"/>
          <p:cNvSpPr txBox="1"/>
          <p:nvPr/>
        </p:nvSpPr>
        <p:spPr>
          <a:xfrm>
            <a:off x="0" y="12980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 :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STAGE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01" name="Google Shape;601;g3abb6a546c7_0_253"/>
          <p:cNvCxnSpPr/>
          <p:nvPr/>
        </p:nvCxnSpPr>
        <p:spPr>
          <a:xfrm flipH="1" rot="10800000">
            <a:off x="6" y="7380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02" name="Google Shape;602;g3abb6a546c7_0_2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abb6a546c7_0_2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g3abb6a546c7_0_253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5" name="Google Shape;605;g3abb6a546c7_0_2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abb6a546c7_0_2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g3abb6a546c7_0_253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8" name="Google Shape;608;g3abb6a546c7_0_2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g3abb6a546c7_0_2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g3abb6a546c7_0_253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1" name="Google Shape;611;g3abb6a546c7_0_2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g3abb6a546c7_0_2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g3abb6a546c7_0_253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4" name="Google Shape;614;g3abb6a546c7_0_2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g3abb6a546c7_0_253"/>
          <p:cNvPicPr preferRelativeResize="0"/>
          <p:nvPr/>
        </p:nvPicPr>
        <p:blipFill rotWithShape="1">
          <a:blip r:embed="rId8">
            <a:alphaModFix/>
          </a:blip>
          <a:srcRect b="33823" l="0" r="0" t="0"/>
          <a:stretch/>
        </p:blipFill>
        <p:spPr>
          <a:xfrm>
            <a:off x="450900" y="2073775"/>
            <a:ext cx="5379451" cy="271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g3abb6a546c7_0_25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79200" y="2043714"/>
            <a:ext cx="474345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g3abb6a546c7_0_253"/>
          <p:cNvSpPr txBox="1"/>
          <p:nvPr/>
        </p:nvSpPr>
        <p:spPr>
          <a:xfrm>
            <a:off x="1631550" y="1320738"/>
            <a:ext cx="27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OFFLINE STAGE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8" name="Google Shape;618;g3abb6a546c7_0_253"/>
          <p:cNvSpPr txBox="1"/>
          <p:nvPr/>
        </p:nvSpPr>
        <p:spPr>
          <a:xfrm>
            <a:off x="7879300" y="1320750"/>
            <a:ext cx="27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ONLINE STAGE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19" name="Google Shape;619;g3abb6a546c7_0_253"/>
          <p:cNvCxnSpPr>
            <a:stCxn id="595" idx="3"/>
            <a:endCxn id="596" idx="1"/>
          </p:cNvCxnSpPr>
          <p:nvPr/>
        </p:nvCxnSpPr>
        <p:spPr>
          <a:xfrm>
            <a:off x="5916900" y="3428988"/>
            <a:ext cx="919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0" name="Google Shape;620;g3abb6a546c7_0_253"/>
          <p:cNvSpPr/>
          <p:nvPr/>
        </p:nvSpPr>
        <p:spPr>
          <a:xfrm>
            <a:off x="2055300" y="1247850"/>
            <a:ext cx="1939800" cy="576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abb6a546c7_0_253"/>
          <p:cNvSpPr/>
          <p:nvPr/>
        </p:nvSpPr>
        <p:spPr>
          <a:xfrm>
            <a:off x="8281025" y="1255500"/>
            <a:ext cx="1939800" cy="576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abb6a546c7_0_289"/>
          <p:cNvSpPr/>
          <p:nvPr/>
        </p:nvSpPr>
        <p:spPr>
          <a:xfrm>
            <a:off x="8693675" y="4827213"/>
            <a:ext cx="2810400" cy="64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abb6a546c7_0_289"/>
          <p:cNvSpPr/>
          <p:nvPr/>
        </p:nvSpPr>
        <p:spPr>
          <a:xfrm>
            <a:off x="473400" y="1526892"/>
            <a:ext cx="5981100" cy="3692400"/>
          </a:xfrm>
          <a:prstGeom prst="rect">
            <a:avLst/>
          </a:prstGeom>
          <a:noFill/>
          <a:ln cap="flat" cmpd="sng" w="174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825" lIns="83825" spcFirstLastPara="1" rIns="83825" wrap="square" tIns="83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3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8" name="Google Shape;628;g3abb6a546c7_0_2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g3abb6a546c7_0_2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g3abb6a546c7_0_289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1" name="Google Shape;631;g3abb6a546c7_0_289"/>
          <p:cNvSpPr txBox="1"/>
          <p:nvPr/>
        </p:nvSpPr>
        <p:spPr>
          <a:xfrm>
            <a:off x="0" y="12980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 :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STAGE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32" name="Google Shape;632;g3abb6a546c7_0_289"/>
          <p:cNvCxnSpPr/>
          <p:nvPr/>
        </p:nvCxnSpPr>
        <p:spPr>
          <a:xfrm flipH="1" rot="10800000">
            <a:off x="6" y="7380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33" name="Google Shape;633;g3abb6a546c7_0_2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abb6a546c7_0_2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g3abb6a546c7_0_289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6" name="Google Shape;636;g3abb6a546c7_0_2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g3abb6a546c7_0_2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g3abb6a546c7_0_289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9" name="Google Shape;639;g3abb6a546c7_0_2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g3abb6a546c7_0_28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g3abb6a546c7_0_289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2" name="Google Shape;642;g3abb6a546c7_0_2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g3abb6a546c7_0_28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g3abb6a546c7_0_289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5" name="Google Shape;645;g3abb6a546c7_0_2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g3abb6a546c7_0_289"/>
          <p:cNvPicPr preferRelativeResize="0"/>
          <p:nvPr/>
        </p:nvPicPr>
        <p:blipFill rotWithShape="1">
          <a:blip r:embed="rId8">
            <a:alphaModFix/>
          </a:blip>
          <a:srcRect b="6323" l="0" r="0" t="0"/>
          <a:stretch/>
        </p:blipFill>
        <p:spPr>
          <a:xfrm>
            <a:off x="551114" y="1571526"/>
            <a:ext cx="5793486" cy="3561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g3abb6a546c7_0_28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72625" y="1453851"/>
            <a:ext cx="5414900" cy="26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g3abb6a546c7_0_289"/>
          <p:cNvSpPr/>
          <p:nvPr/>
        </p:nvSpPr>
        <p:spPr>
          <a:xfrm>
            <a:off x="9741975" y="1373700"/>
            <a:ext cx="1415100" cy="2999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abb6a546c7_0_289"/>
          <p:cNvSpPr txBox="1"/>
          <p:nvPr/>
        </p:nvSpPr>
        <p:spPr>
          <a:xfrm>
            <a:off x="8662175" y="4827213"/>
            <a:ext cx="287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pairwise similarity and produce similarity matrix!!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0" name="Google Shape;650;g3abb6a546c7_0_289"/>
          <p:cNvCxnSpPr>
            <a:stCxn id="648" idx="2"/>
            <a:endCxn id="649" idx="0"/>
          </p:cNvCxnSpPr>
          <p:nvPr/>
        </p:nvCxnSpPr>
        <p:spPr>
          <a:xfrm flipH="1">
            <a:off x="10098825" y="4372800"/>
            <a:ext cx="350700" cy="45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abb6a546c7_0_607"/>
          <p:cNvSpPr/>
          <p:nvPr/>
        </p:nvSpPr>
        <p:spPr>
          <a:xfrm>
            <a:off x="8839925" y="5351625"/>
            <a:ext cx="2810400" cy="64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3abb6a546c7_0_607"/>
          <p:cNvSpPr/>
          <p:nvPr/>
        </p:nvSpPr>
        <p:spPr>
          <a:xfrm>
            <a:off x="769100" y="1666550"/>
            <a:ext cx="6249600" cy="4238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7" name="Google Shape;657;g3abb6a546c7_0_6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g3abb6a546c7_0_6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g3abb6a546c7_0_607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g3abb6a546c7_0_607"/>
          <p:cNvSpPr txBox="1"/>
          <p:nvPr/>
        </p:nvSpPr>
        <p:spPr>
          <a:xfrm>
            <a:off x="0" y="12980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 :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Retrieval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61" name="Google Shape;661;g3abb6a546c7_0_607"/>
          <p:cNvCxnSpPr/>
          <p:nvPr/>
        </p:nvCxnSpPr>
        <p:spPr>
          <a:xfrm flipH="1" rot="10800000">
            <a:off x="6" y="7380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62" name="Google Shape;662;g3abb6a546c7_0_6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g3abb6a546c7_0_6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g3abb6a546c7_0_607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5" name="Google Shape;665;g3abb6a546c7_0_6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g3abb6a546c7_0_6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g3abb6a546c7_0_607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8" name="Google Shape;668;g3abb6a546c7_0_6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g3abb6a546c7_0_60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g3abb6a546c7_0_607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1" name="Google Shape;671;g3abb6a546c7_0_6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g3abb6a546c7_0_60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g3abb6a546c7_0_607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4" name="Google Shape;674;g3abb6a546c7_0_6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g3abb6a546c7_0_60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74200" y="1893900"/>
            <a:ext cx="577215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g3abb6a546c7_0_607"/>
          <p:cNvSpPr txBox="1"/>
          <p:nvPr/>
        </p:nvSpPr>
        <p:spPr>
          <a:xfrm>
            <a:off x="1674300" y="986325"/>
            <a:ext cx="88434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we select the best child node and then traverse the “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leaf”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descriptors inside the bucket of the “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internal node.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7" name="Google Shape;677;g3abb6a546c7_0_60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87200" y="2337750"/>
            <a:ext cx="4868501" cy="2369814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3abb6a546c7_0_607"/>
          <p:cNvSpPr/>
          <p:nvPr/>
        </p:nvSpPr>
        <p:spPr>
          <a:xfrm>
            <a:off x="11084050" y="2277813"/>
            <a:ext cx="964800" cy="2489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9" name="Google Shape;679;g3abb6a546c7_0_607"/>
          <p:cNvCxnSpPr>
            <a:stCxn id="678" idx="2"/>
            <a:endCxn id="680" idx="0"/>
          </p:cNvCxnSpPr>
          <p:nvPr/>
        </p:nvCxnSpPr>
        <p:spPr>
          <a:xfrm flipH="1">
            <a:off x="10245250" y="4767513"/>
            <a:ext cx="1321200" cy="58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1" name="Google Shape;681;g3abb6a546c7_0_607"/>
          <p:cNvSpPr txBox="1"/>
          <p:nvPr/>
        </p:nvSpPr>
        <p:spPr>
          <a:xfrm>
            <a:off x="8808425" y="5351625"/>
            <a:ext cx="287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 the ranked vector to get the best/ closest image to our query!!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g3ab687fb00f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g3ab687fb00f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g3ab687fb00f_0_57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9" name="Google Shape;689;g3ab687fb00f_0_57"/>
          <p:cNvSpPr txBox="1"/>
          <p:nvPr/>
        </p:nvSpPr>
        <p:spPr>
          <a:xfrm>
            <a:off x="0" y="0"/>
            <a:ext cx="12192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Metrics</a:t>
            </a:r>
            <a:endParaRPr b="0" i="0" sz="2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0" name="Google Shape;690;g3ab687fb00f_0_57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91" name="Google Shape;691;g3ab687fb00f_0_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g3ab687fb00f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g3ab687fb00f_0_57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4" name="Google Shape;694;g3ab687fb00f_0_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g3ab687fb00f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g3ab687fb00f_0_57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7" name="Google Shape;697;g3ab687fb00f_0_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g3ab687fb00f_0_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g3ab687fb00f_0_57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0" name="Google Shape;700;g3ab687fb00f_0_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g3ab687fb00f_0_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g3ab687fb00f_0_57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3" name="Google Shape;703;g3ab687fb00f_0_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4" name="Google Shape;704;g3ab687fb00f_0_57"/>
          <p:cNvGraphicFramePr/>
          <p:nvPr/>
        </p:nvGraphicFramePr>
        <p:xfrm>
          <a:off x="384914" y="218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{1ADF710F-BB62-43C1-824B-F57393B684B4}</a:tableStyleId>
              </a:tblPr>
              <a:tblGrid>
                <a:gridCol w="5143500"/>
                <a:gridCol w="5143500"/>
              </a:tblGrid>
              <a:tr h="28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Recall@1 -&gt; [category level retrieval]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mAP (mean Average Precision) -&gt; [object level retrieval]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277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Georgia"/>
                        <a:buChar char="●"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Fraction of queries where the top retrieved image has the</a:t>
                      </a: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correct label.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17500" lvl="0" marL="457200" rtl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SzPts val="1400"/>
                        <a:buFont typeface="Georgia"/>
                        <a:buChar char="●"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Absolute aggregation happens in this method.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Georgia"/>
                        <a:buChar char="●"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R_q is number of relevant images and P_q is Precision@k.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-317500" lvl="0" marL="457200" rtl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SzPts val="1400"/>
                        <a:buFont typeface="Georgia"/>
                        <a:buChar char="●"/>
                      </a:pPr>
                      <a:r>
                        <a:rPr lang="en-US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Then mAP takes the mean over all the queries.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05" name="Google Shape;705;g3ab687fb00f_0_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5388" y="1022363"/>
            <a:ext cx="5190322" cy="829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g3ab687fb00f_0_57" title="equ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81100" y="2821200"/>
            <a:ext cx="4117141" cy="542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g3ab687fb00f_0_57" title="latex-equation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70350" y="2894650"/>
            <a:ext cx="2997451" cy="542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g39a284b7f17_11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g39a284b7f17_11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g39a284b7f17_11_54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5" name="Google Shape;715;g39a284b7f17_11_54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16" name="Google Shape;716;g39a284b7f17_11_54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7" name="Google Shape;717;g39a284b7f17_11_54"/>
          <p:cNvSpPr txBox="1"/>
          <p:nvPr/>
        </p:nvSpPr>
        <p:spPr>
          <a:xfrm>
            <a:off x="265800" y="1660150"/>
            <a:ext cx="11603400" cy="29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rPr>
              <a:t>Introduction &amp; Data Selection</a:t>
            </a:r>
            <a:endParaRPr sz="2000">
              <a:solidFill>
                <a:srgbClr val="88888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rPr>
              <a:t>Mechanics</a:t>
            </a:r>
            <a:endParaRPr sz="2000">
              <a:solidFill>
                <a:srgbClr val="88888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Accuracy vs compute tradeoff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rPr>
              <a:t>Advantages, Disadvantages and Experimental Results</a:t>
            </a:r>
            <a:endParaRPr sz="2000">
              <a:solidFill>
                <a:srgbClr val="88888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rPr>
              <a:t>Future directions</a:t>
            </a:r>
            <a:endParaRPr sz="2000">
              <a:solidFill>
                <a:srgbClr val="888888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18" name="Google Shape;718;g39a284b7f17_11_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g39a284b7f17_11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g39a284b7f17_11_54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1" name="Google Shape;721;g39a284b7f17_11_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g39a284b7f17_11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g39a284b7f17_11_54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4" name="Google Shape;724;g39a284b7f17_11_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g39a284b7f17_11_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g39a284b7f17_11_54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7" name="Google Shape;727;g39a284b7f17_11_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g39a284b7f17_11_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g39a284b7f17_11_54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0" name="Google Shape;730;g39a284b7f17_11_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g39a3552e755_9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g39a3552e755_9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g39a3552e755_9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8" name="Google Shape;738;g39a3552e755_9_0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Step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9" name="Google Shape;739;g39a3552e755_9_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0" name="Google Shape;740;g39a3552e755_9_0"/>
          <p:cNvSpPr txBox="1"/>
          <p:nvPr/>
        </p:nvSpPr>
        <p:spPr>
          <a:xfrm>
            <a:off x="232500" y="5461575"/>
            <a:ext cx="11745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Process: 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Tree Traversal → Distance Calculation → Ranking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41" name="Google Shape;741;g39a3552e755_9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g39a3552e755_9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g39a3552e755_9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4" name="Google Shape;744;g39a3552e755_9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g39a3552e755_9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g39a3552e755_9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7" name="Google Shape;747;g39a3552e755_9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g39a3552e755_9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g39a3552e755_9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0" name="Google Shape;750;g39a3552e755_9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g39a3552e755_9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g39a3552e755_9_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3" name="Google Shape;753;g39a3552e755_9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g39a3552e755_9_0" title="fig1.png"/>
          <p:cNvPicPr preferRelativeResize="0"/>
          <p:nvPr/>
        </p:nvPicPr>
        <p:blipFill rotWithShape="1">
          <a:blip r:embed="rId8">
            <a:alphaModFix/>
          </a:blip>
          <a:srcRect b="0" l="1664" r="4306" t="0"/>
          <a:stretch/>
        </p:blipFill>
        <p:spPr>
          <a:xfrm>
            <a:off x="1592156" y="895751"/>
            <a:ext cx="9007693" cy="4462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g39a284b7f17_11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g39a284b7f17_11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g39a284b7f17_11_93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2" name="Google Shape;762;g39a284b7f17_11_93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vs. Compute Trade-off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63" name="Google Shape;763;g39a284b7f17_11_93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4" name="Google Shape;764;g39a284b7f17_11_93"/>
          <p:cNvSpPr txBox="1"/>
          <p:nvPr/>
        </p:nvSpPr>
        <p:spPr>
          <a:xfrm>
            <a:off x="294300" y="1349550"/>
            <a:ext cx="5516100" cy="43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●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Offline Step constructs a hierarchical K-means tree to index global descriptors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●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Traverse the pre-built Hierarchical K-Means tree to find candidate leaf nodes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65" name="Google Shape;765;g39a284b7f17_11_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g39a284b7f17_11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g39a284b7f17_11_93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8" name="Google Shape;768;g39a284b7f17_11_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g39a284b7f17_11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g39a284b7f17_11_93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1" name="Google Shape;771;g39a284b7f17_11_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g39a284b7f17_11_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g39a284b7f17_11_93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4" name="Google Shape;774;g39a284b7f17_11_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g39a284b7f17_11_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g39a284b7f17_11_93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7" name="Google Shape;777;g39a284b7f17_11_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g39a284b7f17_11_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50586" y="1604364"/>
            <a:ext cx="5906100" cy="363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g39a3231195e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g39a3231195e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g39a3231195e_0_2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g39a3231195e_0_25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vs. Compute Trade-off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7" name="Google Shape;787;g39a3231195e_0_25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8" name="Google Shape;788;g39a3231195e_0_25"/>
          <p:cNvSpPr txBox="1"/>
          <p:nvPr/>
        </p:nvSpPr>
        <p:spPr>
          <a:xfrm>
            <a:off x="294300" y="1349550"/>
            <a:ext cx="5516100" cy="43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●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Selecting the closest node is computationally efficient but risky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●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Neighboring clusters that are further from the query centroid but contain the target image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89" name="Google Shape;789;g39a3231195e_0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g39a3231195e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g39a3231195e_0_2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2" name="Google Shape;792;g39a3231195e_0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g39a3231195e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g39a3231195e_0_2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5" name="Google Shape;795;g39a3231195e_0_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g39a3231195e_0_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g39a3231195e_0_2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8" name="Google Shape;798;g39a3231195e_0_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g39a3231195e_0_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g39a3231195e_0_25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1" name="Google Shape;801;g39a3231195e_0_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g39a3231195e_0_25"/>
          <p:cNvPicPr preferRelativeResize="0"/>
          <p:nvPr/>
        </p:nvPicPr>
        <p:blipFill rotWithShape="1">
          <a:blip r:embed="rId8">
            <a:alphaModFix/>
          </a:blip>
          <a:srcRect b="0" l="0" r="3053" t="0"/>
          <a:stretch/>
        </p:blipFill>
        <p:spPr>
          <a:xfrm>
            <a:off x="5983784" y="1388350"/>
            <a:ext cx="5923249" cy="382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g39a3231195e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g39a3231195e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g39a3231195e_0_5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0" name="Google Shape;810;g39a3231195e_0_50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vs. Compute Trade-off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11" name="Google Shape;811;g39a3231195e_0_5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2" name="Google Shape;812;g39a3231195e_0_50"/>
          <p:cNvSpPr txBox="1"/>
          <p:nvPr/>
        </p:nvSpPr>
        <p:spPr>
          <a:xfrm>
            <a:off x="294300" y="1349550"/>
            <a:ext cx="5516100" cy="43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 develop an "Online Step" that balances the trade-off between </a:t>
            </a:r>
            <a:r>
              <a:rPr b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retrieval speed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(pruning the tree) and </a:t>
            </a:r>
            <a:r>
              <a:rPr b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retrieval accuracy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(exploring multiple branches)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13" name="Google Shape;813;g39a3231195e_0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g39a3231195e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g39a3231195e_0_5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6" name="Google Shape;816;g39a3231195e_0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g39a3231195e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g39a3231195e_0_5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9" name="Google Shape;819;g39a3231195e_0_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g39a3231195e_0_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g39a3231195e_0_5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2" name="Google Shape;822;g39a3231195e_0_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g39a3231195e_0_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g39a3231195e_0_5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5" name="Google Shape;825;g39a3231195e_0_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g39a3231195e_0_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63262" y="1456150"/>
            <a:ext cx="5981099" cy="3742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1" name="Google Shape;831;g39a3231195e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g39a3231195e_0_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g39a3231195e_0_12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4" name="Google Shape;834;g39a3231195e_0_125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Algorithms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35" name="Google Shape;835;g39a3231195e_0_125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6" name="Google Shape;836;g39a3231195e_0_125"/>
          <p:cNvSpPr txBox="1"/>
          <p:nvPr/>
        </p:nvSpPr>
        <p:spPr>
          <a:xfrm>
            <a:off x="1019550" y="1792200"/>
            <a:ext cx="101529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AutoNum type="romanUcPeriod"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Intensive Search 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AutoNum type="romanUcPeriod"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Relaxed Search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AutoNum type="romanUcPeriod"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Auto Search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37" name="Google Shape;837;g39a3231195e_0_1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g39a3231195e_0_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g39a3231195e_0_12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0" name="Google Shape;840;g39a3231195e_0_1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g39a3231195e_0_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g39a3231195e_0_12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3" name="Google Shape;843;g39a3231195e_0_1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g39a3231195e_0_1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g39a3231195e_0_12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6" name="Google Shape;846;g39a3231195e_0_1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g39a3231195e_0_1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g39a3231195e_0_125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9" name="Google Shape;849;g39a3231195e_0_1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g39a3231195e_0_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g39a3231195e_0_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g39a3231195e_0_149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7" name="Google Shape;857;g39a3231195e_0_149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Algorithms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58" name="Google Shape;858;g39a3231195e_0_149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9" name="Google Shape;859;g39a3231195e_0_149"/>
          <p:cNvSpPr txBox="1"/>
          <p:nvPr/>
        </p:nvSpPr>
        <p:spPr>
          <a:xfrm>
            <a:off x="1019550" y="1792200"/>
            <a:ext cx="101529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AutoNum type="romanUcPeriod"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Intensive Search 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Georgia"/>
              <a:buAutoNum type="romanUcPeriod"/>
            </a:pPr>
            <a:r>
              <a:rPr lang="en-US" sz="26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rPr>
              <a:t>Relaxed Search</a:t>
            </a:r>
            <a:endParaRPr sz="2600">
              <a:solidFill>
                <a:srgbClr val="88888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Georgia"/>
              <a:buAutoNum type="romanUcPeriod"/>
            </a:pPr>
            <a:r>
              <a:rPr lang="en-US" sz="26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rPr>
              <a:t>Auto Search</a:t>
            </a:r>
            <a:endParaRPr sz="2600">
              <a:solidFill>
                <a:srgbClr val="888888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60" name="Google Shape;860;g39a3231195e_0_1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g39a3231195e_0_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g39a3231195e_0_149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3" name="Google Shape;863;g39a3231195e_0_1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g39a3231195e_0_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g39a3231195e_0_149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6" name="Google Shape;866;g39a3231195e_0_1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g39a3231195e_0_1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g39a3231195e_0_149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9" name="Google Shape;869;g39a3231195e_0_1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g39a3231195e_0_1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g39a3231195e_0_149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2" name="Google Shape;872;g39a3231195e_0_1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Google Shape;877;g39a3231195e_0_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g39a3231195e_0_2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g39a3231195e_0_21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0" name="Google Shape;880;g39a3231195e_0_215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Intensive Search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81" name="Google Shape;881;g39a3231195e_0_215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2" name="Google Shape;882;g39a3231195e_0_215"/>
          <p:cNvSpPr txBox="1"/>
          <p:nvPr/>
        </p:nvSpPr>
        <p:spPr>
          <a:xfrm>
            <a:off x="1019550" y="1131925"/>
            <a:ext cx="10152900" cy="45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Prioritize maximum retrieval speed.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●"/>
            </a:pPr>
            <a:r>
              <a:rPr b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Mechanism:</a:t>
            </a:r>
            <a:endParaRPr b="1"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○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elect 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node per level.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○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Centroid vector closest to the query descriptor.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○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Children of unselected nodes are excluded.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○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Identifies a single leaf node.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Fastest execution at the cost of accuracy loss.</a:t>
            </a:r>
            <a:endParaRPr sz="2600">
              <a:solidFill>
                <a:srgbClr val="888888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83" name="Google Shape;883;g39a3231195e_0_2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g39a3231195e_0_2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g39a3231195e_0_21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6" name="Google Shape;886;g39a3231195e_0_2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g39a3231195e_0_2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g39a3231195e_0_21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9" name="Google Shape;889;g39a3231195e_0_2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g39a3231195e_0_2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g39a3231195e_0_21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2" name="Google Shape;892;g39a3231195e_0_2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g39a3231195e_0_2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g39a3231195e_0_215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5" name="Google Shape;895;g39a3231195e_0_2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g39a3231195e_0_2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20050" y="3358325"/>
            <a:ext cx="4289151" cy="73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Google Shape;901;g39a3231195e_0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g39a3231195e_0_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g39a3231195e_0_171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4" name="Google Shape;904;g39a3231195e_0_171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Algorithms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05" name="Google Shape;905;g39a3231195e_0_171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6" name="Google Shape;906;g39a3231195e_0_171"/>
          <p:cNvSpPr txBox="1"/>
          <p:nvPr/>
        </p:nvSpPr>
        <p:spPr>
          <a:xfrm>
            <a:off x="1019550" y="1792200"/>
            <a:ext cx="101529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Georgia"/>
              <a:buAutoNum type="romanUcPeriod"/>
            </a:pPr>
            <a:r>
              <a:rPr lang="en-US" sz="26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rPr>
              <a:t>Intensive Search </a:t>
            </a:r>
            <a:endParaRPr sz="2600">
              <a:solidFill>
                <a:srgbClr val="88888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AutoNum type="romanUcPeriod"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Relaxed Search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Georgia"/>
              <a:buAutoNum type="romanUcPeriod"/>
            </a:pPr>
            <a:r>
              <a:rPr lang="en-US" sz="26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rPr>
              <a:t>Auto Search</a:t>
            </a:r>
            <a:endParaRPr sz="2600">
              <a:solidFill>
                <a:srgbClr val="888888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07" name="Google Shape;907;g39a3231195e_0_1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g39a3231195e_0_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g39a3231195e_0_171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0" name="Google Shape;910;g39a3231195e_0_1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g39a3231195e_0_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g39a3231195e_0_171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3" name="Google Shape;913;g39a3231195e_0_1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9a3231195e_0_1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g39a3231195e_0_171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6" name="Google Shape;916;g39a3231195e_0_1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9a3231195e_0_1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g39a3231195e_0_171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9" name="Google Shape;919;g39a3231195e_0_1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g39a3231195e_0_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g39a3231195e_0_2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g39a3231195e_0_238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7" name="Google Shape;927;g39a3231195e_0_238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Relaxed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28" name="Google Shape;928;g39a3231195e_0_238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9" name="Google Shape;929;g39a3231195e_0_238"/>
          <p:cNvSpPr txBox="1"/>
          <p:nvPr/>
        </p:nvSpPr>
        <p:spPr>
          <a:xfrm>
            <a:off x="1019550" y="1131925"/>
            <a:ext cx="10152900" cy="45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Traverse </a:t>
            </a:r>
            <a:r>
              <a:rPr b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multiple branches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→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Max. accuracy retention.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●"/>
            </a:pPr>
            <a:r>
              <a:rPr b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Mechanism:</a:t>
            </a:r>
            <a:endParaRPr b="1"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064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○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multiple nodes (N</a:t>
            </a:r>
            <a:r>
              <a:rPr baseline="30000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) at each level based on two hyperparameters: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064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■"/>
            </a:pPr>
            <a:r>
              <a:rPr b="1" i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baseline="-25000" i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​ 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(Absolute Threshold)</a:t>
            </a:r>
            <a:r>
              <a:rPr b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Selects nodes within distance </a:t>
            </a:r>
            <a:r>
              <a:rPr b="1" i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baseline="-25000" i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​ 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of the query.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064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■"/>
            </a:pPr>
            <a:r>
              <a:rPr b="1" i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baseline="-25000" i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​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(Relative Margin)</a:t>
            </a:r>
            <a:r>
              <a:rPr b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Selects nodes within margin </a:t>
            </a:r>
            <a:r>
              <a:rPr b="1" i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baseline="-25000" i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b="1" baseline="-25000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​</a:t>
            </a:r>
            <a:r>
              <a:rPr b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of the closest node.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Explores a broader set of candidate leaf nodes.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Preserves retrieval accuracy but increases computational cost.</a:t>
            </a:r>
            <a:endParaRPr b="1"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30" name="Google Shape;930;g39a3231195e_0_2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g39a3231195e_0_2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g39a3231195e_0_238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3" name="Google Shape;933;g39a3231195e_0_2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g39a3231195e_0_2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g39a3231195e_0_238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6" name="Google Shape;936;g39a3231195e_0_2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g39a3231195e_0_2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g39a3231195e_0_238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9" name="Google Shape;939;g39a3231195e_0_2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g39a3231195e_0_2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g39a3231195e_0_238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2" name="Google Shape;942;g39a3231195e_0_2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g39a3231195e_0_2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8319" y="3028929"/>
            <a:ext cx="4755949" cy="4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g39a3231195e_0_2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67846" y="3964461"/>
            <a:ext cx="6856302" cy="6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g39a3231195e_0_2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503250" y="4800525"/>
            <a:ext cx="2334729" cy="3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g39a3231195e_0_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g39a3231195e_0_1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g39a3231195e_0_193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3" name="Google Shape;953;g39a3231195e_0_193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Algorithms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54" name="Google Shape;954;g39a3231195e_0_193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5" name="Google Shape;955;g39a3231195e_0_193"/>
          <p:cNvSpPr txBox="1"/>
          <p:nvPr/>
        </p:nvSpPr>
        <p:spPr>
          <a:xfrm>
            <a:off x="1019550" y="1792200"/>
            <a:ext cx="101529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Georgia"/>
              <a:buAutoNum type="romanUcPeriod"/>
            </a:pPr>
            <a:r>
              <a:rPr lang="en-US" sz="26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rPr>
              <a:t>Intensive Search </a:t>
            </a:r>
            <a:endParaRPr sz="2600">
              <a:solidFill>
                <a:srgbClr val="88888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Georgia"/>
              <a:buAutoNum type="romanUcPeriod"/>
            </a:pPr>
            <a:r>
              <a:rPr lang="en-US" sz="26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rPr>
              <a:t>Relaxed Search</a:t>
            </a:r>
            <a:endParaRPr sz="2600">
              <a:solidFill>
                <a:srgbClr val="88888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AutoNum type="romanUcPeriod"/>
            </a:pPr>
            <a:r>
              <a:rPr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Auto Search</a:t>
            </a:r>
            <a:endParaRPr sz="2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56" name="Google Shape;956;g39a3231195e_0_1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g39a3231195e_0_1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g39a3231195e_0_193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9" name="Google Shape;959;g39a3231195e_0_1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g39a3231195e_0_1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g39a3231195e_0_193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2" name="Google Shape;962;g39a3231195e_0_1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g39a3231195e_0_1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g39a3231195e_0_193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5" name="Google Shape;965;g39a3231195e_0_1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g39a3231195e_0_1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g39a3231195e_0_193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8" name="Google Shape;968;g39a3231195e_0_1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973;g39a3231195e_0_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g39a3231195e_0_2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g39a3231195e_0_261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6" name="Google Shape;976;g39a3231195e_0_261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77" name="Google Shape;977;g39a3231195e_0_261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8" name="Google Shape;978;g39a3231195e_0_261"/>
          <p:cNvSpPr txBox="1"/>
          <p:nvPr/>
        </p:nvSpPr>
        <p:spPr>
          <a:xfrm>
            <a:off x="1019550" y="1131925"/>
            <a:ext cx="10152900" cy="45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Balance speed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and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accuracy and automates parameter selection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●"/>
            </a:pPr>
            <a:r>
              <a:rPr b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Mechanism:</a:t>
            </a:r>
            <a:endParaRPr b="1"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064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○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Sorts distances at the current level (</a:t>
            </a:r>
            <a:r>
              <a:rPr i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baseline="30000" i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064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○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Identifies the </a:t>
            </a:r>
            <a:r>
              <a:rPr b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largest difference (gap)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between neighbor distances.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064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○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Dynamically sets the threshold </a:t>
            </a:r>
            <a:r>
              <a:rPr b="1" i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baseline="-25000" i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r>
              <a:rPr b="1" i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​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 this gap value.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064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Char char="■"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Eliminates the need for </a:t>
            </a:r>
            <a:r>
              <a:rPr b="1" i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baseline="-25000" i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2​</a:t>
            </a:r>
            <a:r>
              <a:rPr b="1" i="1"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and manual tuning.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Faster than Relaxed, more accurate than Intensive.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79" name="Google Shape;979;g39a3231195e_0_2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g39a3231195e_0_2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g39a3231195e_0_261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2" name="Google Shape;982;g39a3231195e_0_2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g39a3231195e_0_2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g39a3231195e_0_261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5" name="Google Shape;985;g39a3231195e_0_2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g39a3231195e_0_2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g39a3231195e_0_261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8" name="Google Shape;988;g39a3231195e_0_2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g39a3231195e_0_2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g39a3231195e_0_261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1" name="Google Shape;991;g39a3231195e_0_2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g39a3231195e_0_2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69450" y="2539431"/>
            <a:ext cx="7352257" cy="63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g39a3231195e_0_26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39275" y="3642250"/>
            <a:ext cx="3130525" cy="71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g39a284b7f17_11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g39a284b7f17_11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g39a284b7f17_11_16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1" name="Google Shape;1001;g39a284b7f17_11_16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2" name="Google Shape;1002;g39a284b7f17_11_16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3" name="Google Shape;1003;g39a284b7f17_11_16"/>
          <p:cNvSpPr txBox="1"/>
          <p:nvPr/>
        </p:nvSpPr>
        <p:spPr>
          <a:xfrm>
            <a:off x="265800" y="1660150"/>
            <a:ext cx="11603400" cy="29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Introduction &amp; Data Selection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Mechanics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Accuracy vs compute tradeoff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Georgia"/>
              <a:buAutoNum type="arabicPeriod"/>
            </a:pPr>
            <a:r>
              <a:rPr lang="en-US" sz="2000">
                <a:latin typeface="Georgia"/>
                <a:ea typeface="Georgia"/>
                <a:cs typeface="Georgia"/>
                <a:sym typeface="Georgia"/>
              </a:rPr>
              <a:t>Advantages, Disadvantages and Experimental Results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Future directions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04" name="Google Shape;1004;g39a284b7f17_11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g39a284b7f17_11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g39a284b7f17_11_16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7" name="Google Shape;1007;g39a284b7f17_11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g39a284b7f17_11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g39a284b7f17_11_16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0" name="Google Shape;1010;g39a284b7f17_11_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g39a284b7f17_11_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g39a284b7f17_11_16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3" name="Google Shape;1013;g39a284b7f17_11_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g39a284b7f17_11_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g39a284b7f17_11_16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6" name="Google Shape;1016;g39a284b7f17_11_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oogle Shape;1021;g3aba38fc11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g3aba38fc11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g3aba38fc115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4" name="Google Shape;1024;g3aba38fc115_0_0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5" name="Google Shape;1025;g3aba38fc115_0_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26" name="Google Shape;1026;g3aba38fc115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g3aba38fc11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g3aba38fc115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9" name="Google Shape;1029;g3aba38fc115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g3aba38fc11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g3aba38fc115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g3aba38fc115_0_0"/>
          <p:cNvSpPr txBox="1"/>
          <p:nvPr/>
        </p:nvSpPr>
        <p:spPr>
          <a:xfrm>
            <a:off x="0" y="1169555"/>
            <a:ext cx="121920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Char char="●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Large speedup with high accuracy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particular object retrieval, mAP retention stays </a:t>
            </a:r>
            <a:r>
              <a:rPr lang="en-US" sz="1800" u="sng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between about 92.5% and 102%, with an average of 97.8%.​</a:t>
            </a:r>
            <a:endParaRPr sz="1800" u="sng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Flexible trade-off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Intensive search: 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maximum speed.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Relaxed search: 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best accuracy retention.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Auto search: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balanced speed and accuracy, no extra hyperparameters.​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Char char="●"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Works with different backbones and tasks: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Char char="○"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CLIP-based model (UNICOM) for category-level retrieval.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Char char="○"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CNN-based model (R-GeM) for particular object retrieval.​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Shows that 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framework is model-agnostic and reusable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33" name="Google Shape;1033;g3aba38fc115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g3aba38fc11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g3aba38fc115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6" name="Google Shape;1036;g3aba38fc115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g3aba38fc115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g3aba38fc115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9" name="Google Shape;1039;g3aba38fc115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g3aba38fc115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g3aba38fc115_0_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2" name="Google Shape;1042;g3aba38fc115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7" name="Google Shape;1047;g3aa9fb5ca3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g3aa9fb5ca3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g3aa9fb5ca3f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0" name="Google Shape;1050;g3aa9fb5ca3f_0_0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1" name="Google Shape;1051;g3aa9fb5ca3f_0_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52" name="Google Shape;1052;g3aa9fb5ca3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g3aa9fb5ca3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g3aa9fb5ca3f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5" name="Google Shape;1055;g3aa9fb5ca3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g3aa9fb5ca3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g3aa9fb5ca3f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8" name="Google Shape;1058;g3aa9fb5ca3f_0_0"/>
          <p:cNvSpPr txBox="1"/>
          <p:nvPr/>
        </p:nvSpPr>
        <p:spPr>
          <a:xfrm>
            <a:off x="0" y="977055"/>
            <a:ext cx="12192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Scales well with dataset size: 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larger the database, the more retrieval time is reduced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Char char="●"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Offline/online separation: Tree construction is done offline, </a:t>
            </a:r>
            <a:r>
              <a:rPr lang="en-US" sz="1800" u="sng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online step becomes much faster and can be plugged into existing CBIR pipeline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 without retraining the backbone.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59" name="Google Shape;1059;g3aa9fb5ca3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g3aa9fb5ca3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g3aa9fb5ca3f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2" name="Google Shape;1062;g3aa9fb5ca3f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g3aa9fb5ca3f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g3aa9fb5ca3f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5" name="Google Shape;1065;g3aa9fb5ca3f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g3aa9fb5ca3f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g3aa9fb5ca3f_0_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8" name="Google Shape;1068;g3aa9fb5ca3f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g3aa9fb5ca3f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g3aa9fb5ca3f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g3aa9fb5ca3f_0_37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6" name="Google Shape;1076;g3aa9fb5ca3f_0_37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7" name="Google Shape;1077;g3aa9fb5ca3f_0_37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78" name="Google Shape;1078;g3aa9fb5ca3f_0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g3aa9fb5ca3f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g3aa9fb5ca3f_0_37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1" name="Google Shape;1081;g3aa9fb5ca3f_0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g3aa9fb5ca3f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g3aa9fb5ca3f_0_37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4" name="Google Shape;1084;g3aa9fb5ca3f_0_37"/>
          <p:cNvSpPr txBox="1"/>
          <p:nvPr/>
        </p:nvSpPr>
        <p:spPr>
          <a:xfrm>
            <a:off x="0" y="1217674"/>
            <a:ext cx="12192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Speed–accuracy trade-off</a:t>
            </a: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Intensive search gives the highest speed but can significantly hurt accuracy on </a:t>
            </a:r>
            <a:r>
              <a:rPr lang="en-US" sz="1800" u="sng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large datasets (big drop in Recall@1 on In-Shop).​</a:t>
            </a:r>
            <a:endParaRPr sz="1800" u="sng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Char char="●"/>
            </a:pP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Less benefit on small datasets or dynamic data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cluster tree is built offline, when many new images arrive the tree may need to be rebuilt which is 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less ideal for highly dynamic systems.​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Implementation-level limitation: All experiments use Python, </a:t>
            </a:r>
            <a:r>
              <a:rPr b="1" lang="en-US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authors note that using a compiled language could further reduce overhead and improve speed beyond the reported numbers.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85" name="Google Shape;1085;g3aa9fb5ca3f_0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g3aa9fb5ca3f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g3aa9fb5ca3f_0_37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8" name="Google Shape;1088;g3aa9fb5ca3f_0_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g3aa9fb5ca3f_0_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g3aa9fb5ca3f_0_37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1" name="Google Shape;1091;g3aa9fb5ca3f_0_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g3aa9fb5ca3f_0_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g3aa9fb5ca3f_0_37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4" name="Google Shape;1094;g3aa9fb5ca3f_0_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g39a337dd11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g39a337dd11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g39a337dd114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2" name="Google Shape;1102;g39a337dd114_0_0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3" name="Google Shape;1103;g39a337dd114_0_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04" name="Google Shape;1104;g39a337dd11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g39a337dd11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g39a337dd114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7" name="Google Shape;1107;g39a337dd11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g39a337dd11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g39a337dd114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0" name="Google Shape;1110;g39a337dd11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g39a337dd11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g39a337dd114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3" name="Google Shape;1113;g39a337dd114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g39a337dd114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g39a337dd114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6" name="Google Shape;1116;g39a337dd114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g39a337dd114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g39a337dd114_0_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9" name="Google Shape;1119;g39a337dd114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g39a337dd114_0_0"/>
          <p:cNvSpPr txBox="1"/>
          <p:nvPr/>
        </p:nvSpPr>
        <p:spPr>
          <a:xfrm>
            <a:off x="9272336" y="1217683"/>
            <a:ext cx="27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Category-Level Retrieval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1" name="Google Shape;1121;g39a337dd114_0_0"/>
          <p:cNvSpPr txBox="1"/>
          <p:nvPr/>
        </p:nvSpPr>
        <p:spPr>
          <a:xfrm>
            <a:off x="9320501" y="2339661"/>
            <a:ext cx="231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Particular Object Retrieval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2" name="Google Shape;1122;g39a337dd114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654200"/>
            <a:ext cx="9172076" cy="249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g39a337dd114_0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3400" y="4253413"/>
            <a:ext cx="1039725" cy="853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4" name="Google Shape;1124;g39a337dd114_0_0"/>
          <p:cNvCxnSpPr/>
          <p:nvPr/>
        </p:nvCxnSpPr>
        <p:spPr>
          <a:xfrm>
            <a:off x="2045370" y="4712375"/>
            <a:ext cx="641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25" name="Google Shape;1125;g39a337dd114_0_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89375" y="3756519"/>
            <a:ext cx="1499925" cy="817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g39a337dd114_0_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81494" y="4983912"/>
            <a:ext cx="1218118" cy="8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g39a337dd114_0_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148023" y="4983912"/>
            <a:ext cx="1833077" cy="8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g39a337dd114_0_0"/>
          <p:cNvSpPr txBox="1"/>
          <p:nvPr/>
        </p:nvSpPr>
        <p:spPr>
          <a:xfrm>
            <a:off x="1709560" y="3267988"/>
            <a:ext cx="27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Category-Level Retrieval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29" name="Google Shape;1129;g39a337dd114_0_0"/>
          <p:cNvCxnSpPr/>
          <p:nvPr/>
        </p:nvCxnSpPr>
        <p:spPr>
          <a:xfrm>
            <a:off x="9164150" y="762003"/>
            <a:ext cx="7800" cy="115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g39a337dd114_0_0"/>
          <p:cNvCxnSpPr/>
          <p:nvPr/>
        </p:nvCxnSpPr>
        <p:spPr>
          <a:xfrm>
            <a:off x="9176182" y="2097508"/>
            <a:ext cx="7800" cy="83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31" name="Google Shape;1131;g39a337dd114_0_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071624" y="4186212"/>
            <a:ext cx="828784" cy="9204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2" name="Google Shape;1132;g39a337dd114_0_0"/>
          <p:cNvCxnSpPr/>
          <p:nvPr/>
        </p:nvCxnSpPr>
        <p:spPr>
          <a:xfrm>
            <a:off x="8173438" y="4624125"/>
            <a:ext cx="641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33" name="Google Shape;1133;g39a337dd114_0_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088200" y="3637303"/>
            <a:ext cx="828775" cy="1408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g39a337dd114_0_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272325" y="5207533"/>
            <a:ext cx="1039725" cy="1027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g39a337dd114_0_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590870" y="3961677"/>
            <a:ext cx="1039725" cy="1436711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g39a337dd114_0_0"/>
          <p:cNvSpPr txBox="1"/>
          <p:nvPr/>
        </p:nvSpPr>
        <p:spPr>
          <a:xfrm>
            <a:off x="8336415" y="3219072"/>
            <a:ext cx="311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Particular Object Retrieval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g39a284b7f17_11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g39a284b7f17_11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g39a284b7f17_11_3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4" name="Google Shape;1144;g39a284b7f17_11_35"/>
          <p:cNvSpPr txBox="1"/>
          <p:nvPr/>
        </p:nvSpPr>
        <p:spPr>
          <a:xfrm>
            <a:off x="0" y="0"/>
            <a:ext cx="1219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45" name="Google Shape;1145;g39a284b7f17_11_35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6" name="Google Shape;1146;g39a284b7f17_11_35"/>
          <p:cNvSpPr txBox="1"/>
          <p:nvPr/>
        </p:nvSpPr>
        <p:spPr>
          <a:xfrm>
            <a:off x="265800" y="1660150"/>
            <a:ext cx="11603400" cy="29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Introduction &amp; Data Selection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Mechanics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Accuracy vs compute tradeoff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B7B7B7"/>
                </a:solidFill>
                <a:latin typeface="Georgia"/>
                <a:ea typeface="Georgia"/>
                <a:cs typeface="Georgia"/>
                <a:sym typeface="Georgia"/>
              </a:rPr>
              <a:t>Advantages, Disadvantages and Experimental Results</a:t>
            </a:r>
            <a:endParaRPr sz="2000">
              <a:solidFill>
                <a:srgbClr val="B7B7B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Future directions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47" name="Google Shape;1147;g39a284b7f17_11_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g39a284b7f17_11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g39a284b7f17_11_35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0" name="Google Shape;1150;g39a284b7f17_11_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g39a284b7f17_11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g39a284b7f17_11_3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3" name="Google Shape;1153;g39a284b7f17_11_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4" name="Google Shape;1154;g39a284b7f17_11_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g39a284b7f17_11_35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6" name="Google Shape;1156;g39a284b7f17_11_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g39a284b7f17_11_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g39a284b7f17_11_35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9" name="Google Shape;1159;g39a284b7f17_11_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g3aab165c69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g3aab165c69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g3aab165c69e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7" name="Google Shape;1167;g3aab165c69e_0_0"/>
          <p:cNvSpPr txBox="1"/>
          <p:nvPr/>
        </p:nvSpPr>
        <p:spPr>
          <a:xfrm>
            <a:off x="0" y="0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Deployment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3 major large-scale retrieval methods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68" name="Google Shape;1168;g3aab165c69e_0_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69" name="Google Shape;1169;g3aab165c69e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g3aab165c69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g3aab165c69e_0_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2" name="Google Shape;1172;g3aab165c69e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g3aab165c69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g3aab165c69e_0_0"/>
          <p:cNvSpPr txBox="1"/>
          <p:nvPr/>
        </p:nvSpPr>
        <p:spPr>
          <a:xfrm>
            <a:off x="1676100" y="5471874"/>
            <a:ext cx="851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ANN: Approximate Nearest Neighbor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HNSW: Hierarchical Navigable Small World                      </a:t>
            </a:r>
            <a:r>
              <a:rPr lang="en-US" sz="1000">
                <a:solidFill>
                  <a:schemeClr val="dk1"/>
                </a:solidFill>
              </a:rPr>
              <a:t>IVF: Inverted File Index</a:t>
            </a:r>
            <a:endParaRPr sz="600"/>
          </a:p>
        </p:txBody>
      </p:sp>
      <p:sp>
        <p:nvSpPr>
          <p:cNvPr id="1175" name="Google Shape;1175;g3aab165c69e_0_0"/>
          <p:cNvSpPr txBox="1"/>
          <p:nvPr/>
        </p:nvSpPr>
        <p:spPr>
          <a:xfrm>
            <a:off x="240900" y="754000"/>
            <a:ext cx="76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</a:rPr>
              <a:t>Retrieval efficiency is the key to excellent image retrieval.</a:t>
            </a:r>
            <a:endParaRPr b="1" sz="2000"/>
          </a:p>
        </p:txBody>
      </p:sp>
      <p:sp>
        <p:nvSpPr>
          <p:cNvPr id="1176" name="Google Shape;1176;g3aab165c69e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7" name="Google Shape;1177;g3aab165c69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g3aab165c69e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67700" y="1368100"/>
            <a:ext cx="9629206" cy="3856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g3aab165c69e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g3aab165c69e_0_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1" name="Google Shape;1181;g3aab165c69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g3aab165c69e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g3aab165c69e_0_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4" name="Google Shape;1184;g3aab165c69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9" name="Google Shape;1189;g3aab165c69e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0" name="Google Shape;1190;g3aab165c69e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g3aab165c69e_0_29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2" name="Google Shape;1192;g3aab165c69e_0_29"/>
          <p:cNvSpPr txBox="1"/>
          <p:nvPr/>
        </p:nvSpPr>
        <p:spPr>
          <a:xfrm>
            <a:off x="89800" y="92425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(Approximate Nearest Neighbors Search) Overview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3" name="Google Shape;1193;g3aab165c69e_0_29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94" name="Google Shape;1194;g3aab165c69e_0_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g3aab165c69e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g3aab165c69e_0_29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7" name="Google Shape;1197;g3aab165c69e_0_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g3aab165c69e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g3aab165c69e_0_29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0" name="Google Shape;1200;g3aab165c69e_0_29"/>
          <p:cNvSpPr txBox="1"/>
          <p:nvPr/>
        </p:nvSpPr>
        <p:spPr>
          <a:xfrm>
            <a:off x="511900" y="884363"/>
            <a:ext cx="11347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Purpose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Quickly find the top-K most similar points to a query in large-scale data (vectors)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Categories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○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Tree-based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○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Graph-based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○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Hashing-based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01" name="Google Shape;1201;g3aab165c69e_0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900" y="2961911"/>
            <a:ext cx="11142199" cy="319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g3aab165c69e_0_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g3aab165c69e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g3aab165c69e_0_29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5" name="Google Shape;1205;g3aab165c69e_0_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g3aab165c69e_0_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g3aab165c69e_0_29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8" name="Google Shape;1208;g3aab165c69e_0_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g3aab165c69e_0_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g3aab165c69e_0_29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1" name="Google Shape;1211;g3aab165c69e_0_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6" name="Google Shape;1216;g3aab165c69e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g3aab165c69e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g3aab165c69e_0_5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9" name="Google Shape;1219;g3aab165c69e_0_50"/>
          <p:cNvSpPr txBox="1"/>
          <p:nvPr/>
        </p:nvSpPr>
        <p:spPr>
          <a:xfrm>
            <a:off x="0" y="0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Example1: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HNSW (Hierarchical Navigable Small World)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20" name="Google Shape;1220;g3aab165c69e_0_50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21" name="Google Shape;1221;g3aab165c69e_0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g3aab165c69e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g3aab165c69e_0_5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4" name="Google Shape;1224;g3aab165c69e_0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g3aab165c69e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g3aab165c69e_0_50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7" name="Google Shape;1227;g3aab165c69e_0_50"/>
          <p:cNvSpPr txBox="1"/>
          <p:nvPr/>
        </p:nvSpPr>
        <p:spPr>
          <a:xfrm>
            <a:off x="0" y="783675"/>
            <a:ext cx="113478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Industry standard:</a:t>
            </a:r>
            <a:r>
              <a:rPr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excellent trade-off between high recall and low latency</a:t>
            </a:r>
            <a:endParaRPr b="1"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746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Hierarchical structure: </a:t>
            </a:r>
            <a:r>
              <a:rPr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fast coarse search + accurate local search</a:t>
            </a:r>
            <a:endParaRPr b="1" sz="2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28" name="Google Shape;1228;g3aab165c69e_0_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52628" y="2241338"/>
            <a:ext cx="5825635" cy="328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g3aab165c69e_0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g3aab165c69e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g3aab165c69e_0_5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2" name="Google Shape;1232;g3aab165c69e_0_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g3aab165c69e_0_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g3aab165c69e_0_50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5" name="Google Shape;1235;g3aab165c69e_0_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6" name="Google Shape;1236;g3aab165c69e_0_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g3aab165c69e_0_50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8" name="Google Shape;1238;g3aab165c69e_0_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3" name="Google Shape;1243;g3aab165c69e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g3aab165c69e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g3aab165c69e_0_71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6" name="Google Shape;1246;g3aab165c69e_0_71"/>
          <p:cNvSpPr txBox="1"/>
          <p:nvPr/>
        </p:nvSpPr>
        <p:spPr>
          <a:xfrm>
            <a:off x="0" y="0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2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Deep Hashing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7" name="Google Shape;1247;g3aab165c69e_0_71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48" name="Google Shape;1248;g3aab165c69e_0_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g3aab165c69e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g3aab165c69e_0_71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1" name="Google Shape;1251;g3aab165c69e_0_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g3aab165c69e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g3aab165c69e_0_71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4" name="Google Shape;1254;g3aab165c69e_0_71"/>
          <p:cNvSpPr txBox="1"/>
          <p:nvPr/>
        </p:nvSpPr>
        <p:spPr>
          <a:xfrm>
            <a:off x="70750" y="793600"/>
            <a:ext cx="88506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What</a:t>
            </a:r>
            <a:r>
              <a:rPr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DNN</a:t>
            </a:r>
            <a:r>
              <a:rPr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+ Hashing </a:t>
            </a:r>
            <a:r>
              <a:rPr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r>
              <a:rPr b="1"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convert each image into a binary hash code</a:t>
            </a:r>
            <a:endParaRPr b="1"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Why</a:t>
            </a:r>
            <a:r>
              <a:rPr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endParaRPr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ramatically reduce storage requirements and enable extremely fast comparisons</a:t>
            </a:r>
            <a:r>
              <a:rPr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;</a:t>
            </a:r>
            <a:r>
              <a:rPr b="1"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Suitable for </a:t>
            </a:r>
            <a:r>
              <a:rPr b="1"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million–billion scale</a:t>
            </a:r>
            <a:r>
              <a:rPr lang="en-US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databases.</a:t>
            </a:r>
            <a:endParaRPr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55" name="Google Shape;1255;g3aab165c69e_0_71"/>
          <p:cNvPicPr preferRelativeResize="0"/>
          <p:nvPr/>
        </p:nvPicPr>
        <p:blipFill rotWithShape="1">
          <a:blip r:embed="rId6">
            <a:alphaModFix/>
          </a:blip>
          <a:srcRect b="33962" l="3603" r="4239" t="0"/>
          <a:stretch/>
        </p:blipFill>
        <p:spPr>
          <a:xfrm>
            <a:off x="2510665" y="2302423"/>
            <a:ext cx="7349359" cy="14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g3aab165c69e_0_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02574" y="3703302"/>
            <a:ext cx="1357850" cy="29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g3aab165c69e_0_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37375" y="3703029"/>
            <a:ext cx="1245491" cy="2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g3aab165c69e_0_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19649" y="4106286"/>
            <a:ext cx="771838" cy="287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9" name="Google Shape;1259;g3aab165c69e_0_71"/>
          <p:cNvCxnSpPr>
            <a:stCxn id="1256" idx="3"/>
            <a:endCxn id="1257" idx="1"/>
          </p:cNvCxnSpPr>
          <p:nvPr/>
        </p:nvCxnSpPr>
        <p:spPr>
          <a:xfrm flipH="1" rot="10800000">
            <a:off x="3560424" y="3846652"/>
            <a:ext cx="3771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60" name="Google Shape;1260;g3aab165c69e_0_7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27720" y="3933750"/>
            <a:ext cx="2848650" cy="10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g3aab165c69e_0_7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07087" y="5239400"/>
            <a:ext cx="2905750" cy="793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2" name="Google Shape;1262;g3aab165c69e_0_71"/>
          <p:cNvCxnSpPr>
            <a:stCxn id="1260" idx="2"/>
            <a:endCxn id="1261" idx="0"/>
          </p:cNvCxnSpPr>
          <p:nvPr/>
        </p:nvCxnSpPr>
        <p:spPr>
          <a:xfrm>
            <a:off x="7052045" y="4952375"/>
            <a:ext cx="7800" cy="28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63" name="Google Shape;1263;g3aab165c69e_0_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g3aab165c69e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g3aab165c69e_0_71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6" name="Google Shape;1266;g3aab165c69e_0_7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g3aab165c69e_0_7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g3aab165c69e_0_71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9" name="Google Shape;1269;g3aab165c69e_0_7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g3aab165c69e_0_7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g3aab165c69e_0_71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2" name="Google Shape;1272;g3aab165c69e_0_7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" name="Google Shape;1277;g39a284b7f17_9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g39a284b7f17_9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g39a284b7f17_9_4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0" name="Google Shape;1280;g39a284b7f17_9_4"/>
          <p:cNvSpPr txBox="1"/>
          <p:nvPr/>
        </p:nvSpPr>
        <p:spPr>
          <a:xfrm>
            <a:off x="67025" y="192200"/>
            <a:ext cx="121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Content-based Image Retrieval 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81" name="Google Shape;1281;g39a284b7f17_9_4"/>
          <p:cNvCxnSpPr/>
          <p:nvPr/>
        </p:nvCxnSpPr>
        <p:spPr>
          <a:xfrm flipH="1" rot="10800000">
            <a:off x="6" y="654189"/>
            <a:ext cx="6318000" cy="30600"/>
          </a:xfrm>
          <a:prstGeom prst="straightConnector1">
            <a:avLst/>
          </a:prstGeom>
          <a:noFill/>
          <a:ln cap="flat" cmpd="sng" w="9525">
            <a:solidFill>
              <a:srgbClr val="0E4D3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2" name="Google Shape;1282;g39a284b7f17_9_4"/>
          <p:cNvSpPr txBox="1"/>
          <p:nvPr/>
        </p:nvSpPr>
        <p:spPr>
          <a:xfrm>
            <a:off x="2347200" y="4295800"/>
            <a:ext cx="7229400" cy="16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Q&amp;A</a:t>
            </a:r>
            <a:endParaRPr sz="6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83" name="Google Shape;1283;g39a284b7f17_9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g39a284b7f17_9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g39a284b7f17_9_4"/>
          <p:cNvSpPr txBox="1"/>
          <p:nvPr/>
        </p:nvSpPr>
        <p:spPr>
          <a:xfrm>
            <a:off x="-1" y="6288587"/>
            <a:ext cx="59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 Paper Presentation | Ronit Dutta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6" name="Google Shape;1286;g39a284b7f17_9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g39a284b7f17_9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0934" y="6330522"/>
            <a:ext cx="14999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g39a284b7f17_9_4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9" name="Google Shape;1289;g39a284b7f17_9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41462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0" name="Google Shape;1290;g39a284b7f17_9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g39a284b7f17_9_4"/>
          <p:cNvSpPr txBox="1"/>
          <p:nvPr/>
        </p:nvSpPr>
        <p:spPr>
          <a:xfrm>
            <a:off x="-1" y="6288587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2" name="Google Shape;1292;g39a284b7f17_9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3" name="Google Shape;1293;g39a284b7f17_9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" y="6211289"/>
            <a:ext cx="12192003" cy="128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g39a284b7f17_9_4"/>
          <p:cNvSpPr txBox="1"/>
          <p:nvPr/>
        </p:nvSpPr>
        <p:spPr>
          <a:xfrm>
            <a:off x="-1" y="6234672"/>
            <a:ext cx="598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Professional</a:t>
            </a:r>
            <a:b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Presentation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5" name="Google Shape;1295;g39a284b7f17_9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90875" y="6330524"/>
            <a:ext cx="1500023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g39a284b7f17_9_4"/>
          <p:cNvPicPr preferRelativeResize="0"/>
          <p:nvPr/>
        </p:nvPicPr>
        <p:blipFill rotWithShape="1">
          <a:blip r:embed="rId8">
            <a:alphaModFix/>
          </a:blip>
          <a:srcRect b="5354" l="29780" r="0" t="29588"/>
          <a:stretch/>
        </p:blipFill>
        <p:spPr>
          <a:xfrm>
            <a:off x="2755000" y="1003175"/>
            <a:ext cx="6318000" cy="3292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2022-11-19T15:54:29Z</dcterms:created>
  <dc:creator>Shobhit Saheb Dey</dc:creator>
</cp:coreProperties>
</file>