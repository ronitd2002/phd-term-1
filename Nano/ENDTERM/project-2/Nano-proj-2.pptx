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hKMIYzBNgf2Fknkwvcl8n3EBUh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ACC692-DAFA-4698-97F5-EBC0EA8BECD6}">
  <a:tblStyle styleId="{DCACC692-DAFA-4698-97F5-EBC0EA8BEC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a284b7f1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9a284b7f17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3ec9b3325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3a3ec9b3325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a284b7f17_1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9a284b7f17_1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a284b7f17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9a284b7f17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e2074359b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ae2074359b_1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3ec9b3325_1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a3ec9b3325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3ec9b3325_1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3a3ec9b3325_1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e2074359b_1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ae2074359b_1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9a284b7f17_2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g39a284b7f17_2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60d5e97b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g3a60d5e97bb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a3ec9b3325_1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g3a3ec9b3325_1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af79cd07fb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g3af79cd07fb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60d5e97b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a60d5e97b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60d5e97bb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g3a60d5e97bb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a60d5e97bb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1" name="Google Shape;541;g3a60d5e97bb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9a284b7f17_11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1" name="Google Shape;571;g39a284b7f17_11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3ec9b3325_1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1" name="Google Shape;601;g3a3ec9b3325_1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3ec9b3325_1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g3a3ec9b3325_1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ae9437f066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1" name="Google Shape;661;g3ae9437f066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ae9437f066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1" name="Google Shape;691;g3ae9437f066_0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f6a2419c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1" name="Google Shape;721;g3af6a2419c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ae9437f066_0_2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1" name="Google Shape;751;g3ae9437f066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e9437f066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1" name="Google Shape;781;g3ae9437f066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9a284b7f17_1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1" name="Google Shape;811;g39a284b7f17_1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ae9437f066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1" name="Google Shape;841;g3ae9437f066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af6a2419cc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1" name="Google Shape;871;g3af6a2419cc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ae9437f066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1" name="Google Shape;901;g3ae9437f066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af6a2419cc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1" name="Google Shape;931;g3af6a2419cc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a3ec9b3325_1_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1" name="Google Shape;961;g3a3ec9b3325_1_3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a3ec9b3325_1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3" name="Google Shape;993;g3a3ec9b3325_1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9a284b7f17_1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5" name="Google Shape;1025;g39a284b7f17_1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a3ec9b3325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5" name="Google Shape;1055;g3a3ec9b3325_1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a3ec9b3325_1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7" name="Google Shape;1087;g3a3ec9b3325_1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aab165c69e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
        <p:nvSpPr>
          <p:cNvPr id="1117" name="Google Shape;1117;g3aab165c69e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a60c6796b4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1" name="Google Shape;1151;g3a60c6796b4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a60c6796b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1" name="Google Shape;1181;g3a60c6796b4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a60c6796b4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2" name="Google Shape;1212;g3a60c6796b4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a60c6796b4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
        <p:nvSpPr>
          <p:cNvPr id="1242" name="Google Shape;1242;g3a60c6796b4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af740ee302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
        <p:nvSpPr>
          <p:cNvPr id="1276" name="Google Shape;1276;g3af740ee302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9a284b7f17_9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8" name="Google Shape;1308;g39a284b7f17_9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4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p:nvPr>
            <p:ph idx="2" type="pic"/>
          </p:nvPr>
        </p:nvSpPr>
        <p:spPr>
          <a:xfrm>
            <a:off x="5183188" y="987425"/>
            <a:ext cx="6172200" cy="4873625"/>
          </a:xfrm>
          <a:prstGeom prst="rect">
            <a:avLst/>
          </a:prstGeom>
          <a:noFill/>
          <a:ln>
            <a:noFill/>
          </a:ln>
        </p:spPr>
      </p:sp>
      <p:sp>
        <p:nvSpPr>
          <p:cNvPr id="64" name="Google Shape;64;p4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4.png"/><Relationship Id="rId10"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png"/><Relationship Id="rId10"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26.gif"/></Relationships>
</file>

<file path=ppt/slides/_rels/slide6.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2.png"/><Relationship Id="rId13" Type="http://schemas.openxmlformats.org/officeDocument/2006/relationships/image" Target="../media/image28.png"/><Relationship Id="rId12" Type="http://schemas.openxmlformats.org/officeDocument/2006/relationships/image" Target="../media/image25.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14" Type="http://schemas.openxmlformats.org/officeDocument/2006/relationships/image" Target="../media/image39.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7.png"/><Relationship Id="rId13" Type="http://schemas.openxmlformats.org/officeDocument/2006/relationships/image" Target="../media/image21.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0" Type="http://schemas.openxmlformats.org/officeDocument/2006/relationships/image" Target="../media/image23.jp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0"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1.xml.rels><?xml version="1.0" encoding="UTF-8" standalone="yes"?><Relationships xmlns="http://schemas.openxmlformats.org/package/2006/relationships"><Relationship Id="rId10" Type="http://schemas.openxmlformats.org/officeDocument/2006/relationships/image" Target="../media/image24.gif"/><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3.xml.rels><?xml version="1.0" encoding="UTF-8" standalone="yes"?><Relationships xmlns="http://schemas.openxmlformats.org/package/2006/relationships"><Relationship Id="rId11" Type="http://schemas.openxmlformats.org/officeDocument/2006/relationships/image" Target="../media/image30.jpg"/><Relationship Id="rId10" Type="http://schemas.openxmlformats.org/officeDocument/2006/relationships/image" Target="../media/image27.jpg"/><Relationship Id="rId12" Type="http://schemas.openxmlformats.org/officeDocument/2006/relationships/image" Target="../media/image36.jp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4.xml.rels><?xml version="1.0" encoding="UTF-8" standalone="yes"?><Relationships xmlns="http://schemas.openxmlformats.org/package/2006/relationships"><Relationship Id="rId10" Type="http://schemas.openxmlformats.org/officeDocument/2006/relationships/image" Target="../media/image36.jp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5.xml.rels><?xml version="1.0" encoding="UTF-8" standalone="yes"?><Relationships xmlns="http://schemas.openxmlformats.org/package/2006/relationships"><Relationship Id="rId11" Type="http://schemas.openxmlformats.org/officeDocument/2006/relationships/image" Target="../media/image27.jpg"/><Relationship Id="rId10" Type="http://schemas.openxmlformats.org/officeDocument/2006/relationships/image" Target="../media/image30.jpg"/><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7.xml.rels><?xml version="1.0" encoding="UTF-8" standalone="yes"?><Relationships xmlns="http://schemas.openxmlformats.org/package/2006/relationships"><Relationship Id="rId10"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19.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0.xml.rels><?xml version="1.0" encoding="UTF-8" standalone="yes"?><Relationships xmlns="http://schemas.openxmlformats.org/package/2006/relationships"><Relationship Id="rId10" Type="http://schemas.openxmlformats.org/officeDocument/2006/relationships/image" Target="../media/image33.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1.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2.xml.rels><?xml version="1.0" encoding="UTF-8" standalone="yes"?><Relationships xmlns="http://schemas.openxmlformats.org/package/2006/relationships"><Relationship Id="rId10"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3.xml.rels><?xml version="1.0" encoding="UTF-8" standalone="yes"?><Relationships xmlns="http://schemas.openxmlformats.org/package/2006/relationships"><Relationship Id="rId10"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4.xml.rels><?xml version="1.0" encoding="UTF-8" standalone="yes"?><Relationships xmlns="http://schemas.openxmlformats.org/package/2006/relationships"><Relationship Id="rId10"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5.xml.rels><?xml version="1.0" encoding="UTF-8" standalone="yes"?><Relationships xmlns="http://schemas.openxmlformats.org/package/2006/relationships"><Relationship Id="rId10"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6.xml.rels><?xml version="1.0" encoding="UTF-8" standalone="yes"?><Relationships xmlns="http://schemas.openxmlformats.org/package/2006/relationships"><Relationship Id="rId10"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7.xml.rels><?xml version="1.0" encoding="UTF-8" standalone="yes"?><Relationships xmlns="http://schemas.openxmlformats.org/package/2006/relationships"><Relationship Id="rId10"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8.xml.rels><?xml version="1.0" encoding="UTF-8" standalone="yes"?><Relationships xmlns="http://schemas.openxmlformats.org/package/2006/relationships"><Relationship Id="rId10" Type="http://schemas.openxmlformats.org/officeDocument/2006/relationships/image" Target="../media/image41.jp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29.xml.rels><?xml version="1.0" encoding="UTF-8" standalone="yes"?><Relationships xmlns="http://schemas.openxmlformats.org/package/2006/relationships"><Relationship Id="rId10" Type="http://schemas.openxmlformats.org/officeDocument/2006/relationships/image" Target="../media/image46.jpg"/><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2.xml.rels><?xml version="1.0" encoding="UTF-8" standalone="yes"?><Relationships xmlns="http://schemas.openxmlformats.org/package/2006/relationships"><Relationship Id="rId10"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3.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4.xml.rels><?xml version="1.0" encoding="UTF-8" standalone="yes"?><Relationships xmlns="http://schemas.openxmlformats.org/package/2006/relationships"><Relationship Id="rId10"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5.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7.png"/><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6.xml.rels><?xml version="1.0" encoding="UTF-8" standalone="yes"?><Relationships xmlns="http://schemas.openxmlformats.org/package/2006/relationships"><Relationship Id="rId10"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7.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8.xml.rels><?xml version="1.0" encoding="UTF-8" standalone="yes"?><Relationships xmlns="http://schemas.openxmlformats.org/package/2006/relationships"><Relationship Id="rId10" Type="http://schemas.openxmlformats.org/officeDocument/2006/relationships/image" Target="../media/image47.png"/><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39.xml.rels><?xml version="1.0" encoding="UTF-8" standalone="yes"?><Relationships xmlns="http://schemas.openxmlformats.org/package/2006/relationships"><Relationship Id="rId10" Type="http://schemas.openxmlformats.org/officeDocument/2006/relationships/image" Target="../media/image48.png"/><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501782" y="-935852"/>
            <a:ext cx="13053689" cy="12579996"/>
          </a:xfrm>
          <a:prstGeom prst="rect">
            <a:avLst/>
          </a:prstGeom>
          <a:noFill/>
          <a:ln>
            <a:noFill/>
          </a:ln>
        </p:spPr>
      </p:pic>
      <p:sp>
        <p:nvSpPr>
          <p:cNvPr id="85" name="Google Shape;85;p1"/>
          <p:cNvSpPr txBox="1"/>
          <p:nvPr/>
        </p:nvSpPr>
        <p:spPr>
          <a:xfrm>
            <a:off x="460225" y="1010475"/>
            <a:ext cx="9149400" cy="15600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lang="en-US" sz="4400">
                <a:solidFill>
                  <a:schemeClr val="lt1"/>
                </a:solidFill>
                <a:latin typeface="Times New Roman"/>
                <a:ea typeface="Times New Roman"/>
                <a:cs typeface="Times New Roman"/>
                <a:sym typeface="Times New Roman"/>
              </a:rPr>
              <a:t>Current-voltage and temporal analysis of NMOS capacitor leakage current for</a:t>
            </a:r>
            <a:endParaRPr sz="4400">
              <a:solidFill>
                <a:schemeClr val="lt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i="1" lang="en-US" sz="4400">
                <a:solidFill>
                  <a:schemeClr val="lt1"/>
                </a:solidFill>
                <a:latin typeface="Georgia"/>
                <a:ea typeface="Georgia"/>
                <a:cs typeface="Georgia"/>
                <a:sym typeface="Georgia"/>
              </a:rPr>
              <a:t>SiO</a:t>
            </a:r>
            <a:r>
              <a:rPr baseline="-25000" i="1" lang="en-US" sz="4400">
                <a:solidFill>
                  <a:schemeClr val="lt1"/>
                </a:solidFill>
                <a:latin typeface="Georgia"/>
                <a:ea typeface="Georgia"/>
                <a:cs typeface="Georgia"/>
                <a:sym typeface="Georgia"/>
              </a:rPr>
              <a:t>2</a:t>
            </a:r>
            <a:r>
              <a:rPr i="1" lang="en-US" sz="4400">
                <a:solidFill>
                  <a:schemeClr val="lt1"/>
                </a:solidFill>
                <a:latin typeface="Times New Roman"/>
                <a:ea typeface="Times New Roman"/>
                <a:cs typeface="Times New Roman"/>
                <a:sym typeface="Times New Roman"/>
              </a:rPr>
              <a:t> </a:t>
            </a:r>
            <a:r>
              <a:rPr lang="en-US" sz="4400">
                <a:solidFill>
                  <a:schemeClr val="lt1"/>
                </a:solidFill>
                <a:latin typeface="Times New Roman"/>
                <a:ea typeface="Times New Roman"/>
                <a:cs typeface="Times New Roman"/>
                <a:sym typeface="Times New Roman"/>
              </a:rPr>
              <a:t>and </a:t>
            </a:r>
            <a:r>
              <a:rPr i="1" lang="en-US" sz="4400">
                <a:solidFill>
                  <a:schemeClr val="lt1"/>
                </a:solidFill>
                <a:latin typeface="Georgia"/>
                <a:ea typeface="Georgia"/>
                <a:cs typeface="Georgia"/>
                <a:sym typeface="Georgia"/>
              </a:rPr>
              <a:t>Al</a:t>
            </a:r>
            <a:r>
              <a:rPr baseline="-25000" i="1" lang="en-US" sz="4400">
                <a:solidFill>
                  <a:schemeClr val="lt1"/>
                </a:solidFill>
                <a:latin typeface="Georgia"/>
                <a:ea typeface="Georgia"/>
                <a:cs typeface="Georgia"/>
                <a:sym typeface="Georgia"/>
              </a:rPr>
              <a:t>2</a:t>
            </a:r>
            <a:r>
              <a:rPr i="1" lang="en-US" sz="4400">
                <a:solidFill>
                  <a:schemeClr val="lt1"/>
                </a:solidFill>
                <a:latin typeface="Georgia"/>
                <a:ea typeface="Georgia"/>
                <a:cs typeface="Georgia"/>
                <a:sym typeface="Georgia"/>
              </a:rPr>
              <a:t>O</a:t>
            </a:r>
            <a:r>
              <a:rPr baseline="-25000" i="1" lang="en-US" sz="4400">
                <a:solidFill>
                  <a:schemeClr val="lt1"/>
                </a:solidFill>
                <a:latin typeface="Georgia"/>
                <a:ea typeface="Georgia"/>
                <a:cs typeface="Georgia"/>
                <a:sym typeface="Georgia"/>
              </a:rPr>
              <a:t>3</a:t>
            </a:r>
            <a:r>
              <a:rPr lang="en-US" sz="4400">
                <a:solidFill>
                  <a:schemeClr val="lt1"/>
                </a:solidFill>
                <a:latin typeface="Times New Roman"/>
                <a:ea typeface="Times New Roman"/>
                <a:cs typeface="Times New Roman"/>
                <a:sym typeface="Times New Roman"/>
              </a:rPr>
              <a:t> oxide dielectric</a:t>
            </a:r>
            <a:endParaRPr sz="4400">
              <a:solidFill>
                <a:schemeClr val="lt1"/>
              </a:solidFill>
              <a:latin typeface="Times New Roman"/>
              <a:ea typeface="Times New Roman"/>
              <a:cs typeface="Times New Roman"/>
              <a:sym typeface="Times New Roman"/>
            </a:endParaRPr>
          </a:p>
        </p:txBody>
      </p:sp>
      <p:pic>
        <p:nvPicPr>
          <p:cNvPr id="86" name="Google Shape;86;p1"/>
          <p:cNvPicPr preferRelativeResize="0"/>
          <p:nvPr/>
        </p:nvPicPr>
        <p:blipFill rotWithShape="1">
          <a:blip r:embed="rId4">
            <a:alphaModFix/>
          </a:blip>
          <a:srcRect b="0" l="0" r="0" t="0"/>
          <a:stretch/>
        </p:blipFill>
        <p:spPr>
          <a:xfrm>
            <a:off x="6976600" y="3820668"/>
            <a:ext cx="4312870" cy="1682025"/>
          </a:xfrm>
          <a:prstGeom prst="rect">
            <a:avLst/>
          </a:prstGeom>
          <a:noFill/>
          <a:ln>
            <a:noFill/>
          </a:ln>
        </p:spPr>
      </p:pic>
      <p:sp>
        <p:nvSpPr>
          <p:cNvPr id="87" name="Google Shape;87;p1"/>
          <p:cNvSpPr txBox="1"/>
          <p:nvPr/>
        </p:nvSpPr>
        <p:spPr>
          <a:xfrm>
            <a:off x="460225" y="3576863"/>
            <a:ext cx="4383300" cy="2169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500"/>
              <a:buFont typeface="Arial"/>
              <a:buNone/>
            </a:pPr>
            <a:r>
              <a:rPr lang="en-US" sz="2500">
                <a:solidFill>
                  <a:srgbClr val="FFFFFF"/>
                </a:solidFill>
                <a:latin typeface="Georgia"/>
                <a:ea typeface="Georgia"/>
                <a:cs typeface="Georgia"/>
                <a:sym typeface="Georgia"/>
              </a:rPr>
              <a:t>TEAM PROJECT</a:t>
            </a:r>
            <a:endParaRPr b="0" i="0" sz="2100" u="none" cap="none" strike="noStrike">
              <a:solidFill>
                <a:srgbClr val="FFFFFF"/>
              </a:solidFill>
              <a:latin typeface="Georgia"/>
              <a:ea typeface="Georgia"/>
              <a:cs typeface="Georgia"/>
              <a:sym typeface="Georgia"/>
            </a:endParaRPr>
          </a:p>
          <a:p>
            <a:pPr indent="0" lvl="0" marL="0" marR="0" rtl="0" algn="l">
              <a:lnSpc>
                <a:spcPct val="70000"/>
              </a:lnSpc>
              <a:spcBef>
                <a:spcPts val="1000"/>
              </a:spcBef>
              <a:spcAft>
                <a:spcPts val="0"/>
              </a:spcAft>
              <a:buClr>
                <a:srgbClr val="000000"/>
              </a:buClr>
              <a:buSzPts val="2400"/>
              <a:buFont typeface="Arial"/>
              <a:buNone/>
            </a:pPr>
            <a:r>
              <a:rPr lang="en-US" sz="2100">
                <a:solidFill>
                  <a:srgbClr val="FFFFFF"/>
                </a:solidFill>
                <a:latin typeface="Georgia"/>
                <a:ea typeface="Georgia"/>
                <a:cs typeface="Georgia"/>
                <a:sym typeface="Georgia"/>
              </a:rPr>
              <a:t>99.503 -</a:t>
            </a:r>
            <a:r>
              <a:rPr b="0" i="0" lang="en-US" sz="2100" u="none" cap="none" strike="noStrike">
                <a:solidFill>
                  <a:srgbClr val="FFFFFF"/>
                </a:solidFill>
                <a:latin typeface="Georgia"/>
                <a:ea typeface="Georgia"/>
                <a:cs typeface="Georgia"/>
                <a:sym typeface="Georgia"/>
              </a:rPr>
              <a:t> </a:t>
            </a:r>
            <a:r>
              <a:rPr lang="en-US" sz="2100">
                <a:solidFill>
                  <a:srgbClr val="FFFFFF"/>
                </a:solidFill>
                <a:latin typeface="Georgia"/>
                <a:ea typeface="Georgia"/>
                <a:cs typeface="Georgia"/>
                <a:sym typeface="Georgia"/>
              </a:rPr>
              <a:t>NANOELECTRONICS</a:t>
            </a:r>
            <a:endParaRPr sz="2100">
              <a:solidFill>
                <a:srgbClr val="FFFFFF"/>
              </a:solidFill>
              <a:latin typeface="Georgia"/>
              <a:ea typeface="Georgia"/>
              <a:cs typeface="Georgia"/>
              <a:sym typeface="Georgia"/>
            </a:endParaRPr>
          </a:p>
          <a:p>
            <a:pPr indent="0" lvl="0" marL="0" marR="0" rtl="0" algn="l">
              <a:lnSpc>
                <a:spcPct val="100000"/>
              </a:lnSpc>
              <a:spcBef>
                <a:spcPts val="1000"/>
              </a:spcBef>
              <a:spcAft>
                <a:spcPts val="0"/>
              </a:spcAft>
              <a:buClr>
                <a:srgbClr val="000000"/>
              </a:buClr>
              <a:buSzPts val="2400"/>
              <a:buFont typeface="Arial"/>
              <a:buNone/>
            </a:pPr>
            <a:r>
              <a:rPr lang="en-US" sz="1800">
                <a:solidFill>
                  <a:srgbClr val="FFFFFF"/>
                </a:solidFill>
                <a:latin typeface="Georgia"/>
                <a:ea typeface="Georgia"/>
                <a:cs typeface="Georgia"/>
                <a:sym typeface="Georgia"/>
              </a:rPr>
              <a:t>Members: </a:t>
            </a:r>
            <a:endParaRPr sz="1800">
              <a:solidFill>
                <a:srgbClr val="FFFFFF"/>
              </a:solidFill>
              <a:latin typeface="Georgia"/>
              <a:ea typeface="Georgia"/>
              <a:cs typeface="Georgia"/>
              <a:sym typeface="Georgia"/>
            </a:endParaRPr>
          </a:p>
          <a:p>
            <a:pPr indent="-342900" lvl="0" marL="457200" rtl="0" algn="l">
              <a:spcBef>
                <a:spcPts val="1000"/>
              </a:spcBef>
              <a:spcAft>
                <a:spcPts val="0"/>
              </a:spcAft>
              <a:buClr>
                <a:srgbClr val="FFFFFF"/>
              </a:buClr>
              <a:buSzPts val="1800"/>
              <a:buFont typeface="Georgia"/>
              <a:buChar char="●"/>
            </a:pPr>
            <a:r>
              <a:rPr lang="en-US" sz="1800">
                <a:solidFill>
                  <a:srgbClr val="FFFFFF"/>
                </a:solidFill>
                <a:latin typeface="Georgia"/>
                <a:ea typeface="Georgia"/>
                <a:cs typeface="Georgia"/>
                <a:sym typeface="Georgia"/>
              </a:rPr>
              <a:t>Ronit Dutta (1010683)</a:t>
            </a:r>
            <a:endParaRPr sz="1800">
              <a:solidFill>
                <a:srgbClr val="FFFFFF"/>
              </a:solidFill>
              <a:latin typeface="Georgia"/>
              <a:ea typeface="Georgia"/>
              <a:cs typeface="Georgia"/>
              <a:sym typeface="Georgia"/>
            </a:endParaRPr>
          </a:p>
          <a:p>
            <a:pPr indent="-342900" lvl="0" marL="457200" rtl="0" algn="l">
              <a:lnSpc>
                <a:spcPct val="100000"/>
              </a:lnSpc>
              <a:spcBef>
                <a:spcPts val="0"/>
              </a:spcBef>
              <a:spcAft>
                <a:spcPts val="0"/>
              </a:spcAft>
              <a:buClr>
                <a:srgbClr val="FFFFFF"/>
              </a:buClr>
              <a:buSzPts val="1800"/>
              <a:buFont typeface="Georgia"/>
              <a:buChar char="●"/>
            </a:pPr>
            <a:r>
              <a:rPr lang="en-US" sz="1800">
                <a:solidFill>
                  <a:srgbClr val="FFFFFF"/>
                </a:solidFill>
                <a:latin typeface="Georgia"/>
                <a:ea typeface="Georgia"/>
                <a:cs typeface="Georgia"/>
                <a:sym typeface="Georgia"/>
              </a:rPr>
              <a:t>Mohamed Mukhtar (1009406)</a:t>
            </a:r>
            <a:endParaRPr sz="1800">
              <a:solidFill>
                <a:srgbClr val="FFFFFF"/>
              </a:solidFill>
              <a:latin typeface="Georgia"/>
              <a:ea typeface="Georgia"/>
              <a:cs typeface="Georgia"/>
              <a:sym typeface="Georgia"/>
            </a:endParaRPr>
          </a:p>
          <a:p>
            <a:pPr indent="-342900" lvl="0" marL="457200" rtl="0" algn="l">
              <a:lnSpc>
                <a:spcPct val="100000"/>
              </a:lnSpc>
              <a:spcBef>
                <a:spcPts val="0"/>
              </a:spcBef>
              <a:spcAft>
                <a:spcPts val="0"/>
              </a:spcAft>
              <a:buClr>
                <a:srgbClr val="FFFFFF"/>
              </a:buClr>
              <a:buSzPts val="1800"/>
              <a:buFont typeface="Georgia"/>
              <a:buChar char="●"/>
            </a:pPr>
            <a:r>
              <a:rPr lang="en-US" sz="1800">
                <a:solidFill>
                  <a:srgbClr val="FFFFFF"/>
                </a:solidFill>
                <a:latin typeface="Georgia"/>
                <a:ea typeface="Georgia"/>
                <a:cs typeface="Georgia"/>
                <a:sym typeface="Georgia"/>
              </a:rPr>
              <a:t>Kang Yufan (1009416)</a:t>
            </a:r>
            <a:endParaRPr sz="1800">
              <a:solidFill>
                <a:srgbClr val="FFFFFF"/>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g39a284b7f17_0_5"/>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93" name="Google Shape;93;g39a284b7f17_0_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4" name="Google Shape;94;g39a284b7f17_0_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95" name="Google Shape;95;g39a284b7f17_0_5"/>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500">
                <a:solidFill>
                  <a:schemeClr val="dk1"/>
                </a:solidFill>
                <a:latin typeface="Times New Roman"/>
                <a:ea typeface="Times New Roman"/>
                <a:cs typeface="Times New Roman"/>
                <a:sym typeface="Times New Roman"/>
              </a:rPr>
              <a:t>Objective</a:t>
            </a:r>
            <a:endParaRPr b="0" i="0" sz="3500" u="none" cap="none" strike="noStrike">
              <a:solidFill>
                <a:schemeClr val="dk1"/>
              </a:solidFill>
              <a:latin typeface="Times New Roman"/>
              <a:ea typeface="Times New Roman"/>
              <a:cs typeface="Times New Roman"/>
              <a:sym typeface="Times New Roman"/>
            </a:endParaRPr>
          </a:p>
        </p:txBody>
      </p:sp>
      <p:sp>
        <p:nvSpPr>
          <p:cNvPr id="96" name="Google Shape;96;g39a284b7f17_0_5"/>
          <p:cNvSpPr txBox="1"/>
          <p:nvPr/>
        </p:nvSpPr>
        <p:spPr>
          <a:xfrm>
            <a:off x="558350" y="1188500"/>
            <a:ext cx="11018400" cy="4675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In this project, the primary objective is to study how leakage current evolves in an NMOS capacitor under different electrical stresses. </a:t>
            </a:r>
            <a:endParaRPr sz="2000">
              <a:solidFill>
                <a:schemeClr val="dk1"/>
              </a:solidFill>
              <a:latin typeface="Georgia"/>
              <a:ea typeface="Georgia"/>
              <a:cs typeface="Georgia"/>
              <a:sym typeface="Georgia"/>
            </a:endParaRPr>
          </a:p>
          <a:p>
            <a:pPr indent="-355600" lvl="0" marL="457200" rtl="0" algn="l">
              <a:lnSpc>
                <a:spcPct val="115000"/>
              </a:lnSpc>
              <a:spcBef>
                <a:spcPts val="100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The device is treated strictly as a two-terminal structure, with only the gate and substrate active and no lateral drain current involved. </a:t>
            </a:r>
            <a:endParaRPr sz="2000">
              <a:solidFill>
                <a:schemeClr val="dk1"/>
              </a:solidFill>
              <a:latin typeface="Georgia"/>
              <a:ea typeface="Georgia"/>
              <a:cs typeface="Georgia"/>
              <a:sym typeface="Georgia"/>
            </a:endParaRPr>
          </a:p>
          <a:p>
            <a:pPr indent="-355600" lvl="0" marL="457200" rtl="0" algn="l">
              <a:lnSpc>
                <a:spcPct val="115000"/>
              </a:lnSpc>
              <a:spcBef>
                <a:spcPts val="100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The experimental analysis focuses on two behaviours: current as a function of applied voltage (I–V sweeps) and current as a function of time under constant bias (I–t sampling). </a:t>
            </a:r>
            <a:endParaRPr sz="2000">
              <a:solidFill>
                <a:schemeClr val="dk1"/>
              </a:solidFill>
              <a:latin typeface="Georgia"/>
              <a:ea typeface="Georgia"/>
              <a:cs typeface="Georgia"/>
              <a:sym typeface="Georgia"/>
            </a:endParaRPr>
          </a:p>
          <a:p>
            <a:pPr indent="-355600" lvl="0" marL="457200" rtl="0" algn="l">
              <a:lnSpc>
                <a:spcPct val="115000"/>
              </a:lnSpc>
              <a:spcBef>
                <a:spcPts val="120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Two dielectric materials (SiO2 &amp; Al2O3) are examined to illustrate how the choice of oxide influences the leakage characteristics and breakdown behaviour of the MOS capacitor.</a:t>
            </a:r>
            <a:endParaRPr sz="2000">
              <a:solidFill>
                <a:schemeClr val="dk1"/>
              </a:solidFill>
              <a:latin typeface="Georgia"/>
              <a:ea typeface="Georgia"/>
              <a:cs typeface="Georgia"/>
              <a:sym typeface="Georgia"/>
            </a:endParaRPr>
          </a:p>
          <a:p>
            <a:pPr indent="-355600" lvl="0" marL="457200" rtl="0" algn="l">
              <a:lnSpc>
                <a:spcPct val="115000"/>
              </a:lnSpc>
              <a:spcBef>
                <a:spcPts val="1200"/>
              </a:spcBef>
              <a:spcAft>
                <a:spcPts val="1000"/>
              </a:spcAft>
              <a:buClr>
                <a:schemeClr val="dk1"/>
              </a:buClr>
              <a:buSzPts val="2000"/>
              <a:buFont typeface="Georgia"/>
              <a:buAutoNum type="arabicPeriod"/>
            </a:pPr>
            <a:r>
              <a:rPr lang="en-US" sz="2000">
                <a:solidFill>
                  <a:schemeClr val="dk1"/>
                </a:solidFill>
                <a:latin typeface="Georgia"/>
                <a:ea typeface="Georgia"/>
                <a:cs typeface="Georgia"/>
                <a:sym typeface="Georgia"/>
              </a:rPr>
              <a:t>Simulation was performed on Nanohub : MosCAP tool to determine inversion voltage, threshold voltage and oxide capacitance for a given MOS device under fixed parameters.</a:t>
            </a:r>
            <a:endParaRPr sz="2000">
              <a:solidFill>
                <a:schemeClr val="dk1"/>
              </a:solidFill>
              <a:latin typeface="Georgia"/>
              <a:ea typeface="Georgia"/>
              <a:cs typeface="Georgia"/>
              <a:sym typeface="Georgia"/>
            </a:endParaRPr>
          </a:p>
        </p:txBody>
      </p:sp>
      <p:cxnSp>
        <p:nvCxnSpPr>
          <p:cNvPr id="97" name="Google Shape;97;g39a284b7f17_0_5"/>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98" name="Google Shape;98;g39a284b7f17_0_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9" name="Google Shape;99;g39a284b7f17_0_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 name="Google Shape;100;g39a284b7f17_0_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1" name="Google Shape;101;g39a284b7f17_0_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2" name="Google Shape;102;g39a284b7f17_0_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3" name="Google Shape;103;g39a284b7f17_0_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 name="Google Shape;104;g39a284b7f17_0_5"/>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105" name="Google Shape;105;g39a284b7f17_0_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6" name="Google Shape;106;g39a284b7f17_0_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7" name="Google Shape;107;g39a284b7f17_0_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8" name="Google Shape;108;g39a284b7f17_0_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9" name="Google Shape;109;g39a284b7f17_0_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 name="Google Shape;110;g39a284b7f17_0_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1" name="Google Shape;111;g39a284b7f17_0_5"/>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12" name="Google Shape;112;g39a284b7f17_0_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3" name="Google Shape;113;g39a284b7f17_0_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4" name="Google Shape;114;g39a284b7f17_0_5"/>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15" name="Google Shape;115;g39a284b7f17_0_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6" name="Google Shape;116;g39a284b7f17_0_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 name="Google Shape;117;g39a284b7f17_0_5"/>
          <p:cNvPicPr preferRelativeResize="0"/>
          <p:nvPr/>
        </p:nvPicPr>
        <p:blipFill rotWithShape="1">
          <a:blip r:embed="rId10">
            <a:alphaModFix/>
          </a:blip>
          <a:srcRect b="0" l="0" r="0" t="0"/>
          <a:stretch/>
        </p:blipFill>
        <p:spPr>
          <a:xfrm>
            <a:off x="-4" y="6211289"/>
            <a:ext cx="12192003" cy="1285104"/>
          </a:xfrm>
          <a:prstGeom prst="rect">
            <a:avLst/>
          </a:prstGeom>
          <a:noFill/>
          <a:ln>
            <a:noFill/>
          </a:ln>
        </p:spPr>
      </p:pic>
      <p:pic>
        <p:nvPicPr>
          <p:cNvPr id="118" name="Google Shape;118;g39a284b7f17_0_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9" name="Google Shape;119;g39a284b7f17_0_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g3a3ec9b3325_1_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25" name="Google Shape;125;g3a3ec9b3325_1_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6" name="Google Shape;126;g3a3ec9b3325_1_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27" name="Google Shape;127;g3a3ec9b3325_1_2"/>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28" name="Google Shape;128;g3a3ec9b3325_1_2"/>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sp>
        <p:nvSpPr>
          <p:cNvPr id="129" name="Google Shape;129;g3a3ec9b3325_1_2"/>
          <p:cNvSpPr txBox="1"/>
          <p:nvPr/>
        </p:nvSpPr>
        <p:spPr>
          <a:xfrm>
            <a:off x="265800" y="1453250"/>
            <a:ext cx="11603400" cy="3318000"/>
          </a:xfrm>
          <a:prstGeom prst="rect">
            <a:avLst/>
          </a:prstGeom>
          <a:noFill/>
          <a:ln>
            <a:noFill/>
          </a:ln>
        </p:spPr>
        <p:txBody>
          <a:bodyPr anchorCtr="0" anchor="ctr"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Georgia"/>
              <a:buAutoNum type="arabicPeriod"/>
            </a:pPr>
            <a:r>
              <a:rPr b="0" i="0" lang="en-US" sz="2000" u="none" cap="none" strike="noStrike">
                <a:solidFill>
                  <a:schemeClr val="dk1"/>
                </a:solidFill>
                <a:latin typeface="Georgia"/>
                <a:ea typeface="Georgia"/>
                <a:cs typeface="Georgia"/>
                <a:sym typeface="Georgia"/>
              </a:rPr>
              <a:t>Introduction</a:t>
            </a:r>
            <a:endParaRPr b="0" i="0" sz="2000" u="none" cap="none" strike="noStrike">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Simulation</a:t>
            </a:r>
            <a:endParaRPr b="0" i="0" sz="2000" u="none" cap="none" strike="noStrike">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Experiments</a:t>
            </a:r>
            <a:endParaRPr sz="2000">
              <a:solidFill>
                <a:schemeClr val="dk1"/>
              </a:solidFill>
              <a:latin typeface="Georgia"/>
              <a:ea typeface="Georgia"/>
              <a:cs typeface="Georgia"/>
              <a:sym typeface="Georgia"/>
            </a:endParaRPr>
          </a:p>
          <a:p>
            <a:pPr indent="-355600" lvl="0" marL="45720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High-K dielectric</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Fabrication</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Discussions</a:t>
            </a:r>
            <a:endParaRPr sz="2000">
              <a:solidFill>
                <a:schemeClr val="dk1"/>
              </a:solidFill>
              <a:latin typeface="Georgia"/>
              <a:ea typeface="Georgia"/>
              <a:cs typeface="Georgia"/>
              <a:sym typeface="Georgia"/>
            </a:endParaRPr>
          </a:p>
        </p:txBody>
      </p:sp>
      <p:pic>
        <p:nvPicPr>
          <p:cNvPr id="130" name="Google Shape;130;g3a3ec9b3325_1_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31" name="Google Shape;131;g3a3ec9b3325_1_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32" name="Google Shape;132;g3a3ec9b3325_1_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3" name="Google Shape;133;g3a3ec9b3325_1_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34" name="Google Shape;134;g3a3ec9b3325_1_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35" name="Google Shape;135;g3a3ec9b3325_1_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6" name="Google Shape;136;g3a3ec9b3325_1_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137" name="Google Shape;137;g3a3ec9b3325_1_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38" name="Google Shape;138;g3a3ec9b3325_1_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9" name="Google Shape;139;g3a3ec9b3325_1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0" name="Google Shape;140;g3a3ec9b3325_1_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41" name="Google Shape;141;g3a3ec9b3325_1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2" name="Google Shape;142;g3a3ec9b3325_1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43" name="Google Shape;143;g3a3ec9b3325_1_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44" name="Google Shape;144;g3a3ec9b3325_1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5" name="Google Shape;145;g3a3ec9b3325_1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6" name="Google Shape;146;g3a3ec9b3325_1_2"/>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47" name="Google Shape;147;g3a3ec9b3325_1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48" name="Google Shape;148;g3a3ec9b3325_1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49" name="Google Shape;149;g3a3ec9b3325_1_2"/>
          <p:cNvPicPr preferRelativeResize="0"/>
          <p:nvPr/>
        </p:nvPicPr>
        <p:blipFill rotWithShape="1">
          <a:blip r:embed="rId10">
            <a:alphaModFix/>
          </a:blip>
          <a:srcRect b="0" l="0" r="0" t="0"/>
          <a:stretch/>
        </p:blipFill>
        <p:spPr>
          <a:xfrm>
            <a:off x="-4" y="6211289"/>
            <a:ext cx="12192003" cy="1285104"/>
          </a:xfrm>
          <a:prstGeom prst="rect">
            <a:avLst/>
          </a:prstGeom>
          <a:noFill/>
          <a:ln>
            <a:noFill/>
          </a:ln>
        </p:spPr>
      </p:pic>
      <p:pic>
        <p:nvPicPr>
          <p:cNvPr id="150" name="Google Shape;150;g3a3ec9b3325_1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51" name="Google Shape;151;g3a3ec9b3325_1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52" name="Google Shape;152;g3a3ec9b3325_1_2"/>
          <p:cNvPicPr preferRelativeResize="0"/>
          <p:nvPr/>
        </p:nvPicPr>
        <p:blipFill rotWithShape="1">
          <a:blip r:embed="rId11">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g39a284b7f17_11_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58" name="Google Shape;158;g39a284b7f17_11_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59" name="Google Shape;159;g39a284b7f17_1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60" name="Google Shape;160;g39a284b7f17_11_0"/>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61" name="Google Shape;161;g39a284b7f17_11_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sp>
        <p:nvSpPr>
          <p:cNvPr id="162" name="Google Shape;162;g39a284b7f17_11_0"/>
          <p:cNvSpPr txBox="1"/>
          <p:nvPr/>
        </p:nvSpPr>
        <p:spPr>
          <a:xfrm>
            <a:off x="265800" y="1447100"/>
            <a:ext cx="11603400" cy="3330300"/>
          </a:xfrm>
          <a:prstGeom prst="rect">
            <a:avLst/>
          </a:prstGeom>
          <a:noFill/>
          <a:ln>
            <a:noFill/>
          </a:ln>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Introduction</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Simulation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Experiments</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High-K dielectric</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Fabrication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Discussions</a:t>
            </a:r>
            <a:endParaRPr sz="2000">
              <a:solidFill>
                <a:srgbClr val="B7B7B7"/>
              </a:solidFill>
              <a:latin typeface="Georgia"/>
              <a:ea typeface="Georgia"/>
              <a:cs typeface="Georgia"/>
              <a:sym typeface="Georgia"/>
            </a:endParaRPr>
          </a:p>
        </p:txBody>
      </p:sp>
      <p:pic>
        <p:nvPicPr>
          <p:cNvPr id="163" name="Google Shape;163;g39a284b7f17_11_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64" name="Google Shape;164;g39a284b7f17_11_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5" name="Google Shape;165;g39a284b7f17_11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66" name="Google Shape;166;g39a284b7f17_11_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67" name="Google Shape;167;g39a284b7f17_11_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68" name="Google Shape;168;g39a284b7f17_1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69" name="Google Shape;169;g39a284b7f17_11_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170" name="Google Shape;170;g39a284b7f17_11_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71" name="Google Shape;171;g39a284b7f17_11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2" name="Google Shape;172;g39a284b7f17_11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73" name="Google Shape;173;g39a284b7f17_11_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74" name="Google Shape;174;g39a284b7f17_1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5" name="Google Shape;175;g39a284b7f17_11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76" name="Google Shape;176;g39a284b7f17_11_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sp>
        <p:nvSpPr>
          <p:cNvPr id="177" name="Google Shape;177;g39a284b7f17_1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78" name="Google Shape;178;g39a284b7f17_11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79" name="Google Shape;179;g39a284b7f17_11_0"/>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80" name="Google Shape;180;g39a284b7f17_11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81" name="Google Shape;181;g39a284b7f17_1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2" name="Google Shape;182;g39a284b7f17_11_0"/>
          <p:cNvPicPr preferRelativeResize="0"/>
          <p:nvPr/>
        </p:nvPicPr>
        <p:blipFill rotWithShape="1">
          <a:blip r:embed="rId10">
            <a:alphaModFix/>
          </a:blip>
          <a:srcRect b="0" l="0" r="0" t="0"/>
          <a:stretch/>
        </p:blipFill>
        <p:spPr>
          <a:xfrm>
            <a:off x="-4" y="6211289"/>
            <a:ext cx="12192003" cy="1285104"/>
          </a:xfrm>
          <a:prstGeom prst="rect">
            <a:avLst/>
          </a:prstGeom>
          <a:noFill/>
          <a:ln>
            <a:noFill/>
          </a:ln>
        </p:spPr>
      </p:pic>
      <p:pic>
        <p:nvPicPr>
          <p:cNvPr id="183" name="Google Shape;183;g39a284b7f17_11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84" name="Google Shape;184;g39a284b7f17_11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85" name="Google Shape;185;g39a284b7f17_11_0"/>
          <p:cNvPicPr preferRelativeResize="0"/>
          <p:nvPr/>
        </p:nvPicPr>
        <p:blipFill rotWithShape="1">
          <a:blip r:embed="rId11">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9a284b7f17_2_7"/>
          <p:cNvSpPr txBox="1"/>
          <p:nvPr/>
        </p:nvSpPr>
        <p:spPr>
          <a:xfrm>
            <a:off x="398475" y="1044750"/>
            <a:ext cx="5981100" cy="4806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600">
                <a:solidFill>
                  <a:schemeClr val="dk1"/>
                </a:solidFill>
                <a:latin typeface="Georgia"/>
                <a:ea typeface="Georgia"/>
                <a:cs typeface="Georgia"/>
                <a:sym typeface="Georgia"/>
              </a:rPr>
              <a:t>Gate voltage controls surface potential in Si:</a:t>
            </a:r>
            <a:endParaRPr sz="1600">
              <a:solidFill>
                <a:schemeClr val="dk1"/>
              </a:solidFill>
              <a:latin typeface="Georgia"/>
              <a:ea typeface="Georgia"/>
              <a:cs typeface="Georgia"/>
              <a:sym typeface="Georgia"/>
            </a:endParaRPr>
          </a:p>
          <a:p>
            <a:pPr indent="-215900" lvl="0" marL="342900" rtl="0" algn="l">
              <a:lnSpc>
                <a:spcPct val="115000"/>
              </a:lnSpc>
              <a:spcBef>
                <a:spcPts val="1200"/>
              </a:spcBef>
              <a:spcAft>
                <a:spcPts val="0"/>
              </a:spcAft>
              <a:buClr>
                <a:schemeClr val="dk1"/>
              </a:buClr>
              <a:buSzPts val="1600"/>
              <a:buChar char="●"/>
            </a:pPr>
            <a:r>
              <a:rPr lang="en-US" sz="1600">
                <a:solidFill>
                  <a:schemeClr val="dk1"/>
                </a:solidFill>
                <a:latin typeface="Georgia"/>
                <a:ea typeface="Georgia"/>
                <a:cs typeface="Georgia"/>
                <a:sym typeface="Georgia"/>
              </a:rPr>
              <a:t>Accumulation - Gate voltage &lt; 0 </a:t>
            </a:r>
            <a:br>
              <a:rPr lang="en-US" sz="1600">
                <a:solidFill>
                  <a:schemeClr val="dk1"/>
                </a:solidFill>
                <a:latin typeface="Georgia"/>
                <a:ea typeface="Georgia"/>
                <a:cs typeface="Georgia"/>
                <a:sym typeface="Georgia"/>
              </a:rPr>
            </a:br>
            <a:r>
              <a:rPr lang="en-US" sz="1600">
                <a:solidFill>
                  <a:schemeClr val="dk1"/>
                </a:solidFill>
                <a:latin typeface="Georgia"/>
                <a:ea typeface="Georgia"/>
                <a:cs typeface="Georgia"/>
                <a:sym typeface="Georgia"/>
              </a:rPr>
              <a:t>(holes accumulate in the substrate-oxide boundary driven by the negative voltage)</a:t>
            </a:r>
            <a:endParaRPr sz="1600">
              <a:solidFill>
                <a:schemeClr val="dk1"/>
              </a:solidFill>
              <a:latin typeface="Georgia"/>
              <a:ea typeface="Georgia"/>
              <a:cs typeface="Georgia"/>
              <a:sym typeface="Georgia"/>
            </a:endParaRPr>
          </a:p>
          <a:p>
            <a:pPr indent="-215900" lvl="0" marL="342900" rtl="0" algn="l">
              <a:lnSpc>
                <a:spcPct val="115000"/>
              </a:lnSpc>
              <a:spcBef>
                <a:spcPts val="1000"/>
              </a:spcBef>
              <a:spcAft>
                <a:spcPts val="0"/>
              </a:spcAft>
              <a:buClr>
                <a:schemeClr val="dk1"/>
              </a:buClr>
              <a:buSzPts val="1600"/>
              <a:buChar char="●"/>
            </a:pPr>
            <a:r>
              <a:rPr lang="en-US" sz="1600">
                <a:solidFill>
                  <a:schemeClr val="dk1"/>
                </a:solidFill>
                <a:latin typeface="Georgia"/>
                <a:ea typeface="Georgia"/>
                <a:cs typeface="Georgia"/>
                <a:sym typeface="Georgia"/>
              </a:rPr>
              <a:t>Depletion - Gate voltage ≥ 0 </a:t>
            </a:r>
            <a:br>
              <a:rPr lang="en-US" sz="1600">
                <a:solidFill>
                  <a:schemeClr val="dk1"/>
                </a:solidFill>
                <a:latin typeface="Georgia"/>
                <a:ea typeface="Georgia"/>
                <a:cs typeface="Georgia"/>
                <a:sym typeface="Georgia"/>
              </a:rPr>
            </a:br>
            <a:r>
              <a:rPr lang="en-US" sz="1600">
                <a:solidFill>
                  <a:schemeClr val="dk1"/>
                </a:solidFill>
                <a:latin typeface="Georgia"/>
                <a:ea typeface="Georgia"/>
                <a:cs typeface="Georgia"/>
                <a:sym typeface="Georgia"/>
              </a:rPr>
              <a:t>(gate voltage is positive but less than threshold voltage; depletion zone of immobile negative ions, free of holes which go deeper down repelled by the positive applied voltage)</a:t>
            </a:r>
            <a:endParaRPr sz="1600">
              <a:solidFill>
                <a:schemeClr val="dk1"/>
              </a:solidFill>
              <a:latin typeface="Georgia"/>
              <a:ea typeface="Georgia"/>
              <a:cs typeface="Georgia"/>
              <a:sym typeface="Georgia"/>
            </a:endParaRPr>
          </a:p>
          <a:p>
            <a:pPr indent="-215900" lvl="0" marL="342900" rtl="0" algn="l">
              <a:lnSpc>
                <a:spcPct val="115000"/>
              </a:lnSpc>
              <a:spcBef>
                <a:spcPts val="1200"/>
              </a:spcBef>
              <a:spcAft>
                <a:spcPts val="1000"/>
              </a:spcAft>
              <a:buClr>
                <a:schemeClr val="dk1"/>
              </a:buClr>
              <a:buSzPts val="1600"/>
              <a:buChar char="●"/>
            </a:pPr>
            <a:r>
              <a:rPr lang="en-US" sz="1600">
                <a:solidFill>
                  <a:schemeClr val="dk1"/>
                </a:solidFill>
                <a:latin typeface="Georgia"/>
                <a:ea typeface="Georgia"/>
                <a:cs typeface="Georgia"/>
                <a:sym typeface="Georgia"/>
              </a:rPr>
              <a:t>Inversion - Gate voltage &gt;&gt; 0 &gt; V(threshold)</a:t>
            </a:r>
            <a:br>
              <a:rPr lang="en-US" sz="1600">
                <a:solidFill>
                  <a:schemeClr val="dk1"/>
                </a:solidFill>
                <a:latin typeface="Georgia"/>
                <a:ea typeface="Georgia"/>
                <a:cs typeface="Georgia"/>
                <a:sym typeface="Georgia"/>
              </a:rPr>
            </a:br>
            <a:r>
              <a:rPr lang="en-US" sz="1600">
                <a:solidFill>
                  <a:schemeClr val="dk1"/>
                </a:solidFill>
                <a:latin typeface="Georgia"/>
                <a:ea typeface="Georgia"/>
                <a:cs typeface="Georgia"/>
                <a:sym typeface="Georgia"/>
              </a:rPr>
              <a:t>(gate voltage is greater than threshold voltage and has net positive overdrive voltage; high positive voltage draws in electrons from S/D, facilitating the formation of a uniform thin sheet of mobile electrons. )</a:t>
            </a:r>
            <a:endParaRPr sz="1600">
              <a:solidFill>
                <a:schemeClr val="dk1"/>
              </a:solidFill>
              <a:latin typeface="Georgia"/>
              <a:ea typeface="Georgia"/>
              <a:cs typeface="Georgia"/>
              <a:sym typeface="Georgia"/>
            </a:endParaRPr>
          </a:p>
        </p:txBody>
      </p:sp>
      <p:pic>
        <p:nvPicPr>
          <p:cNvPr id="191" name="Google Shape;191;g39a284b7f17_2_7"/>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92" name="Google Shape;192;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3" name="Google Shape;193;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94" name="Google Shape;194;g39a284b7f17_2_7"/>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Introduction - Basic MOS operation</a:t>
            </a:r>
            <a:endParaRPr b="0" i="0" sz="3200" u="none" cap="none" strike="noStrike">
              <a:solidFill>
                <a:schemeClr val="dk1"/>
              </a:solidFill>
              <a:latin typeface="Times New Roman"/>
              <a:ea typeface="Times New Roman"/>
              <a:cs typeface="Times New Roman"/>
              <a:sym typeface="Times New Roman"/>
            </a:endParaRPr>
          </a:p>
        </p:txBody>
      </p:sp>
      <p:cxnSp>
        <p:nvCxnSpPr>
          <p:cNvPr id="195" name="Google Shape;195;g39a284b7f17_2_7"/>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96" name="Google Shape;196;g39a284b7f17_2_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97" name="Google Shape;197;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98" name="Google Shape;198;g39a284b7f17_2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99" name="Google Shape;199;g39a284b7f17_2_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00" name="Google Shape;200;g39a284b7f17_2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01" name="Google Shape;201;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2" name="Google Shape;202;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3" name="Google Shape;203;g39a284b7f17_2_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04" name="Google Shape;204;g39a284b7f17_2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5" name="Google Shape;205;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6" name="Google Shape;206;g39a284b7f17_2_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07" name="Google Shape;207;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08" name="Google Shape;208;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09" name="Google Shape;209;g39a284b7f17_2_7"/>
          <p:cNvPicPr preferRelativeResize="0"/>
          <p:nvPr/>
        </p:nvPicPr>
        <p:blipFill rotWithShape="1">
          <a:blip r:embed="rId8">
            <a:alphaModFix/>
          </a:blip>
          <a:srcRect b="0" l="0" r="0" t="0"/>
          <a:stretch/>
        </p:blipFill>
        <p:spPr>
          <a:xfrm>
            <a:off x="6493025" y="1845438"/>
            <a:ext cx="5121900" cy="3105425"/>
          </a:xfrm>
          <a:prstGeom prst="rect">
            <a:avLst/>
          </a:prstGeom>
          <a:noFill/>
          <a:ln cap="flat" cmpd="sng" w="19050">
            <a:solidFill>
              <a:schemeClr val="dk1"/>
            </a:solidFill>
            <a:prstDash val="solid"/>
            <a:round/>
            <a:headEnd len="sm" w="sm" type="none"/>
            <a:tailEnd len="sm" w="sm" type="none"/>
          </a:ln>
        </p:spPr>
      </p:pic>
      <p:pic>
        <p:nvPicPr>
          <p:cNvPr id="210" name="Google Shape;210;g39a284b7f17_2_7"/>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211" name="Google Shape;211;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2" name="Google Shape;212;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13" name="Google Shape;213;g39a284b7f17_2_7"/>
          <p:cNvPicPr preferRelativeResize="0"/>
          <p:nvPr/>
        </p:nvPicPr>
        <p:blipFill rotWithShape="1">
          <a:blip r:embed="rId10">
            <a:alphaModFix/>
          </a:blip>
          <a:srcRect b="0" l="0" r="0" t="0"/>
          <a:stretch/>
        </p:blipFill>
        <p:spPr>
          <a:xfrm>
            <a:off x="-4" y="6211289"/>
            <a:ext cx="12192003" cy="1285104"/>
          </a:xfrm>
          <a:prstGeom prst="rect">
            <a:avLst/>
          </a:prstGeom>
          <a:noFill/>
          <a:ln>
            <a:noFill/>
          </a:ln>
        </p:spPr>
      </p:pic>
      <p:pic>
        <p:nvPicPr>
          <p:cNvPr id="214" name="Google Shape;214;g39a284b7f17_2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15" name="Google Shape;215;g39a284b7f17_2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ae2074359b_1_31"/>
          <p:cNvSpPr/>
          <p:nvPr/>
        </p:nvSpPr>
        <p:spPr>
          <a:xfrm>
            <a:off x="4773450" y="3529613"/>
            <a:ext cx="6994200" cy="239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1" name="Google Shape;221;g3ae2074359b_1_31"/>
          <p:cNvSpPr/>
          <p:nvPr/>
        </p:nvSpPr>
        <p:spPr>
          <a:xfrm>
            <a:off x="4544825" y="976113"/>
            <a:ext cx="7451700" cy="2390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22" name="Google Shape;222;g3ae2074359b_1_3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23" name="Google Shape;223;g3ae2074359b_1_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4" name="Google Shape;224;g3ae2074359b_1_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25" name="Google Shape;225;g3ae2074359b_1_3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THRESHOLD VOLTAGE</a:t>
            </a:r>
            <a:endParaRPr b="0" i="0" sz="3200" u="none" cap="none" strike="noStrike">
              <a:solidFill>
                <a:schemeClr val="dk1"/>
              </a:solidFill>
              <a:latin typeface="Times New Roman"/>
              <a:ea typeface="Times New Roman"/>
              <a:cs typeface="Times New Roman"/>
              <a:sym typeface="Times New Roman"/>
            </a:endParaRPr>
          </a:p>
        </p:txBody>
      </p:sp>
      <p:cxnSp>
        <p:nvCxnSpPr>
          <p:cNvPr id="226" name="Google Shape;226;g3ae2074359b_1_3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27" name="Google Shape;227;g3ae2074359b_1_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28" name="Google Shape;228;g3ae2074359b_1_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29" name="Google Shape;229;g3ae2074359b_1_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30" name="Google Shape;230;g3ae2074359b_1_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31" name="Google Shape;231;g3ae2074359b_1_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32" name="Google Shape;232;g3ae2074359b_1_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3" name="Google Shape;233;g3ae2074359b_1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4" name="Google Shape;234;g3ae2074359b_1_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35" name="Google Shape;235;g3ae2074359b_1_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6" name="Google Shape;236;g3ae2074359b_1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37" name="Google Shape;237;g3ae2074359b_1_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38" name="Google Shape;238;g3ae2074359b_1_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39" name="Google Shape;239;g3ae2074359b_1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40" name="Google Shape;240;g3ae2074359b_1_3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241" name="Google Shape;241;g3ae2074359b_1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2" name="Google Shape;242;g3ae2074359b_1_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3" name="Google Shape;243;g3ae2074359b_1_31"/>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244" name="Google Shape;244;g3ae2074359b_1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45" name="Google Shape;245;g3ae2074359b_1_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46" name="Google Shape;246;g3ae2074359b_1_31"/>
          <p:cNvPicPr preferRelativeResize="0"/>
          <p:nvPr/>
        </p:nvPicPr>
        <p:blipFill>
          <a:blip r:embed="rId10">
            <a:alphaModFix/>
          </a:blip>
          <a:stretch>
            <a:fillRect/>
          </a:stretch>
        </p:blipFill>
        <p:spPr>
          <a:xfrm>
            <a:off x="302915" y="1086750"/>
            <a:ext cx="3931196" cy="585000"/>
          </a:xfrm>
          <a:prstGeom prst="rect">
            <a:avLst/>
          </a:prstGeom>
          <a:noFill/>
          <a:ln cap="flat" cmpd="sng" w="28575">
            <a:solidFill>
              <a:schemeClr val="dk1"/>
            </a:solidFill>
            <a:prstDash val="solid"/>
            <a:round/>
            <a:headEnd len="sm" w="sm" type="none"/>
            <a:tailEnd len="sm" w="sm" type="none"/>
          </a:ln>
        </p:spPr>
      </p:pic>
      <p:pic>
        <p:nvPicPr>
          <p:cNvPr id="247" name="Google Shape;247;g3ae2074359b_1_31"/>
          <p:cNvPicPr preferRelativeResize="0"/>
          <p:nvPr/>
        </p:nvPicPr>
        <p:blipFill rotWithShape="1">
          <a:blip r:embed="rId11">
            <a:alphaModFix/>
          </a:blip>
          <a:srcRect b="0" l="803" r="0" t="41853"/>
          <a:stretch/>
        </p:blipFill>
        <p:spPr>
          <a:xfrm>
            <a:off x="4614000" y="1604688"/>
            <a:ext cx="7313100" cy="1583975"/>
          </a:xfrm>
          <a:prstGeom prst="rect">
            <a:avLst/>
          </a:prstGeom>
          <a:noFill/>
          <a:ln>
            <a:noFill/>
          </a:ln>
        </p:spPr>
      </p:pic>
      <p:pic>
        <p:nvPicPr>
          <p:cNvPr id="248" name="Google Shape;248;g3ae2074359b_1_31"/>
          <p:cNvPicPr preferRelativeResize="0"/>
          <p:nvPr/>
        </p:nvPicPr>
        <p:blipFill rotWithShape="1">
          <a:blip r:embed="rId12">
            <a:alphaModFix/>
          </a:blip>
          <a:srcRect b="0" l="0" r="0" t="16359"/>
          <a:stretch/>
        </p:blipFill>
        <p:spPr>
          <a:xfrm>
            <a:off x="4841550" y="3947623"/>
            <a:ext cx="6858000" cy="1768675"/>
          </a:xfrm>
          <a:prstGeom prst="rect">
            <a:avLst/>
          </a:prstGeom>
          <a:noFill/>
          <a:ln>
            <a:noFill/>
          </a:ln>
        </p:spPr>
      </p:pic>
      <p:pic>
        <p:nvPicPr>
          <p:cNvPr id="249" name="Google Shape;249;g3ae2074359b_1_31"/>
          <p:cNvPicPr preferRelativeResize="0"/>
          <p:nvPr/>
        </p:nvPicPr>
        <p:blipFill rotWithShape="1">
          <a:blip r:embed="rId11">
            <a:alphaModFix/>
          </a:blip>
          <a:srcRect b="57581" l="42120" r="38535" t="25866"/>
          <a:stretch/>
        </p:blipFill>
        <p:spPr>
          <a:xfrm>
            <a:off x="7921350" y="1153788"/>
            <a:ext cx="1426126" cy="450900"/>
          </a:xfrm>
          <a:prstGeom prst="rect">
            <a:avLst/>
          </a:prstGeom>
          <a:noFill/>
          <a:ln>
            <a:noFill/>
          </a:ln>
        </p:spPr>
      </p:pic>
      <p:sp>
        <p:nvSpPr>
          <p:cNvPr id="250" name="Google Shape;250;g3ae2074359b_1_31"/>
          <p:cNvSpPr txBox="1"/>
          <p:nvPr/>
        </p:nvSpPr>
        <p:spPr>
          <a:xfrm>
            <a:off x="5903850" y="1239138"/>
            <a:ext cx="2017500" cy="28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Flat Band Voltage :-</a:t>
            </a:r>
            <a:endParaRPr sz="1500">
              <a:solidFill>
                <a:schemeClr val="dk1"/>
              </a:solidFill>
              <a:latin typeface="Georgia"/>
              <a:ea typeface="Georgia"/>
              <a:cs typeface="Georgia"/>
              <a:sym typeface="Georgia"/>
            </a:endParaRPr>
          </a:p>
        </p:txBody>
      </p:sp>
      <p:pic>
        <p:nvPicPr>
          <p:cNvPr id="251" name="Google Shape;251;g3ae2074359b_1_31"/>
          <p:cNvPicPr preferRelativeResize="0"/>
          <p:nvPr/>
        </p:nvPicPr>
        <p:blipFill rotWithShape="1">
          <a:blip r:embed="rId12">
            <a:alphaModFix/>
          </a:blip>
          <a:srcRect b="89724" l="29298" r="65197" t="0"/>
          <a:stretch/>
        </p:blipFill>
        <p:spPr>
          <a:xfrm>
            <a:off x="8618075" y="3698888"/>
            <a:ext cx="377500" cy="217275"/>
          </a:xfrm>
          <a:prstGeom prst="rect">
            <a:avLst/>
          </a:prstGeom>
          <a:noFill/>
          <a:ln>
            <a:noFill/>
          </a:ln>
        </p:spPr>
      </p:pic>
      <p:sp>
        <p:nvSpPr>
          <p:cNvPr id="252" name="Google Shape;252;g3ae2074359b_1_31"/>
          <p:cNvSpPr txBox="1"/>
          <p:nvPr/>
        </p:nvSpPr>
        <p:spPr>
          <a:xfrm>
            <a:off x="6522450" y="3667425"/>
            <a:ext cx="2152800" cy="28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Fermi potential (x2)</a:t>
            </a:r>
            <a:r>
              <a:rPr lang="en-US" sz="1500">
                <a:solidFill>
                  <a:schemeClr val="dk1"/>
                </a:solidFill>
                <a:latin typeface="Georgia"/>
                <a:ea typeface="Georgia"/>
                <a:cs typeface="Georgia"/>
                <a:sym typeface="Georgia"/>
              </a:rPr>
              <a:t> :-</a:t>
            </a:r>
            <a:endParaRPr sz="1500">
              <a:solidFill>
                <a:schemeClr val="dk1"/>
              </a:solidFill>
              <a:latin typeface="Georgia"/>
              <a:ea typeface="Georgia"/>
              <a:cs typeface="Georgia"/>
              <a:sym typeface="Georgia"/>
            </a:endParaRPr>
          </a:p>
        </p:txBody>
      </p:sp>
      <p:pic>
        <p:nvPicPr>
          <p:cNvPr id="253" name="Google Shape;253;g3ae2074359b_1_31"/>
          <p:cNvPicPr preferRelativeResize="0"/>
          <p:nvPr/>
        </p:nvPicPr>
        <p:blipFill>
          <a:blip r:embed="rId13">
            <a:alphaModFix/>
          </a:blip>
          <a:stretch>
            <a:fillRect/>
          </a:stretch>
        </p:blipFill>
        <p:spPr>
          <a:xfrm>
            <a:off x="736700" y="1887525"/>
            <a:ext cx="3302376" cy="1893074"/>
          </a:xfrm>
          <a:prstGeom prst="rect">
            <a:avLst/>
          </a:prstGeom>
          <a:noFill/>
          <a:ln cap="flat" cmpd="sng" w="19050">
            <a:solidFill>
              <a:schemeClr val="dk1"/>
            </a:solidFill>
            <a:prstDash val="solid"/>
            <a:round/>
            <a:headEnd len="sm" w="sm" type="none"/>
            <a:tailEnd len="sm" w="sm" type="none"/>
          </a:ln>
        </p:spPr>
      </p:pic>
      <p:pic>
        <p:nvPicPr>
          <p:cNvPr id="254" name="Google Shape;254;g3ae2074359b_1_31"/>
          <p:cNvPicPr preferRelativeResize="0"/>
          <p:nvPr/>
        </p:nvPicPr>
        <p:blipFill>
          <a:blip r:embed="rId14">
            <a:alphaModFix/>
          </a:blip>
          <a:stretch>
            <a:fillRect/>
          </a:stretch>
        </p:blipFill>
        <p:spPr>
          <a:xfrm>
            <a:off x="588587" y="3916150"/>
            <a:ext cx="3645500" cy="20512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a3ec9b3325_1_36"/>
          <p:cNvSpPr/>
          <p:nvPr/>
        </p:nvSpPr>
        <p:spPr>
          <a:xfrm>
            <a:off x="272625" y="1408788"/>
            <a:ext cx="7224900" cy="2663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0" name="Google Shape;260;g3a3ec9b3325_1_36"/>
          <p:cNvSpPr/>
          <p:nvPr/>
        </p:nvSpPr>
        <p:spPr>
          <a:xfrm>
            <a:off x="4676850" y="4397638"/>
            <a:ext cx="7152000" cy="1676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61" name="Google Shape;261;g3a3ec9b3325_1_3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62" name="Google Shape;262;g3a3ec9b3325_1_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3" name="Google Shape;263;g3a3ec9b3325_1_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64" name="Google Shape;264;g3a3ec9b3325_1_36"/>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THRESHOLD VOLTAGE</a:t>
            </a:r>
            <a:endParaRPr b="0" i="0" sz="3200" u="none" cap="none" strike="noStrike">
              <a:solidFill>
                <a:schemeClr val="dk1"/>
              </a:solidFill>
              <a:latin typeface="Times New Roman"/>
              <a:ea typeface="Times New Roman"/>
              <a:cs typeface="Times New Roman"/>
              <a:sym typeface="Times New Roman"/>
            </a:endParaRPr>
          </a:p>
        </p:txBody>
      </p:sp>
      <p:cxnSp>
        <p:nvCxnSpPr>
          <p:cNvPr id="265" name="Google Shape;265;g3a3ec9b3325_1_36"/>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266" name="Google Shape;266;g3a3ec9b3325_1_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67" name="Google Shape;267;g3a3ec9b3325_1_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68" name="Google Shape;268;g3a3ec9b3325_1_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269" name="Google Shape;269;g3a3ec9b3325_1_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270" name="Google Shape;270;g3a3ec9b3325_1_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71" name="Google Shape;271;g3a3ec9b3325_1_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2" name="Google Shape;272;g3a3ec9b3325_1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3" name="Google Shape;273;g3a3ec9b3325_1_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74" name="Google Shape;274;g3a3ec9b3325_1_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5" name="Google Shape;275;g3a3ec9b3325_1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6" name="Google Shape;276;g3a3ec9b3325_1_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277" name="Google Shape;277;g3a3ec9b3325_1_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78" name="Google Shape;278;g3a3ec9b3325_1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279" name="Google Shape;279;g3a3ec9b3325_1_3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280" name="Google Shape;280;g3a3ec9b3325_1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1" name="Google Shape;281;g3a3ec9b3325_1_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2" name="Google Shape;282;g3a3ec9b3325_1_36"/>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283" name="Google Shape;283;g3a3ec9b3325_1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284" name="Google Shape;284;g3a3ec9b3325_1_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285" name="Google Shape;285;g3a3ec9b3325_1_36"/>
          <p:cNvPicPr preferRelativeResize="0"/>
          <p:nvPr/>
        </p:nvPicPr>
        <p:blipFill rotWithShape="1">
          <a:blip r:embed="rId10">
            <a:alphaModFix/>
          </a:blip>
          <a:srcRect b="52572" l="0" r="0" t="0"/>
          <a:stretch/>
        </p:blipFill>
        <p:spPr>
          <a:xfrm>
            <a:off x="428588" y="1508236"/>
            <a:ext cx="6912975" cy="2476450"/>
          </a:xfrm>
          <a:prstGeom prst="rect">
            <a:avLst/>
          </a:prstGeom>
          <a:noFill/>
          <a:ln>
            <a:noFill/>
          </a:ln>
        </p:spPr>
      </p:pic>
      <p:pic>
        <p:nvPicPr>
          <p:cNvPr id="286" name="Google Shape;286;g3a3ec9b3325_1_36"/>
          <p:cNvPicPr preferRelativeResize="0"/>
          <p:nvPr/>
        </p:nvPicPr>
        <p:blipFill>
          <a:blip r:embed="rId11">
            <a:alphaModFix/>
          </a:blip>
          <a:stretch>
            <a:fillRect/>
          </a:stretch>
        </p:blipFill>
        <p:spPr>
          <a:xfrm>
            <a:off x="4130402" y="754300"/>
            <a:ext cx="3931196" cy="585000"/>
          </a:xfrm>
          <a:prstGeom prst="rect">
            <a:avLst/>
          </a:prstGeom>
          <a:noFill/>
          <a:ln cap="flat" cmpd="sng" w="28575">
            <a:solidFill>
              <a:schemeClr val="dk1"/>
            </a:solidFill>
            <a:prstDash val="solid"/>
            <a:round/>
            <a:headEnd len="sm" w="sm" type="none"/>
            <a:tailEnd len="sm" w="sm" type="none"/>
          </a:ln>
        </p:spPr>
      </p:pic>
      <p:pic>
        <p:nvPicPr>
          <p:cNvPr id="287" name="Google Shape;287;g3a3ec9b3325_1_36"/>
          <p:cNvPicPr preferRelativeResize="0"/>
          <p:nvPr/>
        </p:nvPicPr>
        <p:blipFill rotWithShape="1">
          <a:blip r:embed="rId10">
            <a:alphaModFix/>
          </a:blip>
          <a:srcRect b="0" l="0" r="0" t="75389"/>
          <a:stretch/>
        </p:blipFill>
        <p:spPr>
          <a:xfrm>
            <a:off x="4723875" y="4527850"/>
            <a:ext cx="7057950" cy="1416000"/>
          </a:xfrm>
          <a:prstGeom prst="rect">
            <a:avLst/>
          </a:prstGeom>
          <a:noFill/>
          <a:ln>
            <a:noFill/>
          </a:ln>
        </p:spPr>
      </p:pic>
      <p:pic>
        <p:nvPicPr>
          <p:cNvPr id="288" name="Google Shape;288;g3a3ec9b3325_1_36"/>
          <p:cNvPicPr preferRelativeResize="0"/>
          <p:nvPr/>
        </p:nvPicPr>
        <p:blipFill rotWithShape="1">
          <a:blip r:embed="rId12">
            <a:alphaModFix/>
          </a:blip>
          <a:srcRect b="0" l="12540" r="12547" t="0"/>
          <a:stretch/>
        </p:blipFill>
        <p:spPr>
          <a:xfrm>
            <a:off x="8154675" y="1585775"/>
            <a:ext cx="3327750" cy="2498675"/>
          </a:xfrm>
          <a:prstGeom prst="rect">
            <a:avLst/>
          </a:prstGeom>
          <a:noFill/>
          <a:ln cap="flat" cmpd="sng" w="19050">
            <a:solidFill>
              <a:schemeClr val="dk1"/>
            </a:solidFill>
            <a:prstDash val="solid"/>
            <a:round/>
            <a:headEnd len="sm" w="sm" type="none"/>
            <a:tailEnd len="sm" w="sm" type="none"/>
          </a:ln>
        </p:spPr>
      </p:pic>
      <p:pic>
        <p:nvPicPr>
          <p:cNvPr id="289" name="Google Shape;289;g3a3ec9b3325_1_36"/>
          <p:cNvPicPr preferRelativeResize="0"/>
          <p:nvPr/>
        </p:nvPicPr>
        <p:blipFill rotWithShape="1">
          <a:blip r:embed="rId13">
            <a:alphaModFix/>
          </a:blip>
          <a:srcRect b="0" l="16047" r="16040" t="0"/>
          <a:stretch/>
        </p:blipFill>
        <p:spPr>
          <a:xfrm>
            <a:off x="958025" y="4178750"/>
            <a:ext cx="2418550" cy="2003276"/>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3ec9b3325_1_66"/>
          <p:cNvSpPr txBox="1"/>
          <p:nvPr/>
        </p:nvSpPr>
        <p:spPr>
          <a:xfrm>
            <a:off x="222100" y="921601"/>
            <a:ext cx="8557200" cy="5076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15900" lvl="0" marL="342900" rtl="0" algn="l">
              <a:lnSpc>
                <a:spcPct val="115000"/>
              </a:lnSpc>
              <a:spcBef>
                <a:spcPts val="1200"/>
              </a:spcBef>
              <a:spcAft>
                <a:spcPts val="0"/>
              </a:spcAft>
              <a:buClr>
                <a:schemeClr val="dk1"/>
              </a:buClr>
              <a:buSzPts val="1600"/>
              <a:buFont typeface="Georgia"/>
              <a:buAutoNum type="arabicPeriod"/>
            </a:pPr>
            <a:r>
              <a:rPr b="1" lang="en-US" sz="1600">
                <a:solidFill>
                  <a:schemeClr val="dk1"/>
                </a:solidFill>
                <a:latin typeface="Georgia"/>
                <a:ea typeface="Georgia"/>
                <a:cs typeface="Georgia"/>
                <a:sym typeface="Georgia"/>
              </a:rPr>
              <a:t>Direct tunneling -&gt;</a:t>
            </a:r>
            <a:endParaRPr sz="1600">
              <a:solidFill>
                <a:schemeClr val="dk1"/>
              </a:solidFill>
              <a:latin typeface="Georgia"/>
              <a:ea typeface="Georgia"/>
              <a:cs typeface="Georgia"/>
              <a:sym typeface="Georgia"/>
            </a:endParaRPr>
          </a:p>
          <a:p>
            <a:pPr indent="-330200" lvl="1" marL="914400" rtl="0" algn="l">
              <a:lnSpc>
                <a:spcPct val="115000"/>
              </a:lnSpc>
              <a:spcBef>
                <a:spcPts val="120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Electrons pass through an intact but </a:t>
            </a:r>
            <a:r>
              <a:rPr b="1" lang="en-US" sz="1600">
                <a:solidFill>
                  <a:schemeClr val="dk1"/>
                </a:solidFill>
                <a:latin typeface="Georgia"/>
                <a:ea typeface="Georgia"/>
                <a:cs typeface="Georgia"/>
                <a:sym typeface="Georgia"/>
              </a:rPr>
              <a:t>very thin </a:t>
            </a:r>
            <a:r>
              <a:rPr lang="en-US" sz="1600">
                <a:solidFill>
                  <a:schemeClr val="dk1"/>
                </a:solidFill>
                <a:latin typeface="Georgia"/>
                <a:ea typeface="Georgia"/>
                <a:cs typeface="Georgia"/>
                <a:sym typeface="Georgia"/>
              </a:rPr>
              <a:t>SiO₂ layer purely by quantum tunneling, producing a small but measurable gate leakage under normal operating fields; this is not tied to SBD or HBD and happens even in healthy devices.</a:t>
            </a:r>
            <a:endParaRPr sz="1600">
              <a:solidFill>
                <a:schemeClr val="dk1"/>
              </a:solidFill>
              <a:latin typeface="Georgia"/>
              <a:ea typeface="Georgia"/>
              <a:cs typeface="Georgia"/>
              <a:sym typeface="Georgia"/>
            </a:endParaRPr>
          </a:p>
          <a:p>
            <a:pPr indent="-215900" lvl="0" marL="342900" rtl="0" algn="l">
              <a:lnSpc>
                <a:spcPct val="115000"/>
              </a:lnSpc>
              <a:spcBef>
                <a:spcPts val="1000"/>
              </a:spcBef>
              <a:spcAft>
                <a:spcPts val="0"/>
              </a:spcAft>
              <a:buClr>
                <a:schemeClr val="dk1"/>
              </a:buClr>
              <a:buSzPts val="1600"/>
              <a:buFont typeface="Georgia"/>
              <a:buAutoNum type="arabicPeriod"/>
            </a:pPr>
            <a:r>
              <a:rPr b="1" lang="en-US" sz="1600">
                <a:solidFill>
                  <a:schemeClr val="dk1"/>
                </a:solidFill>
                <a:latin typeface="Georgia"/>
                <a:ea typeface="Georgia"/>
                <a:cs typeface="Georgia"/>
                <a:sym typeface="Georgia"/>
              </a:rPr>
              <a:t>Fowler–Nordheim tunneling</a:t>
            </a:r>
            <a:r>
              <a:rPr lang="en-US" sz="1600">
                <a:solidFill>
                  <a:schemeClr val="dk1"/>
                </a:solidFill>
                <a:latin typeface="Georgia"/>
                <a:ea typeface="Georgia"/>
                <a:cs typeface="Georgia"/>
                <a:sym typeface="Georgia"/>
              </a:rPr>
              <a:t> -&gt;</a:t>
            </a:r>
            <a:endParaRPr sz="1600">
              <a:solidFill>
                <a:schemeClr val="dk1"/>
              </a:solidFill>
              <a:latin typeface="Georgia"/>
              <a:ea typeface="Georgia"/>
              <a:cs typeface="Georgia"/>
              <a:sym typeface="Georgia"/>
            </a:endParaRPr>
          </a:p>
          <a:p>
            <a:pPr indent="-330200" lvl="1" marL="914400" rtl="0" algn="l">
              <a:lnSpc>
                <a:spcPct val="115000"/>
              </a:lnSpc>
              <a:spcBef>
                <a:spcPts val="100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At higher oxide electric fields the barrier at the oxide becomes triangular and electrons tunnel through it more easily, causing a rapid rise in gate current</a:t>
            </a:r>
            <a:endParaRPr sz="1600">
              <a:solidFill>
                <a:schemeClr val="dk1"/>
              </a:solidFill>
              <a:latin typeface="Georgia"/>
              <a:ea typeface="Georgia"/>
              <a:cs typeface="Georgia"/>
              <a:sym typeface="Georgia"/>
            </a:endParaRPr>
          </a:p>
          <a:p>
            <a:pPr indent="-330200" lvl="1" marL="914400" rtl="0" algn="l">
              <a:lnSpc>
                <a:spcPct val="115000"/>
              </a:lnSpc>
              <a:spcBef>
                <a:spcPts val="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FN tunneling can occur before SBD, and prolonged FN stress is one of the pathways that initiates SBD.</a:t>
            </a:r>
            <a:endParaRPr sz="1600">
              <a:solidFill>
                <a:schemeClr val="dk1"/>
              </a:solidFill>
              <a:latin typeface="Georgia"/>
              <a:ea typeface="Georgia"/>
              <a:cs typeface="Georgia"/>
              <a:sym typeface="Georgia"/>
            </a:endParaRPr>
          </a:p>
          <a:p>
            <a:pPr indent="-215900" lvl="0" marL="342900" rtl="0" algn="l">
              <a:lnSpc>
                <a:spcPct val="115000"/>
              </a:lnSpc>
              <a:spcBef>
                <a:spcPts val="1200"/>
              </a:spcBef>
              <a:spcAft>
                <a:spcPts val="0"/>
              </a:spcAft>
              <a:buClr>
                <a:schemeClr val="dk1"/>
              </a:buClr>
              <a:buSzPts val="1600"/>
              <a:buFont typeface="Georgia"/>
              <a:buAutoNum type="arabicPeriod"/>
            </a:pPr>
            <a:r>
              <a:rPr b="1" lang="en-US" sz="1600">
                <a:solidFill>
                  <a:schemeClr val="dk1"/>
                </a:solidFill>
                <a:latin typeface="Georgia"/>
                <a:ea typeface="Georgia"/>
                <a:cs typeface="Georgia"/>
                <a:sym typeface="Georgia"/>
              </a:rPr>
              <a:t>Trap-assisted tunneling</a:t>
            </a:r>
            <a:r>
              <a:rPr lang="en-US" sz="1600">
                <a:solidFill>
                  <a:schemeClr val="dk1"/>
                </a:solidFill>
                <a:latin typeface="Georgia"/>
                <a:ea typeface="Georgia"/>
                <a:cs typeface="Georgia"/>
                <a:sym typeface="Georgia"/>
              </a:rPr>
              <a:t> (</a:t>
            </a:r>
            <a:r>
              <a:rPr b="1" lang="en-US" sz="1600">
                <a:solidFill>
                  <a:schemeClr val="dk1"/>
                </a:solidFill>
                <a:latin typeface="Georgia"/>
                <a:ea typeface="Georgia"/>
                <a:cs typeface="Georgia"/>
                <a:sym typeface="Georgia"/>
              </a:rPr>
              <a:t>most dominant </a:t>
            </a:r>
            <a:r>
              <a:rPr lang="en-US" sz="1600">
                <a:solidFill>
                  <a:schemeClr val="dk1"/>
                </a:solidFill>
                <a:latin typeface="Georgia"/>
                <a:ea typeface="Georgia"/>
                <a:cs typeface="Georgia"/>
                <a:sym typeface="Georgia"/>
              </a:rPr>
              <a:t>mechanism) </a:t>
            </a:r>
            <a:endParaRPr sz="1600">
              <a:solidFill>
                <a:schemeClr val="dk1"/>
              </a:solidFill>
              <a:latin typeface="Georgia"/>
              <a:ea typeface="Georgia"/>
              <a:cs typeface="Georgia"/>
              <a:sym typeface="Georgia"/>
            </a:endParaRPr>
          </a:p>
          <a:p>
            <a:pPr indent="-330200" lvl="1" marL="914400" rtl="0" algn="l">
              <a:lnSpc>
                <a:spcPct val="115000"/>
              </a:lnSpc>
              <a:spcBef>
                <a:spcPts val="100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Electrons hop through defect states inside the oxide instead of tunneling directly across, giving leakage that depends strongly on how many traps exist</a:t>
            </a:r>
            <a:endParaRPr sz="1600">
              <a:solidFill>
                <a:schemeClr val="dk1"/>
              </a:solidFill>
              <a:latin typeface="Georgia"/>
              <a:ea typeface="Georgia"/>
              <a:cs typeface="Georgia"/>
              <a:sym typeface="Georgia"/>
            </a:endParaRPr>
          </a:p>
          <a:p>
            <a:pPr indent="-330200" lvl="1" marL="914400" rtl="0" algn="l">
              <a:lnSpc>
                <a:spcPct val="115000"/>
              </a:lnSpc>
              <a:spcBef>
                <a:spcPts val="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This mechanism becomes significantly stronger during soft breakdown, because SBD creates new traps that form partial conduction paths.</a:t>
            </a:r>
            <a:endParaRPr sz="1600">
              <a:solidFill>
                <a:schemeClr val="dk1"/>
              </a:solidFill>
              <a:latin typeface="Georgia"/>
              <a:ea typeface="Georgia"/>
              <a:cs typeface="Georgia"/>
              <a:sym typeface="Georgia"/>
            </a:endParaRPr>
          </a:p>
        </p:txBody>
      </p:sp>
      <p:pic>
        <p:nvPicPr>
          <p:cNvPr id="295" name="Google Shape;295;g3a3ec9b3325_1_6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296" name="Google Shape;296;g3a3ec9b3325_1_6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297" name="Google Shape;297;g3a3ec9b3325_1_6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298" name="Google Shape;298;g3a3ec9b3325_1_66"/>
          <p:cNvSpPr txBox="1"/>
          <p:nvPr/>
        </p:nvSpPr>
        <p:spPr>
          <a:xfrm>
            <a:off x="0" y="46225"/>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Leakage Current - sources &amp; mechanisms</a:t>
            </a:r>
            <a:endParaRPr b="0" i="0" sz="3200" u="none" cap="none" strike="noStrike">
              <a:solidFill>
                <a:schemeClr val="dk1"/>
              </a:solidFill>
              <a:latin typeface="Times New Roman"/>
              <a:ea typeface="Times New Roman"/>
              <a:cs typeface="Times New Roman"/>
              <a:sym typeface="Times New Roman"/>
            </a:endParaRPr>
          </a:p>
        </p:txBody>
      </p:sp>
      <p:cxnSp>
        <p:nvCxnSpPr>
          <p:cNvPr id="299" name="Google Shape;299;g3a3ec9b3325_1_66"/>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300" name="Google Shape;300;g3a3ec9b3325_1_6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01" name="Google Shape;301;g3a3ec9b3325_1_6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02" name="Google Shape;302;g3a3ec9b3325_1_6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03" name="Google Shape;303;g3a3ec9b3325_1_6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04" name="Google Shape;304;g3a3ec9b3325_1_6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05" name="Google Shape;305;g3a3ec9b3325_1_6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06" name="Google Shape;306;g3a3ec9b3325_1_6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07" name="Google Shape;307;g3a3ec9b3325_1_6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08" name="Google Shape;308;g3a3ec9b3325_1_6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09" name="Google Shape;309;g3a3ec9b3325_1_6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10" name="Google Shape;310;g3a3ec9b3325_1_6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11" name="Google Shape;311;g3a3ec9b3325_1_6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12" name="Google Shape;312;g3a3ec9b3325_1_6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13" name="Google Shape;313;g3a3ec9b3325_1_6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314" name="Google Shape;314;g3a3ec9b3325_1_6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315" name="Google Shape;315;g3a3ec9b3325_1_6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16" name="Google Shape;316;g3a3ec9b3325_1_66"/>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317" name="Google Shape;317;g3a3ec9b3325_1_6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318" name="Google Shape;318;g3a3ec9b3325_1_6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319" name="Google Shape;319;g3a3ec9b3325_1_66"/>
          <p:cNvSpPr txBox="1"/>
          <p:nvPr/>
        </p:nvSpPr>
        <p:spPr>
          <a:xfrm>
            <a:off x="8969350" y="620313"/>
            <a:ext cx="3093600" cy="677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15900" lvl="0" marL="457200" rtl="0" algn="l">
              <a:spcBef>
                <a:spcPts val="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SBD : soft breakdown</a:t>
            </a:r>
            <a:endParaRPr sz="1600">
              <a:solidFill>
                <a:schemeClr val="dk1"/>
              </a:solidFill>
              <a:latin typeface="Georgia"/>
              <a:ea typeface="Georgia"/>
              <a:cs typeface="Georgia"/>
              <a:sym typeface="Georgia"/>
            </a:endParaRPr>
          </a:p>
          <a:p>
            <a:pPr indent="-215900" lvl="0" marL="457200" rtl="0" algn="l">
              <a:spcBef>
                <a:spcPts val="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HBD : hard breakdown</a:t>
            </a:r>
            <a:endParaRPr sz="2800">
              <a:solidFill>
                <a:schemeClr val="dk1"/>
              </a:solidFill>
              <a:latin typeface="Calibri"/>
              <a:ea typeface="Calibri"/>
              <a:cs typeface="Calibri"/>
              <a:sym typeface="Calibri"/>
            </a:endParaRPr>
          </a:p>
        </p:txBody>
      </p:sp>
      <p:pic>
        <p:nvPicPr>
          <p:cNvPr id="320" name="Google Shape;320;g3a3ec9b3325_1_66"/>
          <p:cNvPicPr preferRelativeResize="0"/>
          <p:nvPr/>
        </p:nvPicPr>
        <p:blipFill rotWithShape="1">
          <a:blip r:embed="rId10">
            <a:alphaModFix/>
          </a:blip>
          <a:srcRect b="0" l="0" r="14755" t="0"/>
          <a:stretch/>
        </p:blipFill>
        <p:spPr>
          <a:xfrm>
            <a:off x="8860400" y="1332725"/>
            <a:ext cx="3311525" cy="2489350"/>
          </a:xfrm>
          <a:prstGeom prst="rect">
            <a:avLst/>
          </a:prstGeom>
          <a:noFill/>
          <a:ln cap="flat" cmpd="sng" w="19050">
            <a:solidFill>
              <a:schemeClr val="dk1"/>
            </a:solidFill>
            <a:prstDash val="solid"/>
            <a:round/>
            <a:headEnd len="sm" w="sm" type="none"/>
            <a:tailEnd len="sm" w="sm" type="none"/>
          </a:ln>
        </p:spPr>
      </p:pic>
      <p:pic>
        <p:nvPicPr>
          <p:cNvPr id="321" name="Google Shape;321;g3a3ec9b3325_1_66"/>
          <p:cNvPicPr preferRelativeResize="0"/>
          <p:nvPr/>
        </p:nvPicPr>
        <p:blipFill>
          <a:blip r:embed="rId11">
            <a:alphaModFix/>
          </a:blip>
          <a:stretch>
            <a:fillRect/>
          </a:stretch>
        </p:blipFill>
        <p:spPr>
          <a:xfrm>
            <a:off x="8941492" y="3873563"/>
            <a:ext cx="3149342" cy="18254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ae2074359b_1_75"/>
          <p:cNvSpPr txBox="1"/>
          <p:nvPr/>
        </p:nvSpPr>
        <p:spPr>
          <a:xfrm>
            <a:off x="201100" y="1345200"/>
            <a:ext cx="6237600" cy="4205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Font typeface="Georgia"/>
              <a:buAutoNum type="arabicPeriod"/>
            </a:pPr>
            <a:r>
              <a:rPr b="1" lang="en-US" sz="1600">
                <a:solidFill>
                  <a:schemeClr val="dk1"/>
                </a:solidFill>
                <a:latin typeface="Georgia"/>
                <a:ea typeface="Georgia"/>
                <a:cs typeface="Georgia"/>
                <a:sym typeface="Georgia"/>
              </a:rPr>
              <a:t>Soft-breakdown leakage path conduction: </a:t>
            </a:r>
            <a:endParaRPr sz="1600">
              <a:solidFill>
                <a:schemeClr val="dk1"/>
              </a:solidFill>
              <a:latin typeface="Georgia"/>
              <a:ea typeface="Georgia"/>
              <a:cs typeface="Georgia"/>
              <a:sym typeface="Georgia"/>
            </a:endParaRPr>
          </a:p>
          <a:p>
            <a:pPr indent="-330200" lvl="1" marL="914400" rtl="0" algn="l">
              <a:lnSpc>
                <a:spcPct val="115000"/>
              </a:lnSpc>
              <a:spcBef>
                <a:spcPts val="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Once enough traps have formed to create partial percolation chains, the oxide still stands but current increases in irregular steps or fluctuates over time</a:t>
            </a:r>
            <a:endParaRPr sz="1600">
              <a:solidFill>
                <a:schemeClr val="dk1"/>
              </a:solidFill>
              <a:latin typeface="Georgia"/>
              <a:ea typeface="Georgia"/>
              <a:cs typeface="Georgia"/>
              <a:sym typeface="Georgia"/>
            </a:endParaRPr>
          </a:p>
          <a:p>
            <a:pPr indent="-330200" lvl="1" marL="914400" rtl="0" algn="l">
              <a:lnSpc>
                <a:spcPct val="115000"/>
              </a:lnSpc>
              <a:spcBef>
                <a:spcPts val="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This leakage is exclusive to SBD and represents the oxide in a degraded but not yet ruptured state.</a:t>
            </a:r>
            <a:br>
              <a:rPr lang="en-US" sz="1600">
                <a:solidFill>
                  <a:schemeClr val="dk1"/>
                </a:solidFill>
                <a:latin typeface="Georgia"/>
                <a:ea typeface="Georgia"/>
                <a:cs typeface="Georgia"/>
                <a:sym typeface="Georgia"/>
              </a:rPr>
            </a:br>
            <a:endParaRPr sz="1600">
              <a:solidFill>
                <a:schemeClr val="dk1"/>
              </a:solidFill>
              <a:latin typeface="Georgia"/>
              <a:ea typeface="Georgia"/>
              <a:cs typeface="Georgia"/>
              <a:sym typeface="Georgia"/>
            </a:endParaRPr>
          </a:p>
          <a:p>
            <a:pPr indent="-330200" lvl="0" marL="457200" rtl="0" algn="l">
              <a:lnSpc>
                <a:spcPct val="115000"/>
              </a:lnSpc>
              <a:spcBef>
                <a:spcPts val="0"/>
              </a:spcBef>
              <a:spcAft>
                <a:spcPts val="0"/>
              </a:spcAft>
              <a:buClr>
                <a:schemeClr val="dk1"/>
              </a:buClr>
              <a:buSzPts val="1600"/>
              <a:buFont typeface="Georgia"/>
              <a:buAutoNum type="arabicPeriod"/>
            </a:pPr>
            <a:r>
              <a:rPr b="1" lang="en-US" sz="1600">
                <a:solidFill>
                  <a:schemeClr val="dk1"/>
                </a:solidFill>
                <a:latin typeface="Georgia"/>
                <a:ea typeface="Georgia"/>
                <a:cs typeface="Georgia"/>
                <a:sym typeface="Georgia"/>
              </a:rPr>
              <a:t>Hard-breakdown filament conduction: </a:t>
            </a:r>
            <a:endParaRPr sz="1600">
              <a:solidFill>
                <a:schemeClr val="dk1"/>
              </a:solidFill>
              <a:latin typeface="Georgia"/>
              <a:ea typeface="Georgia"/>
              <a:cs typeface="Georgia"/>
              <a:sym typeface="Georgia"/>
            </a:endParaRPr>
          </a:p>
          <a:p>
            <a:pPr indent="-330200" lvl="1" marL="914400" rtl="0" algn="l">
              <a:lnSpc>
                <a:spcPct val="115000"/>
              </a:lnSpc>
              <a:spcBef>
                <a:spcPts val="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When the percolation paths merge into a continuous conductive filament through the oxide, the gate current rises abruptly and becomes limited only by compliance</a:t>
            </a:r>
            <a:endParaRPr sz="1600">
              <a:solidFill>
                <a:schemeClr val="dk1"/>
              </a:solidFill>
              <a:latin typeface="Georgia"/>
              <a:ea typeface="Georgia"/>
              <a:cs typeface="Georgia"/>
              <a:sym typeface="Georgia"/>
            </a:endParaRPr>
          </a:p>
          <a:p>
            <a:pPr indent="-330200" lvl="1" marL="914400" rtl="0" algn="l">
              <a:lnSpc>
                <a:spcPct val="115000"/>
              </a:lnSpc>
              <a:spcBef>
                <a:spcPts val="0"/>
              </a:spcBef>
              <a:spcAft>
                <a:spcPts val="0"/>
              </a:spcAft>
              <a:buClr>
                <a:schemeClr val="dk1"/>
              </a:buClr>
              <a:buSzPts val="1600"/>
              <a:buFont typeface="Georgia"/>
              <a:buAutoNum type="alphaLcPeriod"/>
            </a:pPr>
            <a:r>
              <a:rPr lang="en-US" sz="1600">
                <a:solidFill>
                  <a:schemeClr val="dk1"/>
                </a:solidFill>
                <a:latin typeface="Georgia"/>
                <a:ea typeface="Georgia"/>
                <a:cs typeface="Georgia"/>
                <a:sym typeface="Georgia"/>
              </a:rPr>
              <a:t>This large, irreversible leakage mechanism appears only during HBD and signals physical oxide rupture.</a:t>
            </a:r>
            <a:endParaRPr sz="1600">
              <a:solidFill>
                <a:schemeClr val="dk1"/>
              </a:solidFill>
              <a:latin typeface="Georgia"/>
              <a:ea typeface="Georgia"/>
              <a:cs typeface="Georgia"/>
              <a:sym typeface="Georgia"/>
            </a:endParaRPr>
          </a:p>
        </p:txBody>
      </p:sp>
      <p:pic>
        <p:nvPicPr>
          <p:cNvPr id="327" name="Google Shape;327;g3ae2074359b_1_75"/>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328" name="Google Shape;328;g3ae2074359b_1_7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29" name="Google Shape;329;g3ae2074359b_1_7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330" name="Google Shape;330;g3ae2074359b_1_75"/>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Leakage Current - SBD and HBD behaviour</a:t>
            </a:r>
            <a:endParaRPr b="0" i="0" sz="3200" u="none" cap="none" strike="noStrike">
              <a:solidFill>
                <a:schemeClr val="dk1"/>
              </a:solidFill>
              <a:latin typeface="Times New Roman"/>
              <a:ea typeface="Times New Roman"/>
              <a:cs typeface="Times New Roman"/>
              <a:sym typeface="Times New Roman"/>
            </a:endParaRPr>
          </a:p>
        </p:txBody>
      </p:sp>
      <p:cxnSp>
        <p:nvCxnSpPr>
          <p:cNvPr id="331" name="Google Shape;331;g3ae2074359b_1_75"/>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332" name="Google Shape;332;g3ae2074359b_1_7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33" name="Google Shape;333;g3ae2074359b_1_7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34" name="Google Shape;334;g3ae2074359b_1_7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35" name="Google Shape;335;g3ae2074359b_1_7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36" name="Google Shape;336;g3ae2074359b_1_7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37" name="Google Shape;337;g3ae2074359b_1_7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38" name="Google Shape;338;g3ae2074359b_1_7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39" name="Google Shape;339;g3ae2074359b_1_7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40" name="Google Shape;340;g3ae2074359b_1_7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1" name="Google Shape;341;g3ae2074359b_1_7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42" name="Google Shape;342;g3ae2074359b_1_7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43" name="Google Shape;343;g3ae2074359b_1_7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4" name="Google Shape;344;g3ae2074359b_1_7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45" name="Google Shape;345;g3ae2074359b_1_75"/>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346" name="Google Shape;346;g3ae2074359b_1_7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347" name="Google Shape;347;g3ae2074359b_1_7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48" name="Google Shape;348;g3ae2074359b_1_75"/>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349" name="Google Shape;349;g3ae2074359b_1_7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350" name="Google Shape;350;g3ae2074359b_1_7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51" name="Google Shape;351;g3ae2074359b_1_75"/>
          <p:cNvPicPr preferRelativeResize="0"/>
          <p:nvPr/>
        </p:nvPicPr>
        <p:blipFill rotWithShape="1">
          <a:blip r:embed="rId10">
            <a:alphaModFix/>
          </a:blip>
          <a:srcRect b="8097" l="9511" r="2094" t="8331"/>
          <a:stretch/>
        </p:blipFill>
        <p:spPr>
          <a:xfrm>
            <a:off x="6711400" y="1922475"/>
            <a:ext cx="5295550" cy="3070563"/>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id="356" name="Google Shape;356;g39a284b7f17_2_9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357" name="Google Shape;357;g39a284b7f17_2_9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58" name="Google Shape;358;g39a284b7f17_2_9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359" name="Google Shape;359;g39a284b7f17_2_90"/>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360" name="Google Shape;360;g39a284b7f17_2_9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361" name="Google Shape;361;g39a284b7f17_2_9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62" name="Google Shape;362;g39a284b7f17_2_9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63" name="Google Shape;363;g39a284b7f17_2_9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64" name="Google Shape;364;g39a284b7f17_2_9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65" name="Google Shape;365;g39a284b7f17_2_9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66" name="Google Shape;366;g39a284b7f17_2_9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67" name="Google Shape;367;g39a284b7f17_2_90"/>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368" name="Google Shape;368;g39a284b7f17_2_9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69" name="Google Shape;369;g39a284b7f17_2_9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70" name="Google Shape;370;g39a284b7f17_2_9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71" name="Google Shape;371;g39a284b7f17_2_9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72" name="Google Shape;372;g39a284b7f17_2_9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73" name="Google Shape;373;g39a284b7f17_2_9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74" name="Google Shape;374;g39a284b7f17_2_9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375" name="Google Shape;375;g39a284b7f17_2_9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376" name="Google Shape;376;g39a284b7f17_2_9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77" name="Google Shape;377;g39a284b7f17_2_90"/>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378" name="Google Shape;378;g39a284b7f17_2_9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379" name="Google Shape;379;g39a284b7f17_2_9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380" name="Google Shape;380;g39a284b7f17_2_90"/>
          <p:cNvSpPr txBox="1"/>
          <p:nvPr/>
        </p:nvSpPr>
        <p:spPr>
          <a:xfrm>
            <a:off x="265800" y="1447100"/>
            <a:ext cx="11603400" cy="3330300"/>
          </a:xfrm>
          <a:prstGeom prst="rect">
            <a:avLst/>
          </a:prstGeom>
          <a:noFill/>
          <a:ln>
            <a:noFill/>
          </a:ln>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Introduction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Simulation</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Experiments</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High-K dielectric</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Fabrication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Discussions</a:t>
            </a:r>
            <a:endParaRPr sz="2000">
              <a:solidFill>
                <a:srgbClr val="B7B7B7"/>
              </a:solidFill>
              <a:latin typeface="Georgia"/>
              <a:ea typeface="Georgia"/>
              <a:cs typeface="Georgia"/>
              <a:sym typeface="Georgia"/>
            </a:endParaRPr>
          </a:p>
        </p:txBody>
      </p:sp>
      <p:pic>
        <p:nvPicPr>
          <p:cNvPr id="381" name="Google Shape;381;g39a284b7f17_2_90"/>
          <p:cNvPicPr preferRelativeResize="0"/>
          <p:nvPr/>
        </p:nvPicPr>
        <p:blipFill rotWithShape="1">
          <a:blip r:embed="rId10">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g3a60d5e97bb_0_7"/>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387" name="Google Shape;387;g3a60d5e97bb_0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88" name="Google Shape;388;g3a60d5e97bb_0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389" name="Google Shape;389;g3a60d5e97bb_0_7"/>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C-V characteristics - theoretically expected behaviour</a:t>
            </a:r>
            <a:endParaRPr b="0" i="0" sz="3200" u="none" cap="none" strike="noStrike">
              <a:solidFill>
                <a:schemeClr val="dk1"/>
              </a:solidFill>
              <a:latin typeface="Times New Roman"/>
              <a:ea typeface="Times New Roman"/>
              <a:cs typeface="Times New Roman"/>
              <a:sym typeface="Times New Roman"/>
            </a:endParaRPr>
          </a:p>
        </p:txBody>
      </p:sp>
      <p:cxnSp>
        <p:nvCxnSpPr>
          <p:cNvPr id="390" name="Google Shape;390;g3a60d5e97bb_0_7"/>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391" name="Google Shape;391;g3a60d5e97bb_0_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92" name="Google Shape;392;g3a60d5e97bb_0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93" name="Google Shape;393;g3a60d5e97bb_0_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394" name="Google Shape;394;g3a60d5e97bb_0_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395" name="Google Shape;395;g3a60d5e97bb_0_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396" name="Google Shape;396;g3a60d5e97bb_0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397" name="Google Shape;397;g3a60d5e97bb_0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398" name="Google Shape;398;g3a60d5e97bb_0_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399" name="Google Shape;399;g3a60d5e97bb_0_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00" name="Google Shape;400;g3a60d5e97bb_0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01" name="Google Shape;401;g3a60d5e97bb_0_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02" name="Google Shape;402;g3a60d5e97bb_0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03" name="Google Shape;403;g3a60d5e97bb_0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04" name="Google Shape;404;g3a60d5e97bb_0_7"/>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405" name="Google Shape;405;g3a60d5e97bb_0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06" name="Google Shape;406;g3a60d5e97bb_0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07" name="Google Shape;407;g3a60d5e97bb_0_7"/>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408" name="Google Shape;408;g3a60d5e97bb_0_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09" name="Google Shape;409;g3a60d5e97bb_0_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10" name="Google Shape;410;g3a60d5e97bb_0_7"/>
          <p:cNvPicPr preferRelativeResize="0"/>
          <p:nvPr/>
        </p:nvPicPr>
        <p:blipFill>
          <a:blip r:embed="rId10">
            <a:alphaModFix/>
          </a:blip>
          <a:stretch>
            <a:fillRect/>
          </a:stretch>
        </p:blipFill>
        <p:spPr>
          <a:xfrm>
            <a:off x="2598350" y="1405438"/>
            <a:ext cx="6995300" cy="3711247"/>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graphicFrame>
        <p:nvGraphicFramePr>
          <p:cNvPr id="415" name="Google Shape;415;g3a3ec9b3325_1_129"/>
          <p:cNvGraphicFramePr/>
          <p:nvPr/>
        </p:nvGraphicFramePr>
        <p:xfrm>
          <a:off x="952500" y="1113150"/>
          <a:ext cx="3000000" cy="3000000"/>
        </p:xfrm>
        <a:graphic>
          <a:graphicData uri="http://schemas.openxmlformats.org/drawingml/2006/table">
            <a:tbl>
              <a:tblPr>
                <a:noFill/>
                <a:tableStyleId>{DCACC692-DAFA-4698-97F5-EBC0EA8BECD6}</a:tableStyleId>
              </a:tblPr>
              <a:tblGrid>
                <a:gridCol w="5143500"/>
                <a:gridCol w="5143500"/>
              </a:tblGrid>
              <a:tr h="439200">
                <a:tc>
                  <a:txBody>
                    <a:bodyPr/>
                    <a:lstStyle/>
                    <a:p>
                      <a:pPr indent="0" lvl="0" marL="0" rtl="0" algn="l">
                        <a:spcBef>
                          <a:spcPts val="0"/>
                        </a:spcBef>
                        <a:spcAft>
                          <a:spcPts val="0"/>
                        </a:spcAft>
                        <a:buNone/>
                      </a:pPr>
                      <a:r>
                        <a:rPr b="1" lang="en-US">
                          <a:latin typeface="Georgia"/>
                          <a:ea typeface="Georgia"/>
                          <a:cs typeface="Georgia"/>
                          <a:sym typeface="Georgia"/>
                        </a:rPr>
                        <a:t>Simulation parameters</a:t>
                      </a:r>
                      <a:endParaRPr b="1">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latin typeface="Georgia"/>
                          <a:ea typeface="Georgia"/>
                          <a:cs typeface="Georgia"/>
                          <a:sym typeface="Georgia"/>
                        </a:rPr>
                        <a:t>Simulation values</a:t>
                      </a:r>
                      <a:endParaRPr b="1">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latin typeface="Georgia"/>
                          <a:ea typeface="Georgia"/>
                          <a:cs typeface="Georgia"/>
                          <a:sym typeface="Georgia"/>
                        </a:rPr>
                        <a:t>D</a:t>
                      </a:r>
                      <a:r>
                        <a:rPr lang="en-US">
                          <a:latin typeface="Georgia"/>
                          <a:ea typeface="Georgia"/>
                          <a:cs typeface="Georgia"/>
                          <a:sym typeface="Georgia"/>
                        </a:rPr>
                        <a:t>oping Concentration</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Georgia"/>
                          <a:ea typeface="Georgia"/>
                          <a:cs typeface="Georgia"/>
                          <a:sym typeface="Georgia"/>
                        </a:rPr>
                        <a:t>1e+18</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solidFill>
                            <a:schemeClr val="dk1"/>
                          </a:solidFill>
                          <a:latin typeface="Georgia"/>
                          <a:ea typeface="Georgia"/>
                          <a:cs typeface="Georgia"/>
                          <a:sym typeface="Georgia"/>
                        </a:rPr>
                        <a:t>D</a:t>
                      </a:r>
                      <a:r>
                        <a:rPr lang="en-US">
                          <a:solidFill>
                            <a:schemeClr val="dk1"/>
                          </a:solidFill>
                          <a:latin typeface="Georgia"/>
                          <a:ea typeface="Georgia"/>
                          <a:cs typeface="Georgia"/>
                          <a:sym typeface="Georgia"/>
                        </a:rPr>
                        <a:t>ielectric Thickness</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Georgia"/>
                          <a:ea typeface="Georgia"/>
                          <a:cs typeface="Georgia"/>
                          <a:sym typeface="Georgia"/>
                        </a:rPr>
                        <a:t>10 nm</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solidFill>
                            <a:schemeClr val="dk1"/>
                          </a:solidFill>
                          <a:latin typeface="Georgia"/>
                          <a:ea typeface="Georgia"/>
                          <a:cs typeface="Georgia"/>
                          <a:sym typeface="Georgia"/>
                        </a:rPr>
                        <a:t>S</a:t>
                      </a:r>
                      <a:r>
                        <a:rPr lang="en-US">
                          <a:solidFill>
                            <a:schemeClr val="dk1"/>
                          </a:solidFill>
                          <a:latin typeface="Georgia"/>
                          <a:ea typeface="Georgia"/>
                          <a:cs typeface="Georgia"/>
                          <a:sym typeface="Georgia"/>
                        </a:rPr>
                        <a:t>ubstrate Thickness</a:t>
                      </a:r>
                      <a:endParaRPr>
                        <a:solidFill>
                          <a:schemeClr val="dk1"/>
                        </a:solidFill>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Georgia"/>
                          <a:ea typeface="Georgia"/>
                          <a:cs typeface="Georgia"/>
                          <a:sym typeface="Georgia"/>
                        </a:rPr>
                        <a:t>1e-4 m / 0.1 mm</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solidFill>
                            <a:schemeClr val="dk1"/>
                          </a:solidFill>
                          <a:latin typeface="Georgia"/>
                          <a:ea typeface="Georgia"/>
                          <a:cs typeface="Georgia"/>
                          <a:sym typeface="Georgia"/>
                        </a:rPr>
                        <a:t>D</a:t>
                      </a:r>
                      <a:r>
                        <a:rPr lang="en-US">
                          <a:solidFill>
                            <a:schemeClr val="dk1"/>
                          </a:solidFill>
                          <a:latin typeface="Georgia"/>
                          <a:ea typeface="Georgia"/>
                          <a:cs typeface="Georgia"/>
                          <a:sym typeface="Georgia"/>
                        </a:rPr>
                        <a:t>ielectric Nodes</a:t>
                      </a:r>
                      <a:endParaRPr>
                        <a:solidFill>
                          <a:schemeClr val="dk1"/>
                        </a:solidFill>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Georgia"/>
                          <a:ea typeface="Georgia"/>
                          <a:cs typeface="Georgia"/>
                          <a:sym typeface="Georgia"/>
                        </a:rPr>
                        <a:t>5</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solidFill>
                            <a:schemeClr val="dk1"/>
                          </a:solidFill>
                          <a:latin typeface="Georgia"/>
                          <a:ea typeface="Georgia"/>
                          <a:cs typeface="Georgia"/>
                          <a:sym typeface="Georgia"/>
                        </a:rPr>
                        <a:t>S</a:t>
                      </a:r>
                      <a:r>
                        <a:rPr lang="en-US">
                          <a:solidFill>
                            <a:schemeClr val="dk1"/>
                          </a:solidFill>
                          <a:latin typeface="Georgia"/>
                          <a:ea typeface="Georgia"/>
                          <a:cs typeface="Georgia"/>
                          <a:sym typeface="Georgia"/>
                        </a:rPr>
                        <a:t>ubstrate Nodes</a:t>
                      </a:r>
                      <a:endParaRPr>
                        <a:solidFill>
                          <a:schemeClr val="dk1"/>
                        </a:solidFill>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Georgia"/>
                          <a:ea typeface="Georgia"/>
                          <a:cs typeface="Georgia"/>
                          <a:sym typeface="Georgia"/>
                        </a:rPr>
                        <a:t>500</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solidFill>
                            <a:schemeClr val="dk1"/>
                          </a:solidFill>
                          <a:latin typeface="Georgia"/>
                          <a:ea typeface="Georgia"/>
                          <a:cs typeface="Georgia"/>
                          <a:sym typeface="Georgia"/>
                        </a:rPr>
                        <a:t>T</a:t>
                      </a:r>
                      <a:r>
                        <a:rPr lang="en-US">
                          <a:solidFill>
                            <a:schemeClr val="dk1"/>
                          </a:solidFill>
                          <a:latin typeface="Georgia"/>
                          <a:ea typeface="Georgia"/>
                          <a:cs typeface="Georgia"/>
                          <a:sym typeface="Georgia"/>
                        </a:rPr>
                        <a:t>emperature (Ambient)</a:t>
                      </a:r>
                      <a:endParaRPr>
                        <a:solidFill>
                          <a:schemeClr val="dk1"/>
                        </a:solidFill>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Georgia"/>
                          <a:ea typeface="Georgia"/>
                          <a:cs typeface="Georgia"/>
                          <a:sym typeface="Georgia"/>
                        </a:rPr>
                        <a:t>300K</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None/>
                      </a:pPr>
                      <a:r>
                        <a:rPr lang="en-US">
                          <a:solidFill>
                            <a:schemeClr val="dk1"/>
                          </a:solidFill>
                          <a:latin typeface="Georgia"/>
                          <a:ea typeface="Georgia"/>
                          <a:cs typeface="Georgia"/>
                          <a:sym typeface="Georgia"/>
                        </a:rPr>
                        <a:t>G</a:t>
                      </a:r>
                      <a:r>
                        <a:rPr lang="en-US">
                          <a:solidFill>
                            <a:schemeClr val="dk1"/>
                          </a:solidFill>
                          <a:latin typeface="Georgia"/>
                          <a:ea typeface="Georgia"/>
                          <a:cs typeface="Georgia"/>
                          <a:sym typeface="Georgia"/>
                        </a:rPr>
                        <a:t>ate Electrode</a:t>
                      </a:r>
                      <a:endParaRPr>
                        <a:solidFill>
                          <a:schemeClr val="dk1"/>
                        </a:solidFill>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Georgia"/>
                          <a:ea typeface="Georgia"/>
                          <a:cs typeface="Georgia"/>
                          <a:sym typeface="Georgia"/>
                        </a:rPr>
                        <a:t>Aluminium</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39200">
                <a:tc>
                  <a:txBody>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Georgia"/>
                          <a:ea typeface="Georgia"/>
                          <a:cs typeface="Georgia"/>
                          <a:sym typeface="Georgia"/>
                        </a:rPr>
                        <a:t>Start to End Voltage</a:t>
                      </a:r>
                      <a:endParaRPr>
                        <a:solidFill>
                          <a:schemeClr val="dk1"/>
                        </a:solidFill>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Georgia"/>
                          <a:ea typeface="Georgia"/>
                          <a:cs typeface="Georgia"/>
                          <a:sym typeface="Georgia"/>
                        </a:rPr>
                        <a:t>0 -&gt; {3,5,10} V</a:t>
                      </a:r>
                      <a:endParaRPr>
                        <a:latin typeface="Georgia"/>
                        <a:ea typeface="Georgia"/>
                        <a:cs typeface="Georgia"/>
                        <a:sym typeface="Georgia"/>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416" name="Google Shape;416;g3a3ec9b3325_1_12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417" name="Google Shape;417;g3a3ec9b3325_1_1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18" name="Google Shape;418;g3a3ec9b3325_1_1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419" name="Google Shape;419;g3a3ec9b3325_1_12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Simulation: NANOhub -&gt; MOSCap </a:t>
            </a:r>
            <a:r>
              <a:rPr lang="en-US" sz="3200">
                <a:solidFill>
                  <a:schemeClr val="dk1"/>
                </a:solidFill>
                <a:latin typeface="Times New Roman"/>
                <a:ea typeface="Times New Roman"/>
                <a:cs typeface="Times New Roman"/>
                <a:sym typeface="Times New Roman"/>
              </a:rPr>
              <a:t>simulation</a:t>
            </a:r>
            <a:endParaRPr b="0" i="0" sz="3200" u="none" cap="none" strike="noStrike">
              <a:solidFill>
                <a:schemeClr val="dk1"/>
              </a:solidFill>
              <a:latin typeface="Times New Roman"/>
              <a:ea typeface="Times New Roman"/>
              <a:cs typeface="Times New Roman"/>
              <a:sym typeface="Times New Roman"/>
            </a:endParaRPr>
          </a:p>
        </p:txBody>
      </p:sp>
      <p:cxnSp>
        <p:nvCxnSpPr>
          <p:cNvPr id="420" name="Google Shape;420;g3a3ec9b3325_1_129"/>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421" name="Google Shape;421;g3a3ec9b3325_1_12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22" name="Google Shape;422;g3a3ec9b3325_1_1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23" name="Google Shape;423;g3a3ec9b3325_1_12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24" name="Google Shape;424;g3a3ec9b3325_1_12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25" name="Google Shape;425;g3a3ec9b3325_1_12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26" name="Google Shape;426;g3a3ec9b3325_1_1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27" name="Google Shape;427;g3a3ec9b3325_1_1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28" name="Google Shape;428;g3a3ec9b3325_1_12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29" name="Google Shape;429;g3a3ec9b3325_1_12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30" name="Google Shape;430;g3a3ec9b3325_1_1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31" name="Google Shape;431;g3a3ec9b3325_1_12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32" name="Google Shape;432;g3a3ec9b3325_1_1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33" name="Google Shape;433;g3a3ec9b3325_1_1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34" name="Google Shape;434;g3a3ec9b3325_1_12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435" name="Google Shape;435;g3a3ec9b3325_1_1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36" name="Google Shape;436;g3a3ec9b3325_1_1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37" name="Google Shape;437;g3a3ec9b3325_1_129"/>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438" name="Google Shape;438;g3a3ec9b3325_1_12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39" name="Google Shape;439;g3a3ec9b3325_1_12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g3af79cd07fb_2_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445" name="Google Shape;445;g3af79cd07fb_2_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46" name="Google Shape;446;g3af79cd07fb_2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447" name="Google Shape;447;g3af79cd07fb_2_0"/>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Simulation: C-V plots (Capacitance vs applied voltage)</a:t>
            </a:r>
            <a:endParaRPr b="0" i="0" sz="3200" u="none" cap="none" strike="noStrike">
              <a:solidFill>
                <a:schemeClr val="dk1"/>
              </a:solidFill>
              <a:latin typeface="Times New Roman"/>
              <a:ea typeface="Times New Roman"/>
              <a:cs typeface="Times New Roman"/>
              <a:sym typeface="Times New Roman"/>
            </a:endParaRPr>
          </a:p>
        </p:txBody>
      </p:sp>
      <p:cxnSp>
        <p:nvCxnSpPr>
          <p:cNvPr id="448" name="Google Shape;448;g3af79cd07fb_2_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449" name="Google Shape;449;g3af79cd07fb_2_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50" name="Google Shape;450;g3af79cd07fb_2_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51" name="Google Shape;451;g3af79cd07fb_2_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52" name="Google Shape;452;g3af79cd07fb_2_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53" name="Google Shape;453;g3af79cd07fb_2_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54" name="Google Shape;454;g3af79cd07fb_2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55" name="Google Shape;455;g3af79cd07fb_2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56" name="Google Shape;456;g3af79cd07fb_2_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57" name="Google Shape;457;g3af79cd07fb_2_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58" name="Google Shape;458;g3af79cd07fb_2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59" name="Google Shape;459;g3af79cd07fb_2_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60" name="Google Shape;460;g3af79cd07fb_2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61" name="Google Shape;461;g3af79cd07fb_2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62" name="Google Shape;462;g3af79cd07fb_2_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463" name="Google Shape;463;g3af79cd07fb_2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64" name="Google Shape;464;g3af79cd07fb_2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65" name="Google Shape;465;g3af79cd07fb_2_0"/>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466" name="Google Shape;466;g3af79cd07fb_2_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67" name="Google Shape;467;g3af79cd07fb_2_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68" name="Google Shape;468;g3af79cd07fb_2_0" title="WhatsApp Image 2025-12-10 at 22.20.35.jpeg"/>
          <p:cNvPicPr preferRelativeResize="0"/>
          <p:nvPr/>
        </p:nvPicPr>
        <p:blipFill>
          <a:blip r:embed="rId10">
            <a:alphaModFix/>
          </a:blip>
          <a:stretch>
            <a:fillRect/>
          </a:stretch>
        </p:blipFill>
        <p:spPr>
          <a:xfrm>
            <a:off x="163150" y="1209189"/>
            <a:ext cx="3810000" cy="3810000"/>
          </a:xfrm>
          <a:prstGeom prst="rect">
            <a:avLst/>
          </a:prstGeom>
          <a:noFill/>
          <a:ln cap="flat" cmpd="sng" w="19050">
            <a:solidFill>
              <a:schemeClr val="dk1"/>
            </a:solidFill>
            <a:prstDash val="solid"/>
            <a:round/>
            <a:headEnd len="sm" w="sm" type="none"/>
            <a:tailEnd len="sm" w="sm" type="none"/>
          </a:ln>
        </p:spPr>
      </p:pic>
      <p:pic>
        <p:nvPicPr>
          <p:cNvPr id="469" name="Google Shape;469;g3af79cd07fb_2_0" title="WhatsApp Image 2025-12-10 at 22.20.43.jpeg"/>
          <p:cNvPicPr preferRelativeResize="0"/>
          <p:nvPr/>
        </p:nvPicPr>
        <p:blipFill>
          <a:blip r:embed="rId11">
            <a:alphaModFix/>
          </a:blip>
          <a:stretch>
            <a:fillRect/>
          </a:stretch>
        </p:blipFill>
        <p:spPr>
          <a:xfrm>
            <a:off x="4125550" y="1209189"/>
            <a:ext cx="3810000" cy="3810000"/>
          </a:xfrm>
          <a:prstGeom prst="rect">
            <a:avLst/>
          </a:prstGeom>
          <a:noFill/>
          <a:ln cap="flat" cmpd="sng" w="19050">
            <a:solidFill>
              <a:schemeClr val="dk1"/>
            </a:solidFill>
            <a:prstDash val="solid"/>
            <a:round/>
            <a:headEnd len="sm" w="sm" type="none"/>
            <a:tailEnd len="sm" w="sm" type="none"/>
          </a:ln>
        </p:spPr>
      </p:pic>
      <p:pic>
        <p:nvPicPr>
          <p:cNvPr id="470" name="Google Shape;470;g3af79cd07fb_2_0" title="WhatsApp Image 2025-12-10 at 22.20.54.jpeg"/>
          <p:cNvPicPr preferRelativeResize="0"/>
          <p:nvPr/>
        </p:nvPicPr>
        <p:blipFill>
          <a:blip r:embed="rId12">
            <a:alphaModFix/>
          </a:blip>
          <a:stretch>
            <a:fillRect/>
          </a:stretch>
        </p:blipFill>
        <p:spPr>
          <a:xfrm>
            <a:off x="8087950" y="1209200"/>
            <a:ext cx="4002950" cy="3810000"/>
          </a:xfrm>
          <a:prstGeom prst="rect">
            <a:avLst/>
          </a:prstGeom>
          <a:noFill/>
          <a:ln cap="flat" cmpd="sng" w="19050">
            <a:solidFill>
              <a:schemeClr val="dk1"/>
            </a:solidFill>
            <a:prstDash val="solid"/>
            <a:round/>
            <a:headEnd len="sm" w="sm" type="none"/>
            <a:tailEnd len="sm" w="sm" type="none"/>
          </a:ln>
        </p:spPr>
      </p:pic>
      <p:sp>
        <p:nvSpPr>
          <p:cNvPr id="471" name="Google Shape;471;g3af79cd07fb_2_0"/>
          <p:cNvSpPr txBox="1"/>
          <p:nvPr/>
        </p:nvSpPr>
        <p:spPr>
          <a:xfrm>
            <a:off x="1369450" y="5171600"/>
            <a:ext cx="1397400" cy="415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0V → 3V</a:t>
            </a:r>
            <a:endParaRPr sz="1500">
              <a:solidFill>
                <a:schemeClr val="dk1"/>
              </a:solidFill>
              <a:latin typeface="Georgia"/>
              <a:ea typeface="Georgia"/>
              <a:cs typeface="Georgia"/>
              <a:sym typeface="Georgia"/>
            </a:endParaRPr>
          </a:p>
        </p:txBody>
      </p:sp>
      <p:sp>
        <p:nvSpPr>
          <p:cNvPr id="472" name="Google Shape;472;g3af79cd07fb_2_0"/>
          <p:cNvSpPr txBox="1"/>
          <p:nvPr/>
        </p:nvSpPr>
        <p:spPr>
          <a:xfrm>
            <a:off x="5408050" y="5171600"/>
            <a:ext cx="1397400" cy="415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0V → 5V</a:t>
            </a:r>
            <a:endParaRPr sz="1500">
              <a:solidFill>
                <a:schemeClr val="dk1"/>
              </a:solidFill>
              <a:latin typeface="Georgia"/>
              <a:ea typeface="Georgia"/>
              <a:cs typeface="Georgia"/>
              <a:sym typeface="Georgia"/>
            </a:endParaRPr>
          </a:p>
        </p:txBody>
      </p:sp>
      <p:sp>
        <p:nvSpPr>
          <p:cNvPr id="473" name="Google Shape;473;g3af79cd07fb_2_0"/>
          <p:cNvSpPr txBox="1"/>
          <p:nvPr/>
        </p:nvSpPr>
        <p:spPr>
          <a:xfrm>
            <a:off x="9390725" y="5171600"/>
            <a:ext cx="1397400" cy="415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0V → 10V</a:t>
            </a:r>
            <a:endParaRPr sz="1500">
              <a:solidFill>
                <a:schemeClr val="dk1"/>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g3a60d5e97bb_0_4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479" name="Google Shape;479;g3a60d5e97bb_0_4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80" name="Google Shape;480;g3a60d5e97bb_0_4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481" name="Google Shape;481;g3a60d5e97bb_0_42"/>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Simulation: Inferences (C_ox approximate value)</a:t>
            </a:r>
            <a:endParaRPr b="0" i="0" sz="3200" u="none" cap="none" strike="noStrike">
              <a:solidFill>
                <a:schemeClr val="dk1"/>
              </a:solidFill>
              <a:latin typeface="Times New Roman"/>
              <a:ea typeface="Times New Roman"/>
              <a:cs typeface="Times New Roman"/>
              <a:sym typeface="Times New Roman"/>
            </a:endParaRPr>
          </a:p>
        </p:txBody>
      </p:sp>
      <p:cxnSp>
        <p:nvCxnSpPr>
          <p:cNvPr id="482" name="Google Shape;482;g3a60d5e97bb_0_42"/>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483" name="Google Shape;483;g3a60d5e97bb_0_4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84" name="Google Shape;484;g3a60d5e97bb_0_4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85" name="Google Shape;485;g3a60d5e97bb_0_4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486" name="Google Shape;486;g3a60d5e97bb_0_4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487" name="Google Shape;487;g3a60d5e97bb_0_4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488" name="Google Shape;488;g3a60d5e97bb_0_4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89" name="Google Shape;489;g3a60d5e97bb_0_4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90" name="Google Shape;490;g3a60d5e97bb_0_4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91" name="Google Shape;491;g3a60d5e97bb_0_4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2" name="Google Shape;492;g3a60d5e97bb_0_4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93" name="Google Shape;493;g3a60d5e97bb_0_4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494" name="Google Shape;494;g3a60d5e97bb_0_4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5" name="Google Shape;495;g3a60d5e97bb_0_4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496" name="Google Shape;496;g3a60d5e97bb_0_4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497" name="Google Shape;497;g3a60d5e97bb_0_4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498" name="Google Shape;498;g3a60d5e97bb_0_4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499" name="Google Shape;499;g3a60d5e97bb_0_42"/>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500" name="Google Shape;500;g3a60d5e97bb_0_4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01" name="Google Shape;501;g3a60d5e97bb_0_4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502" name="Google Shape;502;g3a60d5e97bb_0_42"/>
          <p:cNvSpPr txBox="1"/>
          <p:nvPr/>
        </p:nvSpPr>
        <p:spPr>
          <a:xfrm>
            <a:off x="181425" y="978650"/>
            <a:ext cx="7302000" cy="4839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 The three C–V traces correspond to different maximum gate-bias sweeps: 3 V (green–red), 5 V (blue–yellow), and 10 V (pink–cyan).  </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All sweeps exhibit the expected MOSCAP behaviour: a </a:t>
            </a:r>
            <a:r>
              <a:rPr b="1" lang="en-US" sz="1600">
                <a:solidFill>
                  <a:schemeClr val="dk1"/>
                </a:solidFill>
                <a:latin typeface="Georgia"/>
                <a:ea typeface="Georgia"/>
                <a:cs typeface="Georgia"/>
                <a:sym typeface="Georgia"/>
              </a:rPr>
              <a:t>depletion capacitance minimum around ~1.1–1.3 V</a:t>
            </a:r>
            <a:r>
              <a:rPr lang="en-US" sz="1600">
                <a:solidFill>
                  <a:schemeClr val="dk1"/>
                </a:solidFill>
                <a:latin typeface="Georgia"/>
                <a:ea typeface="Georgia"/>
                <a:cs typeface="Georgia"/>
                <a:sym typeface="Georgia"/>
              </a:rPr>
              <a:t> followed by a return toward </a:t>
            </a:r>
            <a:r>
              <a:rPr b="1" lang="en-US" sz="1600">
                <a:solidFill>
                  <a:schemeClr val="dk1"/>
                </a:solidFill>
                <a:latin typeface="Georgia"/>
                <a:ea typeface="Georgia"/>
                <a:cs typeface="Georgia"/>
                <a:sym typeface="Georgia"/>
              </a:rPr>
              <a:t>C(</a:t>
            </a:r>
            <a:r>
              <a:rPr b="1" lang="en-US" sz="1600">
                <a:solidFill>
                  <a:schemeClr val="dk1"/>
                </a:solidFill>
                <a:latin typeface="Georgia"/>
                <a:ea typeface="Georgia"/>
                <a:cs typeface="Georgia"/>
                <a:sym typeface="Georgia"/>
              </a:rPr>
              <a:t>ox)</a:t>
            </a:r>
            <a:r>
              <a:rPr lang="en-US" sz="1600">
                <a:solidFill>
                  <a:schemeClr val="dk1"/>
                </a:solidFill>
                <a:latin typeface="Georgia"/>
                <a:ea typeface="Georgia"/>
                <a:cs typeface="Georgia"/>
                <a:sym typeface="Georgia"/>
              </a:rPr>
              <a:t> which is approximately </a:t>
            </a:r>
            <a:r>
              <a:rPr b="1" lang="en-US" sz="1600">
                <a:solidFill>
                  <a:schemeClr val="dk1"/>
                </a:solidFill>
                <a:latin typeface="Georgia"/>
                <a:ea typeface="Georgia"/>
                <a:cs typeface="Georgia"/>
                <a:sym typeface="Georgia"/>
              </a:rPr>
              <a:t>3.3–3.5*e-7 F/cm^2</a:t>
            </a:r>
            <a:r>
              <a:rPr lang="en-US" sz="1600">
                <a:solidFill>
                  <a:schemeClr val="dk1"/>
                </a:solidFill>
                <a:latin typeface="Georgia"/>
                <a:ea typeface="Georgia"/>
                <a:cs typeface="Georgia"/>
                <a:sym typeface="Georgia"/>
              </a:rPr>
              <a:t> in the </a:t>
            </a:r>
            <a:r>
              <a:rPr i="1" lang="en-US" sz="1600">
                <a:solidFill>
                  <a:schemeClr val="dk1"/>
                </a:solidFill>
                <a:latin typeface="Georgia"/>
                <a:ea typeface="Georgia"/>
                <a:cs typeface="Georgia"/>
                <a:sym typeface="Georgia"/>
              </a:rPr>
              <a:t>inversion region</a:t>
            </a:r>
            <a:r>
              <a:rPr lang="en-US" sz="1600">
                <a:solidFill>
                  <a:schemeClr val="dk1"/>
                </a:solidFill>
                <a:latin typeface="Georgia"/>
                <a:ea typeface="Georgia"/>
                <a:cs typeface="Georgia"/>
                <a:sym typeface="Georgia"/>
              </a:rPr>
              <a:t>.</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The </a:t>
            </a:r>
            <a:r>
              <a:rPr b="1" lang="en-US" sz="1600">
                <a:solidFill>
                  <a:schemeClr val="dk1"/>
                </a:solidFill>
                <a:latin typeface="Georgia"/>
                <a:ea typeface="Georgia"/>
                <a:cs typeface="Georgia"/>
                <a:sym typeface="Georgia"/>
              </a:rPr>
              <a:t>3 V sweep</a:t>
            </a:r>
            <a:r>
              <a:rPr lang="en-US" sz="1600">
                <a:solidFill>
                  <a:schemeClr val="dk1"/>
                </a:solidFill>
                <a:latin typeface="Georgia"/>
                <a:ea typeface="Georgia"/>
                <a:cs typeface="Georgia"/>
                <a:sym typeface="Georgia"/>
              </a:rPr>
              <a:t> shows the most stable characteristics (lower variance in chaotic zone), with only mild fluctuations once inversion is reached; the simulation remains within a moderate electric-field regime.  </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The </a:t>
            </a:r>
            <a:r>
              <a:rPr b="1" lang="en-US" sz="1600">
                <a:solidFill>
                  <a:schemeClr val="dk1"/>
                </a:solidFill>
                <a:latin typeface="Georgia"/>
                <a:ea typeface="Georgia"/>
                <a:cs typeface="Georgia"/>
                <a:sym typeface="Georgia"/>
              </a:rPr>
              <a:t>5 V sweep</a:t>
            </a:r>
            <a:r>
              <a:rPr lang="en-US" sz="1600">
                <a:solidFill>
                  <a:schemeClr val="dk1"/>
                </a:solidFill>
                <a:latin typeface="Georgia"/>
                <a:ea typeface="Georgia"/>
                <a:cs typeface="Georgia"/>
                <a:sym typeface="Georgia"/>
              </a:rPr>
              <a:t> introduces stronger numerical instability (comparatively higher variance in deep inversion) in the inversion region due to increased channel conductance and elevated oxide electric field.  </a:t>
            </a:r>
            <a:endParaRPr sz="1600">
              <a:solidFill>
                <a:schemeClr val="dk1"/>
              </a:solidFill>
              <a:latin typeface="Georgia"/>
              <a:ea typeface="Georgia"/>
              <a:cs typeface="Georgia"/>
              <a:sym typeface="Georgia"/>
            </a:endParaRPr>
          </a:p>
          <a:p>
            <a:pPr indent="-330200" lvl="0" marL="457200" rtl="0" algn="l">
              <a:spcBef>
                <a:spcPts val="1000"/>
              </a:spcBef>
              <a:spcAft>
                <a:spcPts val="1000"/>
              </a:spcAft>
              <a:buClr>
                <a:schemeClr val="dk1"/>
              </a:buClr>
              <a:buSzPts val="1600"/>
              <a:buFont typeface="Georgia"/>
              <a:buChar char="●"/>
            </a:pPr>
            <a:r>
              <a:rPr lang="en-US" sz="1600">
                <a:solidFill>
                  <a:schemeClr val="dk1"/>
                </a:solidFill>
                <a:latin typeface="Georgia"/>
                <a:ea typeface="Georgia"/>
                <a:cs typeface="Georgia"/>
                <a:sym typeface="Georgia"/>
              </a:rPr>
              <a:t>The </a:t>
            </a:r>
            <a:r>
              <a:rPr b="1" lang="en-US" sz="1600">
                <a:solidFill>
                  <a:schemeClr val="dk1"/>
                </a:solidFill>
                <a:latin typeface="Georgia"/>
                <a:ea typeface="Georgia"/>
                <a:cs typeface="Georgia"/>
                <a:sym typeface="Georgia"/>
              </a:rPr>
              <a:t>10 V sweep</a:t>
            </a:r>
            <a:r>
              <a:rPr lang="en-US" sz="1600">
                <a:solidFill>
                  <a:schemeClr val="dk1"/>
                </a:solidFill>
                <a:latin typeface="Georgia"/>
                <a:ea typeface="Georgia"/>
                <a:cs typeface="Georgia"/>
                <a:sym typeface="Georgia"/>
              </a:rPr>
              <a:t> shows the most severe capacitance oscillations (highest variance in inversion region); at such high overdrive voltage, the small-signal admittance (reciprocal of impedance) is dominated by conductive pathways rather than displacement current, causing the capacitance extraction to become unreliable.  </a:t>
            </a:r>
            <a:endParaRPr sz="1600">
              <a:solidFill>
                <a:schemeClr val="dk1"/>
              </a:solidFill>
              <a:latin typeface="Georgia"/>
              <a:ea typeface="Georgia"/>
              <a:cs typeface="Georgia"/>
              <a:sym typeface="Georgia"/>
            </a:endParaRPr>
          </a:p>
        </p:txBody>
      </p:sp>
      <p:pic>
        <p:nvPicPr>
          <p:cNvPr id="503" name="Google Shape;503;g3a60d5e97bb_0_42" title="WhatsApp Image 2025-12-10 at 22.20.54.jpeg"/>
          <p:cNvPicPr preferRelativeResize="0"/>
          <p:nvPr/>
        </p:nvPicPr>
        <p:blipFill>
          <a:blip r:embed="rId10">
            <a:alphaModFix/>
          </a:blip>
          <a:stretch>
            <a:fillRect/>
          </a:stretch>
        </p:blipFill>
        <p:spPr>
          <a:xfrm>
            <a:off x="7806900" y="1209200"/>
            <a:ext cx="4198875" cy="3810000"/>
          </a:xfrm>
          <a:prstGeom prst="rect">
            <a:avLst/>
          </a:prstGeom>
          <a:noFill/>
          <a:ln cap="flat" cmpd="sng" w="19050">
            <a:solidFill>
              <a:schemeClr val="dk1"/>
            </a:solidFill>
            <a:prstDash val="solid"/>
            <a:round/>
            <a:headEnd len="sm" w="sm" type="none"/>
            <a:tailEnd len="sm" w="sm" type="none"/>
          </a:ln>
        </p:spPr>
      </p:pic>
      <p:sp>
        <p:nvSpPr>
          <p:cNvPr id="504" name="Google Shape;504;g3a60d5e97bb_0_42"/>
          <p:cNvSpPr txBox="1"/>
          <p:nvPr/>
        </p:nvSpPr>
        <p:spPr>
          <a:xfrm>
            <a:off x="9136323" y="5171600"/>
            <a:ext cx="1540200" cy="415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dk1"/>
                </a:solidFill>
                <a:latin typeface="Georgia"/>
                <a:ea typeface="Georgia"/>
                <a:cs typeface="Georgia"/>
                <a:sym typeface="Georgia"/>
              </a:rPr>
              <a:t>0V → 10V</a:t>
            </a:r>
            <a:endParaRPr sz="1500">
              <a:solidFill>
                <a:schemeClr val="dk1"/>
              </a:solidFill>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pic>
        <p:nvPicPr>
          <p:cNvPr id="509" name="Google Shape;509;g3a60d5e97bb_0_8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510" name="Google Shape;510;g3a60d5e97bb_0_8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11" name="Google Shape;511;g3a60d5e97bb_0_8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512" name="Google Shape;512;g3a60d5e97bb_0_80"/>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Simulation: NANOhub -&gt; MOSCap simulation (V_threshold)</a:t>
            </a:r>
            <a:endParaRPr b="0" i="0" sz="3200" u="none" cap="none" strike="noStrike">
              <a:solidFill>
                <a:schemeClr val="dk1"/>
              </a:solidFill>
              <a:latin typeface="Times New Roman"/>
              <a:ea typeface="Times New Roman"/>
              <a:cs typeface="Times New Roman"/>
              <a:sym typeface="Times New Roman"/>
            </a:endParaRPr>
          </a:p>
        </p:txBody>
      </p:sp>
      <p:cxnSp>
        <p:nvCxnSpPr>
          <p:cNvPr id="513" name="Google Shape;513;g3a60d5e97bb_0_8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514" name="Google Shape;514;g3a60d5e97bb_0_8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15" name="Google Shape;515;g3a60d5e97bb_0_8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16" name="Google Shape;516;g3a60d5e97bb_0_8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17" name="Google Shape;517;g3a60d5e97bb_0_8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18" name="Google Shape;518;g3a60d5e97bb_0_8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19" name="Google Shape;519;g3a60d5e97bb_0_8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20" name="Google Shape;520;g3a60d5e97bb_0_8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21" name="Google Shape;521;g3a60d5e97bb_0_8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22" name="Google Shape;522;g3a60d5e97bb_0_8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23" name="Google Shape;523;g3a60d5e97bb_0_8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24" name="Google Shape;524;g3a60d5e97bb_0_8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25" name="Google Shape;525;g3a60d5e97bb_0_8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26" name="Google Shape;526;g3a60d5e97bb_0_8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27" name="Google Shape;527;g3a60d5e97bb_0_8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528" name="Google Shape;528;g3a60d5e97bb_0_8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29" name="Google Shape;529;g3a60d5e97bb_0_8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30" name="Google Shape;530;g3a60d5e97bb_0_80"/>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531" name="Google Shape;531;g3a60d5e97bb_0_8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32" name="Google Shape;532;g3a60d5e97bb_0_8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533" name="Google Shape;533;g3a60d5e97bb_0_80"/>
          <p:cNvSpPr txBox="1"/>
          <p:nvPr/>
        </p:nvSpPr>
        <p:spPr>
          <a:xfrm>
            <a:off x="6338500" y="797900"/>
            <a:ext cx="5765400" cy="5200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The 3 V sweep provides only a limited gate overdrive above V(T), so the strong-inversion region is narrow and the “return” to C(ox) appears less well-defined.</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As the maximum sweep voltage increases to 5 V and 10 V, the device spends a larger voltage range in strong inversion, and the simulated capacitance more clearly saturates near C(ox) before numerical noise dominates.</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Across all sweeps, the simulated threshold behaviour remains consistent </a:t>
            </a:r>
            <a:r>
              <a:rPr b="1" lang="en-US" sz="1600">
                <a:solidFill>
                  <a:schemeClr val="dk1"/>
                </a:solidFill>
                <a:latin typeface="Georgia"/>
                <a:ea typeface="Georgia"/>
                <a:cs typeface="Georgia"/>
                <a:sym typeface="Georgia"/>
              </a:rPr>
              <a:t>V(Threshold) ≈ 1.2 V</a:t>
            </a:r>
            <a:r>
              <a:rPr lang="en-US" sz="1600">
                <a:solidFill>
                  <a:schemeClr val="dk1"/>
                </a:solidFill>
                <a:latin typeface="Georgia"/>
                <a:ea typeface="Georgia"/>
                <a:cs typeface="Georgia"/>
                <a:sym typeface="Georgia"/>
              </a:rPr>
              <a:t> confirming that the underlying electrostatics of the 10 nm SiO₂ MOSCAP structure are stable and reproducible.</a:t>
            </a:r>
            <a:endParaRPr sz="1600">
              <a:solidFill>
                <a:schemeClr val="dk1"/>
              </a:solidFill>
              <a:latin typeface="Georgia"/>
              <a:ea typeface="Georgia"/>
              <a:cs typeface="Georgia"/>
              <a:sym typeface="Georgia"/>
            </a:endParaRPr>
          </a:p>
          <a:p>
            <a:pPr indent="-330200" lvl="0" marL="457200" rtl="0" algn="l">
              <a:spcBef>
                <a:spcPts val="1000"/>
              </a:spcBef>
              <a:spcAft>
                <a:spcPts val="1000"/>
              </a:spcAft>
              <a:buClr>
                <a:schemeClr val="dk1"/>
              </a:buClr>
              <a:buSzPts val="1600"/>
              <a:buFont typeface="Georgia"/>
              <a:buChar char="●"/>
            </a:pPr>
            <a:r>
              <a:rPr lang="en-US" sz="1600">
                <a:solidFill>
                  <a:schemeClr val="dk1"/>
                </a:solidFill>
                <a:latin typeface="Georgia"/>
                <a:ea typeface="Georgia"/>
                <a:cs typeface="Georgia"/>
                <a:sym typeface="Georgia"/>
              </a:rPr>
              <a:t>The progressive increase in capacitance noise with higher maximum gate bias reflects the transition into a high-field, high-conductance regime, which aligns with the experimental observation that real devices exhibit increased leakage and breakdown under strong gate stress.</a:t>
            </a:r>
            <a:endParaRPr sz="1600">
              <a:solidFill>
                <a:schemeClr val="dk1"/>
              </a:solidFill>
              <a:latin typeface="Georgia"/>
              <a:ea typeface="Georgia"/>
              <a:cs typeface="Georgia"/>
              <a:sym typeface="Georgia"/>
            </a:endParaRPr>
          </a:p>
        </p:txBody>
      </p:sp>
      <p:pic>
        <p:nvPicPr>
          <p:cNvPr id="534" name="Google Shape;534;g3a60d5e97bb_0_80" title="WhatsApp Image 2025-12-10 at 22.20.43.jpeg"/>
          <p:cNvPicPr preferRelativeResize="0"/>
          <p:nvPr/>
        </p:nvPicPr>
        <p:blipFill>
          <a:blip r:embed="rId10">
            <a:alphaModFix/>
          </a:blip>
          <a:stretch>
            <a:fillRect/>
          </a:stretch>
        </p:blipFill>
        <p:spPr>
          <a:xfrm>
            <a:off x="3194245" y="948275"/>
            <a:ext cx="3098749" cy="3307012"/>
          </a:xfrm>
          <a:prstGeom prst="rect">
            <a:avLst/>
          </a:prstGeom>
          <a:noFill/>
          <a:ln cap="flat" cmpd="sng" w="16525">
            <a:solidFill>
              <a:schemeClr val="dk1"/>
            </a:solidFill>
            <a:prstDash val="solid"/>
            <a:round/>
            <a:headEnd len="sm" w="sm" type="none"/>
            <a:tailEnd len="sm" w="sm" type="none"/>
          </a:ln>
        </p:spPr>
      </p:pic>
      <p:sp>
        <p:nvSpPr>
          <p:cNvPr id="535" name="Google Shape;535;g3a60d5e97bb_0_80"/>
          <p:cNvSpPr txBox="1"/>
          <p:nvPr/>
        </p:nvSpPr>
        <p:spPr>
          <a:xfrm>
            <a:off x="4237328" y="4387577"/>
            <a:ext cx="1136700" cy="360600"/>
          </a:xfrm>
          <a:prstGeom prst="rect">
            <a:avLst/>
          </a:prstGeom>
          <a:noFill/>
          <a:ln cap="flat" cmpd="sng" w="16525">
            <a:solidFill>
              <a:schemeClr val="dk1"/>
            </a:solidFill>
            <a:prstDash val="solid"/>
            <a:round/>
            <a:headEnd len="sm" w="sm" type="none"/>
            <a:tailEnd len="sm" w="sm" type="none"/>
          </a:ln>
        </p:spPr>
        <p:txBody>
          <a:bodyPr anchorCtr="0" anchor="ctr" bIns="79350" lIns="79350" spcFirstLastPara="1" rIns="79350" wrap="square" tIns="79350">
            <a:noAutofit/>
          </a:bodyPr>
          <a:lstStyle/>
          <a:p>
            <a:pPr indent="0" lvl="0" marL="0" rtl="0" algn="ctr">
              <a:spcBef>
                <a:spcPts val="0"/>
              </a:spcBef>
              <a:spcAft>
                <a:spcPts val="0"/>
              </a:spcAft>
              <a:buNone/>
            </a:pPr>
            <a:r>
              <a:rPr lang="en-US" sz="1301">
                <a:solidFill>
                  <a:schemeClr val="dk1"/>
                </a:solidFill>
                <a:latin typeface="Georgia"/>
                <a:ea typeface="Georgia"/>
                <a:cs typeface="Georgia"/>
                <a:sym typeface="Georgia"/>
              </a:rPr>
              <a:t>0V → 5V</a:t>
            </a:r>
            <a:endParaRPr sz="1301">
              <a:solidFill>
                <a:schemeClr val="dk1"/>
              </a:solidFill>
              <a:latin typeface="Georgia"/>
              <a:ea typeface="Georgia"/>
              <a:cs typeface="Georgia"/>
              <a:sym typeface="Georgia"/>
            </a:endParaRPr>
          </a:p>
        </p:txBody>
      </p:sp>
      <p:pic>
        <p:nvPicPr>
          <p:cNvPr id="536" name="Google Shape;536;g3a60d5e97bb_0_80" title="WhatsApp Image 2025-12-10 at 22.20.35.jpeg"/>
          <p:cNvPicPr preferRelativeResize="0"/>
          <p:nvPr/>
        </p:nvPicPr>
        <p:blipFill>
          <a:blip r:embed="rId11">
            <a:alphaModFix/>
          </a:blip>
          <a:stretch>
            <a:fillRect/>
          </a:stretch>
        </p:blipFill>
        <p:spPr>
          <a:xfrm>
            <a:off x="25006" y="948275"/>
            <a:ext cx="3098749" cy="3307012"/>
          </a:xfrm>
          <a:prstGeom prst="rect">
            <a:avLst/>
          </a:prstGeom>
          <a:noFill/>
          <a:ln cap="flat" cmpd="sng" w="16525">
            <a:solidFill>
              <a:schemeClr val="dk1"/>
            </a:solidFill>
            <a:prstDash val="solid"/>
            <a:round/>
            <a:headEnd len="sm" w="sm" type="none"/>
            <a:tailEnd len="sm" w="sm" type="none"/>
          </a:ln>
        </p:spPr>
      </p:pic>
      <p:sp>
        <p:nvSpPr>
          <p:cNvPr id="537" name="Google Shape;537;g3a60d5e97bb_0_80"/>
          <p:cNvSpPr txBox="1"/>
          <p:nvPr/>
        </p:nvSpPr>
        <p:spPr>
          <a:xfrm>
            <a:off x="1060848" y="4387577"/>
            <a:ext cx="1026900" cy="360600"/>
          </a:xfrm>
          <a:prstGeom prst="rect">
            <a:avLst/>
          </a:prstGeom>
          <a:noFill/>
          <a:ln cap="flat" cmpd="sng" w="16525">
            <a:solidFill>
              <a:schemeClr val="dk1"/>
            </a:solidFill>
            <a:prstDash val="solid"/>
            <a:round/>
            <a:headEnd len="sm" w="sm" type="none"/>
            <a:tailEnd len="sm" w="sm" type="none"/>
          </a:ln>
        </p:spPr>
        <p:txBody>
          <a:bodyPr anchorCtr="0" anchor="ctr" bIns="79350" lIns="79350" spcFirstLastPara="1" rIns="79350" wrap="square" tIns="79350">
            <a:noAutofit/>
          </a:bodyPr>
          <a:lstStyle/>
          <a:p>
            <a:pPr indent="0" lvl="0" marL="0" rtl="0" algn="ctr">
              <a:spcBef>
                <a:spcPts val="0"/>
              </a:spcBef>
              <a:spcAft>
                <a:spcPts val="0"/>
              </a:spcAft>
              <a:buNone/>
            </a:pPr>
            <a:r>
              <a:rPr lang="en-US" sz="1301">
                <a:solidFill>
                  <a:schemeClr val="dk1"/>
                </a:solidFill>
                <a:latin typeface="Georgia"/>
                <a:ea typeface="Georgia"/>
                <a:cs typeface="Georgia"/>
                <a:sym typeface="Georgia"/>
              </a:rPr>
              <a:t>0V → 3V</a:t>
            </a:r>
            <a:endParaRPr sz="1301">
              <a:solidFill>
                <a:schemeClr val="dk1"/>
              </a:solidFill>
              <a:latin typeface="Georgia"/>
              <a:ea typeface="Georgia"/>
              <a:cs typeface="Georgia"/>
              <a:sym typeface="Georgia"/>
            </a:endParaRPr>
          </a:p>
        </p:txBody>
      </p:sp>
      <p:sp>
        <p:nvSpPr>
          <p:cNvPr id="538" name="Google Shape;538;g3a60d5e97bb_0_80"/>
          <p:cNvSpPr txBox="1"/>
          <p:nvPr/>
        </p:nvSpPr>
        <p:spPr>
          <a:xfrm>
            <a:off x="579450" y="4967175"/>
            <a:ext cx="5159100" cy="1048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Q(dep) is fixed ionic space charge</a:t>
            </a:r>
            <a:endParaRPr>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Q(inv) is mobile electronic charge</a:t>
            </a:r>
            <a:endParaRPr>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Q(interface) is defect charge at the boundary whose occupancy depends on bias.</a:t>
            </a:r>
            <a:endParaRPr>
              <a:solidFill>
                <a:schemeClr val="dk1"/>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g3a60d5e97bb_0_123"/>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544" name="Google Shape;544;g3a60d5e97bb_0_12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45" name="Google Shape;545;g3a60d5e97bb_0_12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546" name="Google Shape;546;g3a60d5e97bb_0_123"/>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Simulation: Conceptual justification about the above inferences</a:t>
            </a:r>
            <a:endParaRPr b="0" i="0" sz="3200" u="none" cap="none" strike="noStrike">
              <a:solidFill>
                <a:schemeClr val="dk1"/>
              </a:solidFill>
              <a:latin typeface="Times New Roman"/>
              <a:ea typeface="Times New Roman"/>
              <a:cs typeface="Times New Roman"/>
              <a:sym typeface="Times New Roman"/>
            </a:endParaRPr>
          </a:p>
        </p:txBody>
      </p:sp>
      <p:cxnSp>
        <p:nvCxnSpPr>
          <p:cNvPr id="547" name="Google Shape;547;g3a60d5e97bb_0_123"/>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548" name="Google Shape;548;g3a60d5e97bb_0_12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49" name="Google Shape;549;g3a60d5e97bb_0_12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50" name="Google Shape;550;g3a60d5e97bb_0_12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51" name="Google Shape;551;g3a60d5e97bb_0_12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52" name="Google Shape;552;g3a60d5e97bb_0_12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53" name="Google Shape;553;g3a60d5e97bb_0_12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54" name="Google Shape;554;g3a60d5e97bb_0_1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55" name="Google Shape;555;g3a60d5e97bb_0_12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56" name="Google Shape;556;g3a60d5e97bb_0_12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57" name="Google Shape;557;g3a60d5e97bb_0_1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58" name="Google Shape;558;g3a60d5e97bb_0_12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59" name="Google Shape;559;g3a60d5e97bb_0_12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60" name="Google Shape;560;g3a60d5e97bb_0_1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61" name="Google Shape;561;g3a60d5e97bb_0_123"/>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562" name="Google Shape;562;g3a60d5e97bb_0_1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63" name="Google Shape;563;g3a60d5e97bb_0_12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64" name="Google Shape;564;g3a60d5e97bb_0_123"/>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565" name="Google Shape;565;g3a60d5e97bb_0_1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66" name="Google Shape;566;g3a60d5e97bb_0_12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567" name="Google Shape;567;g3a60d5e97bb_0_123"/>
          <p:cNvSpPr txBox="1"/>
          <p:nvPr/>
        </p:nvSpPr>
        <p:spPr>
          <a:xfrm>
            <a:off x="215700" y="819500"/>
            <a:ext cx="5765400" cy="5134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chemeClr val="dk1"/>
              </a:buClr>
              <a:buSzPts val="1600"/>
              <a:buFont typeface="Georgia"/>
              <a:buChar char="●"/>
            </a:pPr>
            <a:r>
              <a:rPr b="1" lang="en-US" sz="1600">
                <a:solidFill>
                  <a:schemeClr val="dk1"/>
                </a:solidFill>
                <a:latin typeface="Georgia"/>
                <a:ea typeface="Georgia"/>
                <a:cs typeface="Georgia"/>
                <a:sym typeface="Georgia"/>
              </a:rPr>
              <a:t>Onset/ shallow inversion</a:t>
            </a:r>
            <a:r>
              <a:rPr lang="en-US" sz="1600">
                <a:solidFill>
                  <a:schemeClr val="dk1"/>
                </a:solidFill>
                <a:latin typeface="Georgia"/>
                <a:ea typeface="Georgia"/>
                <a:cs typeface="Georgia"/>
                <a:sym typeface="Georgia"/>
              </a:rPr>
              <a:t>:</a:t>
            </a:r>
            <a:br>
              <a:rPr lang="en-US" sz="1600">
                <a:solidFill>
                  <a:schemeClr val="dk1"/>
                </a:solidFill>
                <a:latin typeface="Georgia"/>
                <a:ea typeface="Georgia"/>
                <a:cs typeface="Georgia"/>
                <a:sym typeface="Georgia"/>
              </a:rPr>
            </a:br>
            <a:r>
              <a:rPr lang="en-US" sz="1600">
                <a:solidFill>
                  <a:schemeClr val="dk1"/>
                </a:solidFill>
                <a:latin typeface="Georgia"/>
                <a:ea typeface="Georgia"/>
                <a:cs typeface="Georgia"/>
                <a:sym typeface="Georgia"/>
              </a:rPr>
              <a:t>The surface has just transitioned to n-type, with depletion charge still dominant and a newly formed but relatively weak inversion layer that only partially governs the electrostatics.</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b="1" lang="en-US" sz="1600">
                <a:solidFill>
                  <a:schemeClr val="dk1"/>
                </a:solidFill>
                <a:latin typeface="Georgia"/>
                <a:ea typeface="Georgia"/>
                <a:cs typeface="Georgia"/>
                <a:sym typeface="Georgia"/>
              </a:rPr>
              <a:t>Deep inversion</a:t>
            </a:r>
            <a:r>
              <a:rPr lang="en-US" sz="1600">
                <a:solidFill>
                  <a:schemeClr val="dk1"/>
                </a:solidFill>
                <a:latin typeface="Georgia"/>
                <a:ea typeface="Georgia"/>
                <a:cs typeface="Georgia"/>
                <a:sym typeface="Georgia"/>
              </a:rPr>
              <a:t>:</a:t>
            </a:r>
            <a:br>
              <a:rPr lang="en-US" sz="1600">
                <a:solidFill>
                  <a:schemeClr val="dk1"/>
                </a:solidFill>
                <a:latin typeface="Georgia"/>
                <a:ea typeface="Georgia"/>
                <a:cs typeface="Georgia"/>
                <a:sym typeface="Georgia"/>
              </a:rPr>
            </a:br>
            <a:r>
              <a:rPr lang="en-US" sz="1600">
                <a:solidFill>
                  <a:schemeClr val="dk1"/>
                </a:solidFill>
                <a:latin typeface="Georgia"/>
                <a:ea typeface="Georgia"/>
                <a:cs typeface="Georgia"/>
                <a:sym typeface="Georgia"/>
              </a:rPr>
              <a:t>The inversion layer contains far more charge than the depletion region, creating a dense, conductive electron sheet such that additional gate bias mostly increases the oxide electric field rather than altering the semiconductor charge distribution.</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Threshold voltage marks the boundary between “depletion-governed” and “inversion-governed” electrostatics.</a:t>
            </a:r>
            <a:endParaRPr sz="1600">
              <a:solidFill>
                <a:schemeClr val="dk1"/>
              </a:solidFill>
              <a:latin typeface="Georgia"/>
              <a:ea typeface="Georgia"/>
              <a:cs typeface="Georgia"/>
              <a:sym typeface="Georgia"/>
            </a:endParaRPr>
          </a:p>
          <a:p>
            <a:pPr indent="-330200" lvl="0" marL="457200" rtl="0" algn="l">
              <a:spcBef>
                <a:spcPts val="1000"/>
              </a:spcBef>
              <a:spcAft>
                <a:spcPts val="1000"/>
              </a:spcAft>
              <a:buClr>
                <a:schemeClr val="dk1"/>
              </a:buClr>
              <a:buSzPts val="1600"/>
              <a:buFont typeface="Georgia"/>
              <a:buChar char="●"/>
            </a:pPr>
            <a:r>
              <a:rPr lang="en-US" sz="1600">
                <a:solidFill>
                  <a:schemeClr val="dk1"/>
                </a:solidFill>
                <a:latin typeface="Georgia"/>
                <a:ea typeface="Georgia"/>
                <a:cs typeface="Georgia"/>
                <a:sym typeface="Georgia"/>
              </a:rPr>
              <a:t>Pushing beyond threshold just increases inversion charge; once deep enough, the silicon stops responding and the oxide takes the brunt of the field increase.</a:t>
            </a:r>
            <a:endParaRPr sz="1600">
              <a:solidFill>
                <a:schemeClr val="dk1"/>
              </a:solidFill>
              <a:latin typeface="Georgia"/>
              <a:ea typeface="Georgia"/>
              <a:cs typeface="Georgia"/>
              <a:sym typeface="Georgia"/>
            </a:endParaRPr>
          </a:p>
        </p:txBody>
      </p:sp>
      <p:sp>
        <p:nvSpPr>
          <p:cNvPr id="568" name="Google Shape;568;g3a60d5e97bb_0_123"/>
          <p:cNvSpPr txBox="1"/>
          <p:nvPr/>
        </p:nvSpPr>
        <p:spPr>
          <a:xfrm>
            <a:off x="6169350" y="819500"/>
            <a:ext cx="5765400" cy="5134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Georgia"/>
                <a:ea typeface="Georgia"/>
                <a:cs typeface="Georgia"/>
                <a:sym typeface="Georgia"/>
              </a:rPr>
              <a:t>Why C–V Simulations Become Unstable/Chaotic in Deep Inversion ???</a:t>
            </a:r>
            <a:endParaRPr b="1"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Strong inversion creates extremely high surface conductance under the oxide.</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The AC small-signal solver interprets this as a large real (conductive) admittance in parallel with the oxide capacitance.</a:t>
            </a:r>
            <a:endParaRPr sz="1600">
              <a:solidFill>
                <a:schemeClr val="dk1"/>
              </a:solidFill>
              <a:latin typeface="Georgia"/>
              <a:ea typeface="Georgia"/>
              <a:cs typeface="Georgia"/>
              <a:sym typeface="Georgia"/>
            </a:endParaRPr>
          </a:p>
          <a:p>
            <a:pPr indent="-330200" lvl="0" marL="457200" rtl="0" algn="l">
              <a:spcBef>
                <a:spcPts val="1000"/>
              </a:spcBef>
              <a:spcAft>
                <a:spcPts val="0"/>
              </a:spcAft>
              <a:buClr>
                <a:schemeClr val="dk1"/>
              </a:buClr>
              <a:buSzPts val="1600"/>
              <a:buFont typeface="Georgia"/>
              <a:buChar char="●"/>
            </a:pPr>
            <a:r>
              <a:rPr lang="en-US" sz="1600">
                <a:solidFill>
                  <a:schemeClr val="dk1"/>
                </a:solidFill>
                <a:latin typeface="Georgia"/>
                <a:ea typeface="Georgia"/>
                <a:cs typeface="Georgia"/>
                <a:sym typeface="Georgia"/>
              </a:rPr>
              <a:t>Converting this mixed admittance into a single “capacitance” produces spikes, dips, and numerical oscillations.</a:t>
            </a:r>
            <a:endParaRPr sz="1600">
              <a:solidFill>
                <a:schemeClr val="dk1"/>
              </a:solidFill>
              <a:latin typeface="Georgia"/>
              <a:ea typeface="Georgia"/>
              <a:cs typeface="Georgia"/>
              <a:sym typeface="Georgia"/>
            </a:endParaRPr>
          </a:p>
          <a:p>
            <a:pPr indent="-330200" lvl="0" marL="457200" rtl="0" algn="l">
              <a:spcBef>
                <a:spcPts val="1000"/>
              </a:spcBef>
              <a:spcAft>
                <a:spcPts val="1000"/>
              </a:spcAft>
              <a:buClr>
                <a:schemeClr val="dk1"/>
              </a:buClr>
              <a:buSzPts val="1600"/>
              <a:buFont typeface="Georgia"/>
              <a:buChar char="●"/>
            </a:pPr>
            <a:r>
              <a:rPr lang="en-US" sz="1600">
                <a:solidFill>
                  <a:schemeClr val="dk1"/>
                </a:solidFill>
                <a:latin typeface="Georgia"/>
                <a:ea typeface="Georgia"/>
                <a:cs typeface="Georgia"/>
                <a:sym typeface="Georgia"/>
              </a:rPr>
              <a:t>At very high gate bias, the inversion layer dominates current flow and becomes extremely conductive so much that capacitance extraction ceases to be physically meaningful. </a:t>
            </a:r>
            <a:endParaRPr sz="1600">
              <a:solidFill>
                <a:schemeClr val="dk1"/>
              </a:solidFill>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g39a284b7f17_11_54"/>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574" name="Google Shape;574;g39a284b7f17_11_5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75" name="Google Shape;575;g39a284b7f17_11_5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576" name="Google Shape;576;g39a284b7f17_11_54"/>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577" name="Google Shape;577;g39a284b7f17_11_54"/>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578" name="Google Shape;578;g39a284b7f17_11_5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79" name="Google Shape;579;g39a284b7f17_11_5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80" name="Google Shape;580;g39a284b7f17_11_5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581" name="Google Shape;581;g39a284b7f17_11_5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582" name="Google Shape;582;g39a284b7f17_11_5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583" name="Google Shape;583;g39a284b7f17_11_5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84" name="Google Shape;584;g39a284b7f17_11_5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585" name="Google Shape;585;g39a284b7f17_11_5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86" name="Google Shape;586;g39a284b7f17_11_5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87" name="Google Shape;587;g39a284b7f17_11_5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88" name="Google Shape;588;g39a284b7f17_11_5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589" name="Google Shape;589;g39a284b7f17_11_5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90" name="Google Shape;590;g39a284b7f17_11_5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591" name="Google Shape;591;g39a284b7f17_11_54"/>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592" name="Google Shape;592;g39a284b7f17_11_5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93" name="Google Shape;593;g39a284b7f17_11_5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594" name="Google Shape;594;g39a284b7f17_11_54"/>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595" name="Google Shape;595;g39a284b7f17_11_5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596" name="Google Shape;596;g39a284b7f17_11_5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597" name="Google Shape;597;g39a284b7f17_11_54"/>
          <p:cNvSpPr txBox="1"/>
          <p:nvPr/>
        </p:nvSpPr>
        <p:spPr>
          <a:xfrm>
            <a:off x="265800" y="1390450"/>
            <a:ext cx="11603400" cy="3443700"/>
          </a:xfrm>
          <a:prstGeom prst="rect">
            <a:avLst/>
          </a:prstGeom>
          <a:noFill/>
          <a:ln>
            <a:noFill/>
          </a:ln>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Introduction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Simulation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Experiments</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High-K dielectric</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Fabrication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Discussions</a:t>
            </a:r>
            <a:endParaRPr sz="2000">
              <a:solidFill>
                <a:srgbClr val="B7B7B7"/>
              </a:solidFill>
              <a:latin typeface="Georgia"/>
              <a:ea typeface="Georgia"/>
              <a:cs typeface="Georgia"/>
              <a:sym typeface="Georgia"/>
            </a:endParaRPr>
          </a:p>
        </p:txBody>
      </p:sp>
      <p:pic>
        <p:nvPicPr>
          <p:cNvPr id="598" name="Google Shape;598;g39a284b7f17_11_54"/>
          <p:cNvPicPr preferRelativeResize="0"/>
          <p:nvPr/>
        </p:nvPicPr>
        <p:blipFill rotWithShape="1">
          <a:blip r:embed="rId10">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a3ec9b3325_1_159"/>
          <p:cNvSpPr txBox="1"/>
          <p:nvPr/>
        </p:nvSpPr>
        <p:spPr>
          <a:xfrm>
            <a:off x="2555100" y="1030075"/>
            <a:ext cx="7081800" cy="1670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chemeClr val="dk1"/>
              </a:buClr>
              <a:buSzPts val="800"/>
              <a:buChar char="●"/>
            </a:pPr>
            <a:r>
              <a:rPr b="1" lang="en-US" sz="1700">
                <a:solidFill>
                  <a:schemeClr val="dk1"/>
                </a:solidFill>
                <a:latin typeface="Georgia"/>
                <a:ea typeface="Georgia"/>
                <a:cs typeface="Georgia"/>
                <a:sym typeface="Georgia"/>
              </a:rPr>
              <a:t>Sweep mode</a:t>
            </a:r>
            <a:r>
              <a:rPr lang="en-US" sz="1700">
                <a:solidFill>
                  <a:schemeClr val="dk1"/>
                </a:solidFill>
                <a:latin typeface="Georgia"/>
                <a:ea typeface="Georgia"/>
                <a:cs typeface="Georgia"/>
                <a:sym typeface="Georgia"/>
              </a:rPr>
              <a:t>: measures I–V characteristics by ramping the gate voltage from 0 up to the chosen maximum value.</a:t>
            </a:r>
            <a:endParaRPr sz="1700">
              <a:solidFill>
                <a:schemeClr val="dk1"/>
              </a:solidFill>
              <a:latin typeface="Georgia"/>
              <a:ea typeface="Georgia"/>
              <a:cs typeface="Georgia"/>
              <a:sym typeface="Georgia"/>
            </a:endParaRPr>
          </a:p>
          <a:p>
            <a:pPr indent="-279400" lvl="0" marL="457200" rtl="0" algn="l">
              <a:lnSpc>
                <a:spcPct val="115000"/>
              </a:lnSpc>
              <a:spcBef>
                <a:spcPts val="1000"/>
              </a:spcBef>
              <a:spcAft>
                <a:spcPts val="1000"/>
              </a:spcAft>
              <a:buClr>
                <a:schemeClr val="dk1"/>
              </a:buClr>
              <a:buSzPts val="800"/>
              <a:buChar char="●"/>
            </a:pPr>
            <a:r>
              <a:rPr b="1" lang="en-US" sz="1700">
                <a:solidFill>
                  <a:schemeClr val="dk1"/>
                </a:solidFill>
                <a:latin typeface="Georgia"/>
                <a:ea typeface="Georgia"/>
                <a:cs typeface="Georgia"/>
                <a:sym typeface="Georgia"/>
              </a:rPr>
              <a:t>Sampling mode</a:t>
            </a:r>
            <a:r>
              <a:rPr lang="en-US" sz="1700">
                <a:solidFill>
                  <a:schemeClr val="dk1"/>
                </a:solidFill>
                <a:latin typeface="Georgia"/>
                <a:ea typeface="Georgia"/>
                <a:cs typeface="Georgia"/>
                <a:sym typeface="Georgia"/>
              </a:rPr>
              <a:t>: records I(t) at a fixed gate voltage to observe time-dependent leakage and soft-breakdown behaviour.</a:t>
            </a:r>
            <a:endParaRPr b="1" sz="800">
              <a:solidFill>
                <a:schemeClr val="dk1"/>
              </a:solidFill>
            </a:endParaRPr>
          </a:p>
        </p:txBody>
      </p:sp>
      <p:pic>
        <p:nvPicPr>
          <p:cNvPr id="604" name="Google Shape;604;g3a3ec9b3325_1_15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605" name="Google Shape;605;g3a3ec9b3325_1_15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06" name="Google Shape;606;g3a3ec9b3325_1_15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607" name="Google Shape;607;g3a3ec9b3325_1_15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Setup &amp; Measurement Modes</a:t>
            </a:r>
            <a:endParaRPr b="0" i="0" sz="3200" u="none" cap="none" strike="noStrike">
              <a:solidFill>
                <a:schemeClr val="dk1"/>
              </a:solidFill>
              <a:latin typeface="Times New Roman"/>
              <a:ea typeface="Times New Roman"/>
              <a:cs typeface="Times New Roman"/>
              <a:sym typeface="Times New Roman"/>
            </a:endParaRPr>
          </a:p>
        </p:txBody>
      </p:sp>
      <p:cxnSp>
        <p:nvCxnSpPr>
          <p:cNvPr id="608" name="Google Shape;608;g3a3ec9b3325_1_159"/>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609" name="Google Shape;609;g3a3ec9b3325_1_15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10" name="Google Shape;610;g3a3ec9b3325_1_15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11" name="Google Shape;611;g3a3ec9b3325_1_15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12" name="Google Shape;612;g3a3ec9b3325_1_15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13" name="Google Shape;613;g3a3ec9b3325_1_15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14" name="Google Shape;614;g3a3ec9b3325_1_15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15" name="Google Shape;615;g3a3ec9b3325_1_15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16" name="Google Shape;616;g3a3ec9b3325_1_15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17" name="Google Shape;617;g3a3ec9b3325_1_15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18" name="Google Shape;618;g3a3ec9b3325_1_15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19" name="Google Shape;619;g3a3ec9b3325_1_15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20" name="Google Shape;620;g3a3ec9b3325_1_15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21" name="Google Shape;621;g3a3ec9b3325_1_15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22" name="Google Shape;622;g3a3ec9b3325_1_15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623" name="Google Shape;623;g3a3ec9b3325_1_15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24" name="Google Shape;624;g3a3ec9b3325_1_15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25" name="Google Shape;625;g3a3ec9b3325_1_159"/>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626" name="Google Shape;626;g3a3ec9b3325_1_15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27" name="Google Shape;627;g3a3ec9b3325_1_15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628" name="Google Shape;628;g3a3ec9b3325_1_159"/>
          <p:cNvSpPr txBox="1"/>
          <p:nvPr/>
        </p:nvSpPr>
        <p:spPr>
          <a:xfrm>
            <a:off x="395125" y="3245688"/>
            <a:ext cx="11401800" cy="2420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chemeClr val="dk1"/>
              </a:buClr>
              <a:buSzPts val="800"/>
              <a:buChar char="●"/>
            </a:pPr>
            <a:r>
              <a:rPr b="1" lang="en-US" sz="1700">
                <a:solidFill>
                  <a:schemeClr val="dk1"/>
                </a:solidFill>
                <a:latin typeface="Georgia"/>
                <a:ea typeface="Georgia"/>
                <a:cs typeface="Georgia"/>
                <a:sym typeface="Georgia"/>
              </a:rPr>
              <a:t>Instrument</a:t>
            </a:r>
            <a:r>
              <a:rPr lang="en-US" sz="1700">
                <a:solidFill>
                  <a:schemeClr val="dk1"/>
                </a:solidFill>
                <a:latin typeface="Georgia"/>
                <a:ea typeface="Georgia"/>
                <a:cs typeface="Georgia"/>
                <a:sym typeface="Georgia"/>
              </a:rPr>
              <a:t>: Keithley source-measure unit connected to PC control software.</a:t>
            </a:r>
            <a:endParaRPr b="1" sz="1700">
              <a:solidFill>
                <a:schemeClr val="dk1"/>
              </a:solidFill>
              <a:latin typeface="Georgia"/>
              <a:ea typeface="Georgia"/>
              <a:cs typeface="Georgia"/>
              <a:sym typeface="Georgia"/>
            </a:endParaRPr>
          </a:p>
          <a:p>
            <a:pPr indent="-279400" lvl="0" marL="457200" rtl="0" algn="l">
              <a:lnSpc>
                <a:spcPct val="115000"/>
              </a:lnSpc>
              <a:spcBef>
                <a:spcPts val="1000"/>
              </a:spcBef>
              <a:spcAft>
                <a:spcPts val="0"/>
              </a:spcAft>
              <a:buClr>
                <a:schemeClr val="dk1"/>
              </a:buClr>
              <a:buSzPts val="800"/>
              <a:buChar char="●"/>
            </a:pPr>
            <a:r>
              <a:rPr b="1" lang="en-US" sz="1700">
                <a:solidFill>
                  <a:schemeClr val="dk1"/>
                </a:solidFill>
                <a:latin typeface="Georgia"/>
                <a:ea typeface="Georgia"/>
                <a:cs typeface="Georgia"/>
                <a:sym typeface="Georgia"/>
              </a:rPr>
              <a:t>Device probing</a:t>
            </a:r>
            <a:r>
              <a:rPr lang="en-US" sz="1700">
                <a:solidFill>
                  <a:schemeClr val="dk1"/>
                </a:solidFill>
                <a:latin typeface="Georgia"/>
                <a:ea typeface="Georgia"/>
                <a:cs typeface="Georgia"/>
                <a:sym typeface="Georgia"/>
              </a:rPr>
              <a:t>: the gate terminal is contacted through the metal pad under an optical microscope; the substrate is grounded and used as the reference terminal.</a:t>
            </a:r>
            <a:endParaRPr sz="1700">
              <a:solidFill>
                <a:schemeClr val="dk1"/>
              </a:solidFill>
              <a:latin typeface="Georgia"/>
              <a:ea typeface="Georgia"/>
              <a:cs typeface="Georgia"/>
              <a:sym typeface="Georgia"/>
            </a:endParaRPr>
          </a:p>
          <a:p>
            <a:pPr indent="-279400" lvl="0" marL="457200" rtl="0" algn="l">
              <a:lnSpc>
                <a:spcPct val="115000"/>
              </a:lnSpc>
              <a:spcBef>
                <a:spcPts val="1000"/>
              </a:spcBef>
              <a:spcAft>
                <a:spcPts val="1000"/>
              </a:spcAft>
              <a:buClr>
                <a:schemeClr val="dk1"/>
              </a:buClr>
              <a:buSzPts val="800"/>
              <a:buChar char="●"/>
            </a:pPr>
            <a:r>
              <a:rPr b="1" lang="en-US" sz="1700">
                <a:solidFill>
                  <a:schemeClr val="dk1"/>
                </a:solidFill>
                <a:latin typeface="Georgia"/>
                <a:ea typeface="Georgia"/>
                <a:cs typeface="Georgia"/>
                <a:sym typeface="Georgia"/>
              </a:rPr>
              <a:t>Compliance current</a:t>
            </a:r>
            <a:r>
              <a:rPr lang="en-US" sz="1700">
                <a:solidFill>
                  <a:schemeClr val="dk1"/>
                </a:solidFill>
                <a:latin typeface="Georgia"/>
                <a:ea typeface="Georgia"/>
                <a:cs typeface="Georgia"/>
                <a:sym typeface="Georgia"/>
              </a:rPr>
              <a:t>: 0.1 mA </a:t>
            </a:r>
            <a:br>
              <a:rPr lang="en-US" sz="1700">
                <a:solidFill>
                  <a:schemeClr val="dk1"/>
                </a:solidFill>
                <a:latin typeface="Georgia"/>
                <a:ea typeface="Georgia"/>
                <a:cs typeface="Georgia"/>
                <a:sym typeface="Georgia"/>
              </a:rPr>
            </a:br>
            <a:r>
              <a:rPr lang="en-US" sz="1700">
                <a:solidFill>
                  <a:schemeClr val="dk1"/>
                </a:solidFill>
                <a:latin typeface="Georgia"/>
                <a:ea typeface="Georgia"/>
                <a:cs typeface="Georgia"/>
                <a:sym typeface="Georgia"/>
              </a:rPr>
              <a:t>(to prevent permanent damage and to clearly indicate hard-breakdown events when the device reaches this limit)</a:t>
            </a: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3a3ec9b3325_1_189"/>
          <p:cNvSpPr txBox="1"/>
          <p:nvPr/>
        </p:nvSpPr>
        <p:spPr>
          <a:xfrm>
            <a:off x="334250" y="1100800"/>
            <a:ext cx="4421100" cy="4930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2250" lvl="0" marL="342900" marR="0" rtl="0" algn="l">
              <a:lnSpc>
                <a:spcPct val="100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 Leakage increases smoothly from ~10⁻¹⁵ A at low bias to ~10⁻¹¹–10⁻¹⁰ A by ~6–7 V, indicating a clean, tunnel-limited oxide over most of the range. </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Around ~7.5–8 V, small irregular steps and slight slope changes appear in the lower current branch, consistent with the onset of soft breakdown and defect-assisted conduction. </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All sweeps show a sharp current jump near ~8–8.5 V to the compliance region in the upper branch, marking reproducible hard breakdown of the SiO₂ layer.</a:t>
            </a:r>
            <a:endParaRPr sz="1600">
              <a:solidFill>
                <a:schemeClr val="dk1"/>
              </a:solidFill>
              <a:latin typeface="Georgia"/>
              <a:ea typeface="Georgia"/>
              <a:cs typeface="Georgia"/>
              <a:sym typeface="Georgia"/>
            </a:endParaRPr>
          </a:p>
        </p:txBody>
      </p:sp>
      <p:pic>
        <p:nvPicPr>
          <p:cNvPr id="634" name="Google Shape;634;g3a3ec9b3325_1_18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635" name="Google Shape;635;g3a3ec9b3325_1_18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36" name="Google Shape;636;g3a3ec9b3325_1_18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637" name="Google Shape;637;g3a3ec9b3325_1_18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I-V Sweep: (Device 1)</a:t>
            </a:r>
            <a:endParaRPr b="0" i="0" sz="3200" u="none" cap="none" strike="noStrike">
              <a:solidFill>
                <a:schemeClr val="dk1"/>
              </a:solidFill>
              <a:latin typeface="Times New Roman"/>
              <a:ea typeface="Times New Roman"/>
              <a:cs typeface="Times New Roman"/>
              <a:sym typeface="Times New Roman"/>
            </a:endParaRPr>
          </a:p>
        </p:txBody>
      </p:sp>
      <p:cxnSp>
        <p:nvCxnSpPr>
          <p:cNvPr id="638" name="Google Shape;638;g3a3ec9b3325_1_189"/>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639" name="Google Shape;639;g3a3ec9b3325_1_18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40" name="Google Shape;640;g3a3ec9b3325_1_18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41" name="Google Shape;641;g3a3ec9b3325_1_18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42" name="Google Shape;642;g3a3ec9b3325_1_18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43" name="Google Shape;643;g3a3ec9b3325_1_18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44" name="Google Shape;644;g3a3ec9b3325_1_18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45" name="Google Shape;645;g3a3ec9b3325_1_18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46" name="Google Shape;646;g3a3ec9b3325_1_18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47" name="Google Shape;647;g3a3ec9b3325_1_18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48" name="Google Shape;648;g3a3ec9b3325_1_18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49" name="Google Shape;649;g3a3ec9b3325_1_18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50" name="Google Shape;650;g3a3ec9b3325_1_18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51" name="Google Shape;651;g3a3ec9b3325_1_18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52" name="Google Shape;652;g3a3ec9b3325_1_18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653" name="Google Shape;653;g3a3ec9b3325_1_18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54" name="Google Shape;654;g3a3ec9b3325_1_18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55" name="Google Shape;655;g3a3ec9b3325_1_189"/>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656" name="Google Shape;656;g3a3ec9b3325_1_18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57" name="Google Shape;657;g3a3ec9b3325_1_18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58" name="Google Shape;658;g3a3ec9b3325_1_189" title="MTD20251DEVICE1.png"/>
          <p:cNvPicPr preferRelativeResize="0"/>
          <p:nvPr/>
        </p:nvPicPr>
        <p:blipFill rotWithShape="1">
          <a:blip r:embed="rId10">
            <a:alphaModFix/>
          </a:blip>
          <a:srcRect b="3729" l="0" r="0" t="3738"/>
          <a:stretch/>
        </p:blipFill>
        <p:spPr>
          <a:xfrm>
            <a:off x="4847506" y="1377225"/>
            <a:ext cx="7167894" cy="4260888"/>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id="663" name="Google Shape;663;g3ae9437f066_0_125"/>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664" name="Google Shape;664;g3ae9437f066_0_12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65" name="Google Shape;665;g3ae9437f066_0_12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666" name="Google Shape;666;g3ae9437f066_0_125"/>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I-V Sweep (0 → 10 V) (Device 2)</a:t>
            </a:r>
            <a:endParaRPr b="0" i="0" sz="3200" u="none" cap="none" strike="noStrike">
              <a:solidFill>
                <a:schemeClr val="dk1"/>
              </a:solidFill>
              <a:latin typeface="Times New Roman"/>
              <a:ea typeface="Times New Roman"/>
              <a:cs typeface="Times New Roman"/>
              <a:sym typeface="Times New Roman"/>
            </a:endParaRPr>
          </a:p>
        </p:txBody>
      </p:sp>
      <p:cxnSp>
        <p:nvCxnSpPr>
          <p:cNvPr id="667" name="Google Shape;667;g3ae9437f066_0_125"/>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668" name="Google Shape;668;g3ae9437f066_0_12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69" name="Google Shape;669;g3ae9437f066_0_12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70" name="Google Shape;670;g3ae9437f066_0_12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671" name="Google Shape;671;g3ae9437f066_0_12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72" name="Google Shape;672;g3ae9437f066_0_12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73" name="Google Shape;673;g3ae9437f066_0_12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74" name="Google Shape;674;g3ae9437f066_0_12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75" name="Google Shape;675;g3ae9437f066_0_12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76" name="Google Shape;676;g3ae9437f066_0_12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77" name="Google Shape;677;g3ae9437f066_0_12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78" name="Google Shape;678;g3ae9437f066_0_12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679" name="Google Shape;679;g3ae9437f066_0_12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80" name="Google Shape;680;g3ae9437f066_0_12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681" name="Google Shape;681;g3ae9437f066_0_125"/>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682" name="Google Shape;682;g3ae9437f066_0_12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83" name="Google Shape;683;g3ae9437f066_0_12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84" name="Google Shape;684;g3ae9437f066_0_125"/>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685" name="Google Shape;685;g3ae9437f066_0_12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686" name="Google Shape;686;g3ae9437f066_0_12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687" name="Google Shape;687;g3ae9437f066_0_125" title="MTD20251Device2.png"/>
          <p:cNvPicPr preferRelativeResize="0"/>
          <p:nvPr/>
        </p:nvPicPr>
        <p:blipFill rotWithShape="1">
          <a:blip r:embed="rId10">
            <a:alphaModFix/>
          </a:blip>
          <a:srcRect b="9771" l="0" r="0" t="0"/>
          <a:stretch/>
        </p:blipFill>
        <p:spPr>
          <a:xfrm>
            <a:off x="86285" y="1404638"/>
            <a:ext cx="7050530" cy="4086800"/>
          </a:xfrm>
          <a:prstGeom prst="rect">
            <a:avLst/>
          </a:prstGeom>
          <a:noFill/>
          <a:ln cap="flat" cmpd="sng" w="19050">
            <a:solidFill>
              <a:schemeClr val="dk2"/>
            </a:solidFill>
            <a:prstDash val="solid"/>
            <a:round/>
            <a:headEnd len="sm" w="sm" type="none"/>
            <a:tailEnd len="sm" w="sm" type="none"/>
          </a:ln>
        </p:spPr>
      </p:pic>
      <p:sp>
        <p:nvSpPr>
          <p:cNvPr id="688" name="Google Shape;688;g3ae9437f066_0_125"/>
          <p:cNvSpPr txBox="1"/>
          <p:nvPr/>
        </p:nvSpPr>
        <p:spPr>
          <a:xfrm>
            <a:off x="7223050" y="932900"/>
            <a:ext cx="4911900" cy="4930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2250" lvl="0" marL="342900" marR="0" rtl="0" algn="l">
              <a:lnSpc>
                <a:spcPct val="100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Current follows a smooth exponential-like rise from ~10⁻¹⁵ A up to ~10⁻¹¹ A as AV increases from 0 to ~6–7 V, characteristic of pre-breakdown leakage.</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Between ~7 and ~8.5 V the leakage slope increases and the curve starts to flatten toward ~10⁻⁹–10⁻⁸ A, indicating enhanced trap-assisted conduction without catastrophic failure.</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A sudden vertical jump close to ~8.5–9 V drives the current into the 10⁻⁴–10⁻³ A range, identifying the hard breakdown point for this device.</a:t>
            </a:r>
            <a:endParaRPr sz="1600">
              <a:solidFill>
                <a:schemeClr val="dk1"/>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ae9437f066_0_23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694" name="Google Shape;694;g3ae9437f066_0_23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695" name="Google Shape;695;g3ae9437f066_0_23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696" name="Google Shape;696;g3ae9437f066_0_23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I-V Sweep (0 → 10 V) (Device 3)</a:t>
            </a:r>
            <a:endParaRPr b="0" i="0" sz="3200" u="none" cap="none" strike="noStrike">
              <a:solidFill>
                <a:schemeClr val="dk1"/>
              </a:solidFill>
              <a:latin typeface="Times New Roman"/>
              <a:ea typeface="Times New Roman"/>
              <a:cs typeface="Times New Roman"/>
              <a:sym typeface="Times New Roman"/>
            </a:endParaRPr>
          </a:p>
        </p:txBody>
      </p:sp>
      <p:cxnSp>
        <p:nvCxnSpPr>
          <p:cNvPr id="697" name="Google Shape;697;g3ae9437f066_0_239"/>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698" name="Google Shape;698;g3ae9437f066_0_23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699" name="Google Shape;699;g3ae9437f066_0_23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00" name="Google Shape;700;g3ae9437f066_0_23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01" name="Google Shape;701;g3ae9437f066_0_23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02" name="Google Shape;702;g3ae9437f066_0_23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03" name="Google Shape;703;g3ae9437f066_0_23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04" name="Google Shape;704;g3ae9437f066_0_23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05" name="Google Shape;705;g3ae9437f066_0_23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06" name="Google Shape;706;g3ae9437f066_0_23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07" name="Google Shape;707;g3ae9437f066_0_23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08" name="Google Shape;708;g3ae9437f066_0_23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09" name="Google Shape;709;g3ae9437f066_0_23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10" name="Google Shape;710;g3ae9437f066_0_23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11" name="Google Shape;711;g3ae9437f066_0_23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712" name="Google Shape;712;g3ae9437f066_0_23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13" name="Google Shape;713;g3ae9437f066_0_23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14" name="Google Shape;714;g3ae9437f066_0_239"/>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715" name="Google Shape;715;g3ae9437f066_0_23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16" name="Google Shape;716;g3ae9437f066_0_23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17" name="Google Shape;717;g3ae9437f066_0_239" title="MTD2025DEVICE4.png"/>
          <p:cNvPicPr preferRelativeResize="0"/>
          <p:nvPr/>
        </p:nvPicPr>
        <p:blipFill rotWithShape="1">
          <a:blip r:embed="rId10">
            <a:alphaModFix/>
          </a:blip>
          <a:srcRect b="6803" l="0" r="0" t="0"/>
          <a:stretch/>
        </p:blipFill>
        <p:spPr>
          <a:xfrm>
            <a:off x="104968" y="1358650"/>
            <a:ext cx="6979164" cy="4178800"/>
          </a:xfrm>
          <a:prstGeom prst="rect">
            <a:avLst/>
          </a:prstGeom>
          <a:noFill/>
          <a:ln cap="flat" cmpd="sng" w="19050">
            <a:solidFill>
              <a:schemeClr val="dk2"/>
            </a:solidFill>
            <a:prstDash val="solid"/>
            <a:round/>
            <a:headEnd len="sm" w="sm" type="none"/>
            <a:tailEnd len="sm" w="sm" type="none"/>
          </a:ln>
        </p:spPr>
      </p:pic>
      <p:sp>
        <p:nvSpPr>
          <p:cNvPr id="718" name="Google Shape;718;g3ae9437f066_0_239"/>
          <p:cNvSpPr txBox="1"/>
          <p:nvPr/>
        </p:nvSpPr>
        <p:spPr>
          <a:xfrm>
            <a:off x="7321675" y="1146500"/>
            <a:ext cx="4683000" cy="4503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2250" lvl="0" marL="342900" marR="0" rtl="0" algn="l">
              <a:lnSpc>
                <a:spcPct val="100000"/>
              </a:lnSpc>
              <a:spcBef>
                <a:spcPts val="0"/>
              </a:spcBef>
              <a:spcAft>
                <a:spcPts val="0"/>
              </a:spcAft>
              <a:buClr>
                <a:schemeClr val="dk1"/>
              </a:buClr>
              <a:buSzPts val="1700"/>
              <a:buFont typeface="Georgia"/>
              <a:buChar char="●"/>
            </a:pPr>
            <a:r>
              <a:rPr lang="en-US" sz="1600">
                <a:solidFill>
                  <a:schemeClr val="dk1"/>
                </a:solidFill>
                <a:latin typeface="Georgia"/>
                <a:ea typeface="Georgia"/>
                <a:cs typeface="Georgia"/>
                <a:sym typeface="Georgia"/>
              </a:rPr>
              <a:t> At low AV (0–~3 V), current rises from ~10⁻¹⁵ A to ~10⁻¹¹ A with a gradual change in slope, showing normal tunneling and field-assisted leakage. </a:t>
            </a:r>
            <a:endParaRPr sz="1600">
              <a:solidFill>
                <a:schemeClr val="dk1"/>
              </a:solidFill>
              <a:latin typeface="Georgia"/>
              <a:ea typeface="Georgia"/>
              <a:cs typeface="Georgia"/>
              <a:sym typeface="Georgia"/>
            </a:endParaRPr>
          </a:p>
          <a:p>
            <a:pPr indent="-222250" lvl="0" marL="342900" marR="0" rtl="0" algn="l">
              <a:lnSpc>
                <a:spcPct val="100000"/>
              </a:lnSpc>
              <a:spcBef>
                <a:spcPts val="1000"/>
              </a:spcBef>
              <a:spcAft>
                <a:spcPts val="0"/>
              </a:spcAft>
              <a:buClr>
                <a:schemeClr val="dk1"/>
              </a:buClr>
              <a:buSzPts val="1700"/>
              <a:buFont typeface="Georgia"/>
              <a:buChar char="●"/>
            </a:pPr>
            <a:r>
              <a:rPr lang="en-US" sz="1600">
                <a:solidFill>
                  <a:schemeClr val="dk1"/>
                </a:solidFill>
                <a:latin typeface="Georgia"/>
                <a:ea typeface="Georgia"/>
                <a:cs typeface="Georgia"/>
                <a:sym typeface="Georgia"/>
              </a:rPr>
              <a:t>A pronounced soft-breakdown region appears around ~3–5 V, where the curve exhibits step-like increases and then saturates into a broad plateau around 10⁻⁹–10⁻⁸ A up to ~8–9 V.</a:t>
            </a:r>
            <a:endParaRPr sz="1600">
              <a:solidFill>
                <a:schemeClr val="dk1"/>
              </a:solidFill>
              <a:latin typeface="Georgia"/>
              <a:ea typeface="Georgia"/>
              <a:cs typeface="Georgia"/>
              <a:sym typeface="Georgia"/>
            </a:endParaRPr>
          </a:p>
          <a:p>
            <a:pPr indent="-222250" lvl="0" marL="342900" marR="0" rtl="0" algn="l">
              <a:lnSpc>
                <a:spcPct val="100000"/>
              </a:lnSpc>
              <a:spcBef>
                <a:spcPts val="1000"/>
              </a:spcBef>
              <a:spcAft>
                <a:spcPts val="1000"/>
              </a:spcAft>
              <a:buClr>
                <a:schemeClr val="dk1"/>
              </a:buClr>
              <a:buSzPts val="1700"/>
              <a:buFont typeface="Georgia"/>
              <a:buChar char="●"/>
            </a:pPr>
            <a:r>
              <a:rPr lang="en-US" sz="1600">
                <a:solidFill>
                  <a:schemeClr val="dk1"/>
                </a:solidFill>
                <a:latin typeface="Georgia"/>
                <a:ea typeface="Georgia"/>
                <a:cs typeface="Georgia"/>
                <a:sym typeface="Georgia"/>
              </a:rPr>
              <a:t>Near ~9.5–10 V, the current abruptly shoots to the compliance limit (~10⁻⁴–10⁻³ A), marking a clear hard breakdown event.</a:t>
            </a:r>
            <a:endParaRPr sz="1600">
              <a:solidFill>
                <a:schemeClr val="dk1"/>
              </a:solidFill>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pic>
        <p:nvPicPr>
          <p:cNvPr id="723" name="Google Shape;723;g3af6a2419cc_0_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724" name="Google Shape;724;g3af6a2419cc_0_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25" name="Google Shape;725;g3af6a2419cc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726" name="Google Shape;726;g3af6a2419cc_0_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I-V Sweep (0 → 10 V) (Device 4)</a:t>
            </a:r>
            <a:endParaRPr b="0" i="0" sz="3200" u="none" cap="none" strike="noStrike">
              <a:solidFill>
                <a:schemeClr val="dk1"/>
              </a:solidFill>
              <a:latin typeface="Times New Roman"/>
              <a:ea typeface="Times New Roman"/>
              <a:cs typeface="Times New Roman"/>
              <a:sym typeface="Times New Roman"/>
            </a:endParaRPr>
          </a:p>
        </p:txBody>
      </p:sp>
      <p:cxnSp>
        <p:nvCxnSpPr>
          <p:cNvPr id="727" name="Google Shape;727;g3af6a2419cc_0_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728" name="Google Shape;728;g3af6a2419cc_0_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29" name="Google Shape;729;g3af6a2419cc_0_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30" name="Google Shape;730;g3af6a2419cc_0_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31" name="Google Shape;731;g3af6a2419cc_0_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32" name="Google Shape;732;g3af6a2419cc_0_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33" name="Google Shape;733;g3af6a2419cc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34" name="Google Shape;734;g3af6a2419cc_0_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35" name="Google Shape;735;g3af6a2419cc_0_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36" name="Google Shape;736;g3af6a2419cc_0_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37" name="Google Shape;737;g3af6a2419cc_0_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38" name="Google Shape;738;g3af6a2419cc_0_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39" name="Google Shape;739;g3af6a2419cc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0" name="Google Shape;740;g3af6a2419cc_0_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41" name="Google Shape;741;g3af6a2419cc_0_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742" name="Google Shape;742;g3af6a2419cc_0_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43" name="Google Shape;743;g3af6a2419cc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4" name="Google Shape;744;g3af6a2419cc_0_1"/>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745" name="Google Shape;745;g3af6a2419cc_0_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46" name="Google Shape;746;g3af6a2419cc_0_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47" name="Google Shape;747;g3af6a2419cc_0_1" title="MTD2025DEVICE5.png"/>
          <p:cNvPicPr preferRelativeResize="0"/>
          <p:nvPr/>
        </p:nvPicPr>
        <p:blipFill rotWithShape="1">
          <a:blip r:embed="rId10">
            <a:alphaModFix/>
          </a:blip>
          <a:srcRect b="6803" l="0" r="0" t="0"/>
          <a:stretch/>
        </p:blipFill>
        <p:spPr>
          <a:xfrm>
            <a:off x="107604" y="1391000"/>
            <a:ext cx="7000193" cy="4191375"/>
          </a:xfrm>
          <a:prstGeom prst="rect">
            <a:avLst/>
          </a:prstGeom>
          <a:noFill/>
          <a:ln cap="flat" cmpd="sng" w="19050">
            <a:solidFill>
              <a:schemeClr val="dk2"/>
            </a:solidFill>
            <a:prstDash val="solid"/>
            <a:round/>
            <a:headEnd len="sm" w="sm" type="none"/>
            <a:tailEnd len="sm" w="sm" type="none"/>
          </a:ln>
        </p:spPr>
      </p:pic>
      <p:sp>
        <p:nvSpPr>
          <p:cNvPr id="748" name="Google Shape;748;g3af6a2419cc_0_1"/>
          <p:cNvSpPr txBox="1"/>
          <p:nvPr/>
        </p:nvSpPr>
        <p:spPr>
          <a:xfrm>
            <a:off x="7226200" y="932900"/>
            <a:ext cx="4911900" cy="4930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2250" lvl="0" marL="342900" marR="0" rtl="0" algn="l">
              <a:lnSpc>
                <a:spcPct val="100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Leakage increases smoothly from ~10⁻¹⁵ A at low bias to ~10⁻¹²–10⁻¹¹ A by ~3 V, indicating a healthy oxide in the low-field regime.</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Between ~3 and ~6–7 V the current climbs into the 10⁻⁹–10⁻⁸ A decade and then forms a relatively flat plateau up to ~9 V, consistent with sustained soft-breakdown-assisted conduction without full rupture.</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A sharp rise at ~9.5–10 V drives the current abruptly into the compliance region, identifying the hard breakdown point similar to Device 4. </a:t>
            </a:r>
            <a:endParaRPr sz="1600">
              <a:solidFill>
                <a:schemeClr val="dk1"/>
              </a:solidFill>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g3ae9437f066_0_21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754" name="Google Shape;754;g3ae9437f066_0_21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55" name="Google Shape;755;g3ae9437f066_0_21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756" name="Google Shape;756;g3ae9437f066_0_210"/>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I-T Sweep (Device 5 - 7V driving voltage)</a:t>
            </a:r>
            <a:endParaRPr b="0" i="0" sz="3200" u="none" cap="none" strike="noStrike">
              <a:solidFill>
                <a:schemeClr val="dk1"/>
              </a:solidFill>
              <a:latin typeface="Times New Roman"/>
              <a:ea typeface="Times New Roman"/>
              <a:cs typeface="Times New Roman"/>
              <a:sym typeface="Times New Roman"/>
            </a:endParaRPr>
          </a:p>
        </p:txBody>
      </p:sp>
      <p:cxnSp>
        <p:nvCxnSpPr>
          <p:cNvPr id="757" name="Google Shape;757;g3ae9437f066_0_21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758" name="Google Shape;758;g3ae9437f066_0_21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59" name="Google Shape;759;g3ae9437f066_0_21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60" name="Google Shape;760;g3ae9437f066_0_21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61" name="Google Shape;761;g3ae9437f066_0_21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62" name="Google Shape;762;g3ae9437f066_0_21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63" name="Google Shape;763;g3ae9437f066_0_21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64" name="Google Shape;764;g3ae9437f066_0_21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65" name="Google Shape;765;g3ae9437f066_0_21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66" name="Google Shape;766;g3ae9437f066_0_21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67" name="Google Shape;767;g3ae9437f066_0_21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68" name="Google Shape;768;g3ae9437f066_0_21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69" name="Google Shape;769;g3ae9437f066_0_21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70" name="Google Shape;770;g3ae9437f066_0_21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71" name="Google Shape;771;g3ae9437f066_0_21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772" name="Google Shape;772;g3ae9437f066_0_21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73" name="Google Shape;773;g3ae9437f066_0_21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74" name="Google Shape;774;g3ae9437f066_0_210"/>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775" name="Google Shape;775;g3ae9437f066_0_21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776" name="Google Shape;776;g3ae9437f066_0_21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77" name="Google Shape;777;g3ae9437f066_0_210" title="MTD2025HBD7V.png"/>
          <p:cNvPicPr preferRelativeResize="0"/>
          <p:nvPr/>
        </p:nvPicPr>
        <p:blipFill rotWithShape="1">
          <a:blip r:embed="rId10">
            <a:alphaModFix/>
          </a:blip>
          <a:srcRect b="6015" l="0" r="0" t="0"/>
          <a:stretch/>
        </p:blipFill>
        <p:spPr>
          <a:xfrm>
            <a:off x="5238395" y="1417936"/>
            <a:ext cx="6852509" cy="4137500"/>
          </a:xfrm>
          <a:prstGeom prst="rect">
            <a:avLst/>
          </a:prstGeom>
          <a:noFill/>
          <a:ln cap="flat" cmpd="sng" w="19050">
            <a:solidFill>
              <a:schemeClr val="dk2"/>
            </a:solidFill>
            <a:prstDash val="solid"/>
            <a:round/>
            <a:headEnd len="sm" w="sm" type="none"/>
            <a:tailEnd len="sm" w="sm" type="none"/>
          </a:ln>
        </p:spPr>
      </p:pic>
      <p:sp>
        <p:nvSpPr>
          <p:cNvPr id="778" name="Google Shape;778;g3ae9437f066_0_210"/>
          <p:cNvSpPr txBox="1"/>
          <p:nvPr/>
        </p:nvSpPr>
        <p:spPr>
          <a:xfrm>
            <a:off x="44700" y="994488"/>
            <a:ext cx="4911900" cy="4930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2250" lvl="0" marL="342900" marR="0" rtl="0" algn="l">
              <a:lnSpc>
                <a:spcPct val="100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Initial current starts near ~10⁻⁶ A and decays rapidly within the first few seconds down to ~10⁻⁹–10⁻¹⁰ A, reflecting transient charging of oxide and interface traps.</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From ~5 to ~45 s, the current remains in a relatively stable low-noise band around 10⁻¹⁰–10⁻⁹ A, characteristic of a stressed but not yet ruptured oxide.</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After ~50 s, the current begins to fluctuate and then spikes sharply toward ~10⁻⁶ A, signalling a time-dependent hard breakdown at 7 V stress.</a:t>
            </a:r>
            <a:endParaRPr sz="1600">
              <a:solidFill>
                <a:schemeClr val="dk1"/>
              </a:solidFill>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pic>
        <p:nvPicPr>
          <p:cNvPr id="783" name="Google Shape;783;g3ae9437f066_0_18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784" name="Google Shape;784;g3ae9437f066_0_18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85" name="Google Shape;785;g3ae9437f066_0_18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786" name="Google Shape;786;g3ae9437f066_0_182"/>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Experiment : I-T Sweep (Device 6 - 8.5V driving voltage)</a:t>
            </a:r>
            <a:endParaRPr b="0" i="0" sz="3200" u="none" cap="none" strike="noStrike">
              <a:solidFill>
                <a:schemeClr val="dk1"/>
              </a:solidFill>
              <a:latin typeface="Times New Roman"/>
              <a:ea typeface="Times New Roman"/>
              <a:cs typeface="Times New Roman"/>
              <a:sym typeface="Times New Roman"/>
            </a:endParaRPr>
          </a:p>
        </p:txBody>
      </p:sp>
      <p:cxnSp>
        <p:nvCxnSpPr>
          <p:cNvPr id="787" name="Google Shape;787;g3ae9437f066_0_182"/>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788" name="Google Shape;788;g3ae9437f066_0_18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89" name="Google Shape;789;g3ae9437f066_0_18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90" name="Google Shape;790;g3ae9437f066_0_18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791" name="Google Shape;791;g3ae9437f066_0_18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792" name="Google Shape;792;g3ae9437f066_0_18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793" name="Google Shape;793;g3ae9437f066_0_18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94" name="Google Shape;794;g3ae9437f066_0_18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95" name="Google Shape;795;g3ae9437f066_0_18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96" name="Google Shape;796;g3ae9437f066_0_18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797" name="Google Shape;797;g3ae9437f066_0_18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798" name="Google Shape;798;g3ae9437f066_0_18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799" name="Google Shape;799;g3ae9437f066_0_18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00" name="Google Shape;800;g3ae9437f066_0_18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01" name="Google Shape;801;g3ae9437f066_0_18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802" name="Google Shape;802;g3ae9437f066_0_18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03" name="Google Shape;803;g3ae9437f066_0_18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04" name="Google Shape;804;g3ae9437f066_0_182"/>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805" name="Google Shape;805;g3ae9437f066_0_18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06" name="Google Shape;806;g3ae9437f066_0_18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07" name="Google Shape;807;g3ae9437f066_0_182" title="MTD2025HBD8.5V.png"/>
          <p:cNvPicPr preferRelativeResize="0"/>
          <p:nvPr/>
        </p:nvPicPr>
        <p:blipFill rotWithShape="1">
          <a:blip r:embed="rId10">
            <a:alphaModFix/>
          </a:blip>
          <a:srcRect b="6015" l="0" r="0" t="0"/>
          <a:stretch/>
        </p:blipFill>
        <p:spPr>
          <a:xfrm>
            <a:off x="5277142" y="1391000"/>
            <a:ext cx="6813766" cy="4114100"/>
          </a:xfrm>
          <a:prstGeom prst="rect">
            <a:avLst/>
          </a:prstGeom>
          <a:noFill/>
          <a:ln cap="flat" cmpd="sng" w="19050">
            <a:solidFill>
              <a:schemeClr val="dk2"/>
            </a:solidFill>
            <a:prstDash val="solid"/>
            <a:round/>
            <a:headEnd len="sm" w="sm" type="none"/>
            <a:tailEnd len="sm" w="sm" type="none"/>
          </a:ln>
        </p:spPr>
      </p:pic>
      <p:sp>
        <p:nvSpPr>
          <p:cNvPr id="808" name="Google Shape;808;g3ae9437f066_0_182"/>
          <p:cNvSpPr txBox="1"/>
          <p:nvPr/>
        </p:nvSpPr>
        <p:spPr>
          <a:xfrm>
            <a:off x="44700" y="994488"/>
            <a:ext cx="4911900" cy="4930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22250" lvl="0" marL="342900" marR="0" rtl="0" algn="l">
              <a:lnSpc>
                <a:spcPct val="100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Current starts in the 10⁻⁹–10⁻⁸ A range with strong initial fluctuations, indicating a more aggressively stressed oxide compared to the 7 V case.</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Throughout ~5–55 s, the trace shows persistent noisy, step-like variations with a slight upward trend, consistent with progressive soft-breakdown and ongoing defect generation.</a:t>
            </a:r>
            <a:endParaRPr sz="1700">
              <a:solidFill>
                <a:schemeClr val="dk1"/>
              </a:solidFill>
              <a:latin typeface="Georgia"/>
              <a:ea typeface="Georgia"/>
              <a:cs typeface="Georgia"/>
              <a:sym typeface="Georgia"/>
            </a:endParaRPr>
          </a:p>
          <a:p>
            <a:pPr indent="-222250" lvl="0" marL="342900" marR="0" rtl="0" algn="l">
              <a:lnSpc>
                <a:spcPct val="100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Near ~60 s, the current rises abruptly to ~10⁻⁶ A, forming a high-current tail that marks hard breakdown under higher stress voltage.</a:t>
            </a:r>
            <a:endParaRPr sz="1600">
              <a:solidFill>
                <a:schemeClr val="dk1"/>
              </a:solidFill>
              <a:latin typeface="Georgia"/>
              <a:ea typeface="Georgia"/>
              <a:cs typeface="Georgia"/>
              <a:sym typeface="Georg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pic>
        <p:nvPicPr>
          <p:cNvPr id="813" name="Google Shape;813;g39a284b7f17_11_1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814" name="Google Shape;814;g39a284b7f17_11_1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15" name="Google Shape;815;g39a284b7f17_11_1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816" name="Google Shape;816;g39a284b7f17_11_16"/>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817" name="Google Shape;817;g39a284b7f17_11_16"/>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818" name="Google Shape;818;g39a284b7f17_11_1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19" name="Google Shape;819;g39a284b7f17_11_1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20" name="Google Shape;820;g39a284b7f17_11_1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21" name="Google Shape;821;g39a284b7f17_11_1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22" name="Google Shape;822;g39a284b7f17_11_1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23" name="Google Shape;823;g39a284b7f17_11_1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24" name="Google Shape;824;g39a284b7f17_11_16"/>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825" name="Google Shape;825;g39a284b7f17_11_1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26" name="Google Shape;826;g39a284b7f17_11_1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27" name="Google Shape;827;g39a284b7f17_11_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28" name="Google Shape;828;g39a284b7f17_11_1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29" name="Google Shape;829;g39a284b7f17_11_1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30" name="Google Shape;830;g39a284b7f17_11_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31" name="Google Shape;831;g39a284b7f17_11_1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832" name="Google Shape;832;g39a284b7f17_11_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33" name="Google Shape;833;g39a284b7f17_11_1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34" name="Google Shape;834;g39a284b7f17_11_16"/>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835" name="Google Shape;835;g39a284b7f17_11_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36" name="Google Shape;836;g39a284b7f17_11_1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837" name="Google Shape;837;g39a284b7f17_11_16"/>
          <p:cNvSpPr txBox="1"/>
          <p:nvPr/>
        </p:nvSpPr>
        <p:spPr>
          <a:xfrm>
            <a:off x="265800" y="1463850"/>
            <a:ext cx="11603400" cy="3297000"/>
          </a:xfrm>
          <a:prstGeom prst="rect">
            <a:avLst/>
          </a:prstGeom>
          <a:noFill/>
          <a:ln>
            <a:noFill/>
          </a:ln>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Introduction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Simulation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Experiments</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High-K dielectric</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Fabrication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Discussions</a:t>
            </a:r>
            <a:endParaRPr sz="2000">
              <a:solidFill>
                <a:srgbClr val="B7B7B7"/>
              </a:solidFill>
              <a:latin typeface="Georgia"/>
              <a:ea typeface="Georgia"/>
              <a:cs typeface="Georgia"/>
              <a:sym typeface="Georgia"/>
            </a:endParaRPr>
          </a:p>
        </p:txBody>
      </p:sp>
      <p:pic>
        <p:nvPicPr>
          <p:cNvPr id="838" name="Google Shape;838;g39a284b7f17_11_16"/>
          <p:cNvPicPr preferRelativeResize="0"/>
          <p:nvPr/>
        </p:nvPicPr>
        <p:blipFill rotWithShape="1">
          <a:blip r:embed="rId10">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pic>
        <p:nvPicPr>
          <p:cNvPr id="843" name="Google Shape;843;g3ae9437f066_0_267"/>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844" name="Google Shape;844;g3ae9437f066_0_26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45" name="Google Shape;845;g3ae9437f066_0_26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846" name="Google Shape;846;g3ae9437f066_0_267"/>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High-k Dielectric e</a:t>
            </a:r>
            <a:r>
              <a:rPr lang="en-US" sz="3200">
                <a:solidFill>
                  <a:schemeClr val="dk1"/>
                </a:solidFill>
                <a:latin typeface="Times New Roman"/>
                <a:ea typeface="Times New Roman"/>
                <a:cs typeface="Times New Roman"/>
                <a:sym typeface="Times New Roman"/>
              </a:rPr>
              <a:t>xperiment : I-V Sweep (Device 1)</a:t>
            </a:r>
            <a:endParaRPr b="0" i="0" sz="3200" u="none" cap="none" strike="noStrike">
              <a:solidFill>
                <a:schemeClr val="dk1"/>
              </a:solidFill>
              <a:latin typeface="Times New Roman"/>
              <a:ea typeface="Times New Roman"/>
              <a:cs typeface="Times New Roman"/>
              <a:sym typeface="Times New Roman"/>
            </a:endParaRPr>
          </a:p>
        </p:txBody>
      </p:sp>
      <p:cxnSp>
        <p:nvCxnSpPr>
          <p:cNvPr id="847" name="Google Shape;847;g3ae9437f066_0_267"/>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848" name="Google Shape;848;g3ae9437f066_0_26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49" name="Google Shape;849;g3ae9437f066_0_26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50" name="Google Shape;850;g3ae9437f066_0_26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51" name="Google Shape;851;g3ae9437f066_0_26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52" name="Google Shape;852;g3ae9437f066_0_26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53" name="Google Shape;853;g3ae9437f066_0_26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54" name="Google Shape;854;g3ae9437f066_0_26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55" name="Google Shape;855;g3ae9437f066_0_26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56" name="Google Shape;856;g3ae9437f066_0_26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57" name="Google Shape;857;g3ae9437f066_0_26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58" name="Google Shape;858;g3ae9437f066_0_26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59" name="Google Shape;859;g3ae9437f066_0_26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60" name="Google Shape;860;g3ae9437f066_0_26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61" name="Google Shape;861;g3ae9437f066_0_267"/>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862" name="Google Shape;862;g3ae9437f066_0_26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63" name="Google Shape;863;g3ae9437f066_0_26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64" name="Google Shape;864;g3ae9437f066_0_267"/>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865" name="Google Shape;865;g3ae9437f066_0_26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66" name="Google Shape;866;g3ae9437f066_0_26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67" name="Google Shape;867;g3ae9437f066_0_267" title="Device 1-I-V.png"/>
          <p:cNvPicPr preferRelativeResize="0"/>
          <p:nvPr/>
        </p:nvPicPr>
        <p:blipFill rotWithShape="1">
          <a:blip r:embed="rId10">
            <a:alphaModFix/>
          </a:blip>
          <a:srcRect b="8105" l="0" r="0" t="0"/>
          <a:stretch/>
        </p:blipFill>
        <p:spPr>
          <a:xfrm>
            <a:off x="373767" y="1648635"/>
            <a:ext cx="6096067" cy="3598825"/>
          </a:xfrm>
          <a:prstGeom prst="rect">
            <a:avLst/>
          </a:prstGeom>
          <a:noFill/>
          <a:ln cap="flat" cmpd="sng" w="19050">
            <a:solidFill>
              <a:schemeClr val="dk2"/>
            </a:solidFill>
            <a:prstDash val="solid"/>
            <a:round/>
            <a:headEnd len="sm" w="sm" type="none"/>
            <a:tailEnd len="sm" w="sm" type="none"/>
          </a:ln>
        </p:spPr>
      </p:pic>
      <p:sp>
        <p:nvSpPr>
          <p:cNvPr id="868" name="Google Shape;868;g3ae9437f066_0_267"/>
          <p:cNvSpPr txBox="1"/>
          <p:nvPr/>
        </p:nvSpPr>
        <p:spPr>
          <a:xfrm>
            <a:off x="7041300" y="1243450"/>
            <a:ext cx="4790700" cy="45255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222250" lvl="0" marL="457200" rtl="0" algn="l">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Leakage rises gradually from ~10⁻¹⁴ to ~10⁻¹¹ A as the bias increases toward ~2 V, showing typical trap-assisted tunneling through a high-k dielectric.</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A distinct soft-breakdown region appears around ~2.0–2.3 V, where the curve departs from smooth exponential growth and shows accelerated current increase with small irregular jumps.</a:t>
            </a:r>
            <a:endParaRPr sz="1700">
              <a:solidFill>
                <a:schemeClr val="dk1"/>
              </a:solidFill>
              <a:latin typeface="Georgia"/>
              <a:ea typeface="Georgia"/>
              <a:cs typeface="Georgia"/>
              <a:sym typeface="Georgia"/>
            </a:endParaRPr>
          </a:p>
          <a:p>
            <a:pPr indent="-222250" lvl="0" marL="457200" rtl="0" algn="l">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Hard breakdown occurs near ~2.3–2.5 V as the current abruptly transitions to the compliance region, indicating formation of a stable conductive filament.</a:t>
            </a:r>
            <a:endParaRPr sz="1700">
              <a:solidFill>
                <a:schemeClr val="dk1"/>
              </a:solidFill>
              <a:latin typeface="Georgia"/>
              <a:ea typeface="Georgia"/>
              <a:cs typeface="Georgia"/>
              <a:sym typeface="Georg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pic>
        <p:nvPicPr>
          <p:cNvPr id="873" name="Google Shape;873;g3af6a2419cc_0_3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874" name="Google Shape;874;g3af6a2419cc_0_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75" name="Google Shape;875;g3af6a2419cc_0_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876" name="Google Shape;876;g3af6a2419cc_0_36"/>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High-k Dielectric experiment : I-V Sweep (Device 2)</a:t>
            </a:r>
            <a:endParaRPr b="0" i="0" sz="3200" u="none" cap="none" strike="noStrike">
              <a:solidFill>
                <a:schemeClr val="dk1"/>
              </a:solidFill>
              <a:latin typeface="Times New Roman"/>
              <a:ea typeface="Times New Roman"/>
              <a:cs typeface="Times New Roman"/>
              <a:sym typeface="Times New Roman"/>
            </a:endParaRPr>
          </a:p>
        </p:txBody>
      </p:sp>
      <p:cxnSp>
        <p:nvCxnSpPr>
          <p:cNvPr id="877" name="Google Shape;877;g3af6a2419cc_0_36"/>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878" name="Google Shape;878;g3af6a2419cc_0_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79" name="Google Shape;879;g3af6a2419cc_0_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80" name="Google Shape;880;g3af6a2419cc_0_3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881" name="Google Shape;881;g3af6a2419cc_0_3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882" name="Google Shape;882;g3af6a2419cc_0_3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883" name="Google Shape;883;g3af6a2419cc_0_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84" name="Google Shape;884;g3af6a2419cc_0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85" name="Google Shape;885;g3af6a2419cc_0_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86" name="Google Shape;886;g3af6a2419cc_0_3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87" name="Google Shape;887;g3af6a2419cc_0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88" name="Google Shape;888;g3af6a2419cc_0_3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889" name="Google Shape;889;g3af6a2419cc_0_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90" name="Google Shape;890;g3af6a2419cc_0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891" name="Google Shape;891;g3af6a2419cc_0_3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892" name="Google Shape;892;g3af6a2419cc_0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93" name="Google Shape;893;g3af6a2419cc_0_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94" name="Google Shape;894;g3af6a2419cc_0_36"/>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895" name="Google Shape;895;g3af6a2419cc_0_3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896" name="Google Shape;896;g3af6a2419cc_0_3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897" name="Google Shape;897;g3af6a2419cc_0_36" title="Device 2-I-V.png"/>
          <p:cNvPicPr preferRelativeResize="0"/>
          <p:nvPr/>
        </p:nvPicPr>
        <p:blipFill rotWithShape="1">
          <a:blip r:embed="rId10">
            <a:alphaModFix/>
          </a:blip>
          <a:srcRect b="7706" l="0" r="0" t="0"/>
          <a:stretch/>
        </p:blipFill>
        <p:spPr>
          <a:xfrm>
            <a:off x="93516" y="1449488"/>
            <a:ext cx="6872318" cy="4074400"/>
          </a:xfrm>
          <a:prstGeom prst="rect">
            <a:avLst/>
          </a:prstGeom>
          <a:noFill/>
          <a:ln cap="flat" cmpd="sng" w="19050">
            <a:solidFill>
              <a:schemeClr val="dk2"/>
            </a:solidFill>
            <a:prstDash val="solid"/>
            <a:round/>
            <a:headEnd len="sm" w="sm" type="none"/>
            <a:tailEnd len="sm" w="sm" type="none"/>
          </a:ln>
        </p:spPr>
      </p:pic>
      <p:sp>
        <p:nvSpPr>
          <p:cNvPr id="898" name="Google Shape;898;g3af6a2419cc_0_36"/>
          <p:cNvSpPr txBox="1"/>
          <p:nvPr/>
        </p:nvSpPr>
        <p:spPr>
          <a:xfrm>
            <a:off x="7246200" y="1243450"/>
            <a:ext cx="4585800" cy="45255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222250" lvl="0" marL="457200" rtl="0" algn="l">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The leakage path begins in the 10⁻</a:t>
            </a:r>
            <a:r>
              <a:rPr lang="en-US" sz="1700">
                <a:solidFill>
                  <a:schemeClr val="dk1"/>
                </a:solidFill>
                <a:latin typeface="Georgia"/>
                <a:ea typeface="Georgia"/>
                <a:cs typeface="Georgia"/>
                <a:sym typeface="Georgia"/>
              </a:rPr>
              <a:t>¹3</a:t>
            </a:r>
            <a:r>
              <a:rPr lang="en-US" sz="1700">
                <a:solidFill>
                  <a:schemeClr val="dk1"/>
                </a:solidFill>
                <a:latin typeface="Georgia"/>
                <a:ea typeface="Georgia"/>
                <a:cs typeface="Georgia"/>
                <a:sym typeface="Georgia"/>
              </a:rPr>
              <a:t>–10⁻¹² A range, rising smoothly with voltage until ~2.2 V, consistent with a trap-rich dielectric under field stress.</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Soft breakdown develops between ~2.2–2.4 V, where the I–V curve becomes noticeably steeper and exhibits noisy, stepwise increases.</a:t>
            </a:r>
            <a:endParaRPr sz="1700">
              <a:solidFill>
                <a:schemeClr val="dk1"/>
              </a:solidFill>
              <a:latin typeface="Georgia"/>
              <a:ea typeface="Georgia"/>
              <a:cs typeface="Georgia"/>
              <a:sym typeface="Georgia"/>
            </a:endParaRPr>
          </a:p>
          <a:p>
            <a:pPr indent="-222250" lvl="0" marL="457200" rtl="0" algn="l">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Hard breakdown is observed around ~2.5–2.6 V, where the current sharply jumps into the 10⁻⁴–10⁻³ A decade, confirming oxide rupture. </a:t>
            </a:r>
            <a:endParaRPr sz="1700">
              <a:solidFill>
                <a:schemeClr val="dk1"/>
              </a:solidFill>
              <a:latin typeface="Georgia"/>
              <a:ea typeface="Georgia"/>
              <a:cs typeface="Georgia"/>
              <a:sym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id="903" name="Google Shape;903;g3ae9437f066_0_323"/>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904" name="Google Shape;904;g3ae9437f066_0_32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05" name="Google Shape;905;g3ae9437f066_0_32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906" name="Google Shape;906;g3ae9437f066_0_323"/>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High-k Dielectric e</a:t>
            </a:r>
            <a:r>
              <a:rPr lang="en-US" sz="3200">
                <a:solidFill>
                  <a:schemeClr val="dk1"/>
                </a:solidFill>
                <a:latin typeface="Times New Roman"/>
                <a:ea typeface="Times New Roman"/>
                <a:cs typeface="Times New Roman"/>
                <a:sym typeface="Times New Roman"/>
              </a:rPr>
              <a:t>xperiment : I-T Sweep (Device 3)</a:t>
            </a:r>
            <a:endParaRPr b="0" i="0" sz="3200" u="none" cap="none" strike="noStrike">
              <a:solidFill>
                <a:schemeClr val="dk1"/>
              </a:solidFill>
              <a:latin typeface="Times New Roman"/>
              <a:ea typeface="Times New Roman"/>
              <a:cs typeface="Times New Roman"/>
              <a:sym typeface="Times New Roman"/>
            </a:endParaRPr>
          </a:p>
        </p:txBody>
      </p:sp>
      <p:cxnSp>
        <p:nvCxnSpPr>
          <p:cNvPr id="907" name="Google Shape;907;g3ae9437f066_0_323"/>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908" name="Google Shape;908;g3ae9437f066_0_32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09" name="Google Shape;909;g3ae9437f066_0_32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10" name="Google Shape;910;g3ae9437f066_0_32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11" name="Google Shape;911;g3ae9437f066_0_32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12" name="Google Shape;912;g3ae9437f066_0_32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13" name="Google Shape;913;g3ae9437f066_0_32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14" name="Google Shape;914;g3ae9437f066_0_3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15" name="Google Shape;915;g3ae9437f066_0_32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16" name="Google Shape;916;g3ae9437f066_0_32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17" name="Google Shape;917;g3ae9437f066_0_3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18" name="Google Shape;918;g3ae9437f066_0_32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19" name="Google Shape;919;g3ae9437f066_0_32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20" name="Google Shape;920;g3ae9437f066_0_3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21" name="Google Shape;921;g3ae9437f066_0_323"/>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922" name="Google Shape;922;g3ae9437f066_0_3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23" name="Google Shape;923;g3ae9437f066_0_32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24" name="Google Shape;924;g3ae9437f066_0_323"/>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925" name="Google Shape;925;g3ae9437f066_0_32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26" name="Google Shape;926;g3ae9437f066_0_32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27" name="Google Shape;927;g3ae9437f066_0_323" title="Device 1- I-Time @ 2.1V.jpg"/>
          <p:cNvPicPr preferRelativeResize="0"/>
          <p:nvPr/>
        </p:nvPicPr>
        <p:blipFill rotWithShape="1">
          <a:blip r:embed="rId10">
            <a:alphaModFix/>
          </a:blip>
          <a:srcRect b="2698" l="0" r="0" t="925"/>
          <a:stretch/>
        </p:blipFill>
        <p:spPr>
          <a:xfrm>
            <a:off x="665019" y="1337464"/>
            <a:ext cx="6376286" cy="4298451"/>
          </a:xfrm>
          <a:prstGeom prst="rect">
            <a:avLst/>
          </a:prstGeom>
          <a:noFill/>
          <a:ln cap="flat" cmpd="sng" w="19050">
            <a:solidFill>
              <a:schemeClr val="dk2"/>
            </a:solidFill>
            <a:prstDash val="solid"/>
            <a:round/>
            <a:headEnd len="sm" w="sm" type="none"/>
            <a:tailEnd len="sm" w="sm" type="none"/>
          </a:ln>
        </p:spPr>
      </p:pic>
      <p:sp>
        <p:nvSpPr>
          <p:cNvPr id="928" name="Google Shape;928;g3ae9437f066_0_323"/>
          <p:cNvSpPr txBox="1"/>
          <p:nvPr/>
        </p:nvSpPr>
        <p:spPr>
          <a:xfrm>
            <a:off x="7246200" y="1243450"/>
            <a:ext cx="4585800" cy="45255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222250" lvl="0" marL="457200" rtl="0" algn="l">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The current begins in the 10⁻¹¹–10⁻¹⁰ A range, showing fluctuations as the oxide charges traps and settles under the applied field.</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Soft-breakdown behaviour emerges within the first few seconds as small current steps accumulate, reflecting progressive trap creation and partial conduction paths.</a:t>
            </a:r>
            <a:endParaRPr sz="1700">
              <a:solidFill>
                <a:schemeClr val="dk1"/>
              </a:solidFill>
              <a:latin typeface="Georgia"/>
              <a:ea typeface="Georgia"/>
              <a:cs typeface="Georgia"/>
              <a:sym typeface="Georgia"/>
            </a:endParaRPr>
          </a:p>
          <a:p>
            <a:pPr indent="-222250" lvl="0" marL="457200" rtl="0" algn="l">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Hard breakdown occurs when the current suddenly rises into the 10⁻⁵–10⁻⁶ A range and remains pinned there, indicating a stable percolation filament. </a:t>
            </a:r>
            <a:endParaRPr sz="1700">
              <a:solidFill>
                <a:schemeClr val="dk1"/>
              </a:solidFill>
              <a:latin typeface="Georgia"/>
              <a:ea typeface="Georgia"/>
              <a:cs typeface="Georgia"/>
              <a:sym typeface="Georgi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pic>
        <p:nvPicPr>
          <p:cNvPr id="933" name="Google Shape;933;g3af6a2419cc_0_65"/>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934" name="Google Shape;934;g3af6a2419cc_0_6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35" name="Google Shape;935;g3af6a2419cc_0_6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936" name="Google Shape;936;g3af6a2419cc_0_65"/>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High-k Dielectric experiment : I-T Sweep (Device 4)</a:t>
            </a:r>
            <a:endParaRPr b="0" i="0" sz="3200" u="none" cap="none" strike="noStrike">
              <a:solidFill>
                <a:schemeClr val="dk1"/>
              </a:solidFill>
              <a:latin typeface="Times New Roman"/>
              <a:ea typeface="Times New Roman"/>
              <a:cs typeface="Times New Roman"/>
              <a:sym typeface="Times New Roman"/>
            </a:endParaRPr>
          </a:p>
        </p:txBody>
      </p:sp>
      <p:cxnSp>
        <p:nvCxnSpPr>
          <p:cNvPr id="937" name="Google Shape;937;g3af6a2419cc_0_65"/>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938" name="Google Shape;938;g3af6a2419cc_0_6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39" name="Google Shape;939;g3af6a2419cc_0_6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40" name="Google Shape;940;g3af6a2419cc_0_6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41" name="Google Shape;941;g3af6a2419cc_0_6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42" name="Google Shape;942;g3af6a2419cc_0_6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43" name="Google Shape;943;g3af6a2419cc_0_6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44" name="Google Shape;944;g3af6a2419cc_0_6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45" name="Google Shape;945;g3af6a2419cc_0_6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46" name="Google Shape;946;g3af6a2419cc_0_6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47" name="Google Shape;947;g3af6a2419cc_0_6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48" name="Google Shape;948;g3af6a2419cc_0_6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49" name="Google Shape;949;g3af6a2419cc_0_6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50" name="Google Shape;950;g3af6a2419cc_0_6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51" name="Google Shape;951;g3af6a2419cc_0_65"/>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952" name="Google Shape;952;g3af6a2419cc_0_6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53" name="Google Shape;953;g3af6a2419cc_0_6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54" name="Google Shape;954;g3af6a2419cc_0_65"/>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955" name="Google Shape;955;g3af6a2419cc_0_6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56" name="Google Shape;956;g3af6a2419cc_0_6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57" name="Google Shape;957;g3af6a2419cc_0_65" title="Device 2- I-Time @ 2.1V.jpg"/>
          <p:cNvPicPr preferRelativeResize="0"/>
          <p:nvPr/>
        </p:nvPicPr>
        <p:blipFill rotWithShape="1">
          <a:blip r:embed="rId10">
            <a:alphaModFix/>
          </a:blip>
          <a:srcRect b="414" l="0" r="0" t="927"/>
          <a:stretch/>
        </p:blipFill>
        <p:spPr>
          <a:xfrm>
            <a:off x="593025" y="1203062"/>
            <a:ext cx="5981099" cy="4489977"/>
          </a:xfrm>
          <a:prstGeom prst="rect">
            <a:avLst/>
          </a:prstGeom>
          <a:noFill/>
          <a:ln cap="flat" cmpd="sng" w="19050">
            <a:solidFill>
              <a:schemeClr val="dk2"/>
            </a:solidFill>
            <a:prstDash val="solid"/>
            <a:round/>
            <a:headEnd len="sm" w="sm" type="none"/>
            <a:tailEnd len="sm" w="sm" type="none"/>
          </a:ln>
        </p:spPr>
      </p:pic>
      <p:sp>
        <p:nvSpPr>
          <p:cNvPr id="958" name="Google Shape;958;g3af6a2419cc_0_65"/>
          <p:cNvSpPr txBox="1"/>
          <p:nvPr/>
        </p:nvSpPr>
        <p:spPr>
          <a:xfrm>
            <a:off x="7246200" y="1243450"/>
            <a:ext cx="4585800" cy="45255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222250" lvl="0" marL="457200" rtl="0" algn="l">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The stress current begins at ~10⁻⁹–10⁻⁸ A with strong noise, indicating a heavily stressed oxide with active trap generation even at early times.</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A prolonged soft-breakdown regime is observed, where the current displays repeated upward steps and high-frequency fluctuations as trap networks evolve.</a:t>
            </a:r>
            <a:endParaRPr sz="1700">
              <a:solidFill>
                <a:schemeClr val="dk1"/>
              </a:solidFill>
              <a:latin typeface="Georgia"/>
              <a:ea typeface="Georgia"/>
              <a:cs typeface="Georgia"/>
              <a:sym typeface="Georgia"/>
            </a:endParaRPr>
          </a:p>
          <a:p>
            <a:pPr indent="-222250" lvl="0" marL="457200" rtl="0" algn="l">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Hard breakdown is marked by a sharp current surge to ~10⁻⁶ A followed by a stable plateau, confirming irreversible dielectric rupture under elevated field. </a:t>
            </a:r>
            <a:endParaRPr sz="1700">
              <a:solidFill>
                <a:schemeClr val="dk1"/>
              </a:solidFill>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g3a3ec9b3325_1_353"/>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964" name="Google Shape;964;g3a3ec9b3325_1_35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65" name="Google Shape;965;g3a3ec9b3325_1_35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966" name="Google Shape;966;g3a3ec9b3325_1_353"/>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lang="en-US" sz="3200">
                <a:solidFill>
                  <a:schemeClr val="dk1"/>
                </a:solidFill>
                <a:latin typeface="Times New Roman"/>
                <a:ea typeface="Times New Roman"/>
                <a:cs typeface="Times New Roman"/>
                <a:sym typeface="Times New Roman"/>
              </a:rPr>
              <a:t>High-K : </a:t>
            </a:r>
            <a:r>
              <a:rPr lang="en-US" sz="3200">
                <a:solidFill>
                  <a:schemeClr val="dk1"/>
                </a:solidFill>
                <a:latin typeface="Times New Roman"/>
                <a:ea typeface="Times New Roman"/>
                <a:cs typeface="Times New Roman"/>
                <a:sym typeface="Times New Roman"/>
              </a:rPr>
              <a:t>Capacitive Storage Comparison</a:t>
            </a:r>
            <a:endParaRPr b="1" i="0" sz="2000" u="none" cap="none" strike="noStrike">
              <a:solidFill>
                <a:schemeClr val="dk1"/>
              </a:solidFill>
              <a:latin typeface="Calibri"/>
              <a:ea typeface="Calibri"/>
              <a:cs typeface="Calibri"/>
              <a:sym typeface="Calibri"/>
            </a:endParaRPr>
          </a:p>
        </p:txBody>
      </p:sp>
      <p:cxnSp>
        <p:nvCxnSpPr>
          <p:cNvPr id="967" name="Google Shape;967;g3a3ec9b3325_1_353"/>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968" name="Google Shape;968;g3a3ec9b3325_1_35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69" name="Google Shape;969;g3a3ec9b3325_1_35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70" name="Google Shape;970;g3a3ec9b3325_1_35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71" name="Google Shape;971;g3a3ec9b3325_1_35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72" name="Google Shape;972;g3a3ec9b3325_1_35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73" name="Google Shape;973;g3a3ec9b3325_1_353"/>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974" name="Google Shape;974;g3a3ec9b3325_1_353"/>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975" name="Google Shape;975;g3a3ec9b3325_1_353"/>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76" name="Google Shape;976;g3a3ec9b3325_1_35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77" name="Google Shape;977;g3a3ec9b3325_1_35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78" name="Google Shape;978;g3a3ec9b3325_1_35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79" name="Google Shape;979;g3a3ec9b3325_1_353"/>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80" name="Google Shape;980;g3a3ec9b3325_1_35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81" name="Google Shape;981;g3a3ec9b3325_1_353"/>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982" name="Google Shape;982;g3a3ec9b3325_1_35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83" name="Google Shape;983;g3a3ec9b3325_1_35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984" name="Google Shape;984;g3a3ec9b3325_1_353"/>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985" name="Google Shape;985;g3a3ec9b3325_1_35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86" name="Google Shape;986;g3a3ec9b3325_1_35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987" name="Google Shape;987;g3a3ec9b3325_1_353"/>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988" name="Google Shape;988;g3a3ec9b3325_1_353"/>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989" name="Google Shape;989;g3a3ec9b3325_1_353"/>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990" name="Google Shape;990;g3a3ec9b3325_1_353"/>
          <p:cNvSpPr txBox="1"/>
          <p:nvPr/>
        </p:nvSpPr>
        <p:spPr>
          <a:xfrm>
            <a:off x="941700" y="1478400"/>
            <a:ext cx="10308600" cy="39393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222250" lvl="0" marL="457200" rtl="0" algn="l">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Al₂O₃ provides a significantly higher dielectric constant, </a:t>
            </a:r>
            <a:r>
              <a:rPr b="1" lang="en-US" sz="1700">
                <a:solidFill>
                  <a:schemeClr val="dk1"/>
                </a:solidFill>
                <a:latin typeface="Georgia"/>
                <a:ea typeface="Georgia"/>
                <a:cs typeface="Georgia"/>
                <a:sym typeface="Georgia"/>
              </a:rPr>
              <a:t>increasing C (ox)</a:t>
            </a:r>
            <a:r>
              <a:rPr lang="en-US" sz="1700">
                <a:solidFill>
                  <a:schemeClr val="dk1"/>
                </a:solidFill>
                <a:latin typeface="Georgia"/>
                <a:ea typeface="Georgia"/>
                <a:cs typeface="Georgia"/>
                <a:sym typeface="Georgia"/>
              </a:rPr>
              <a:t> relative to SiO₂ for identical thickness.</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When scaled to the same EOT, Al₂O₃ can be deposited with a larger physical thickness, but its </a:t>
            </a:r>
            <a:r>
              <a:rPr b="1" lang="en-US" sz="1700">
                <a:solidFill>
                  <a:schemeClr val="dk1"/>
                </a:solidFill>
                <a:latin typeface="Georgia"/>
                <a:ea typeface="Georgia"/>
                <a:cs typeface="Georgia"/>
                <a:sym typeface="Georgia"/>
              </a:rPr>
              <a:t>leakage behaviour is still dominated by abundant trap-assisted conduction</a:t>
            </a:r>
            <a:r>
              <a:rPr lang="en-US" sz="1700">
                <a:solidFill>
                  <a:schemeClr val="dk1"/>
                </a:solidFill>
                <a:latin typeface="Georgia"/>
                <a:ea typeface="Georgia"/>
                <a:cs typeface="Georgia"/>
                <a:sym typeface="Georgia"/>
              </a:rPr>
              <a:t> rather than geometric scaling alone.</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Experimental I–V curves show </a:t>
            </a:r>
            <a:r>
              <a:rPr b="1" lang="en-US" sz="1700">
                <a:solidFill>
                  <a:schemeClr val="dk1"/>
                </a:solidFill>
                <a:latin typeface="Georgia"/>
                <a:ea typeface="Georgia"/>
                <a:cs typeface="Georgia"/>
                <a:sym typeface="Georgia"/>
              </a:rPr>
              <a:t>substantially higher leakage currents</a:t>
            </a:r>
            <a:r>
              <a:rPr lang="en-US" sz="1700">
                <a:solidFill>
                  <a:schemeClr val="dk1"/>
                </a:solidFill>
                <a:latin typeface="Georgia"/>
                <a:ea typeface="Georgia"/>
                <a:cs typeface="Georgia"/>
                <a:sym typeface="Georgia"/>
              </a:rPr>
              <a:t> and a breakdown onset around 2–3 V, revealing a considerably lower breakdown field compared to SiO₂.</a:t>
            </a:r>
            <a:endParaRPr sz="1700">
              <a:solidFill>
                <a:schemeClr val="dk1"/>
              </a:solidFill>
              <a:latin typeface="Georgia"/>
              <a:ea typeface="Georgia"/>
              <a:cs typeface="Georgia"/>
              <a:sym typeface="Georgia"/>
            </a:endParaRPr>
          </a:p>
          <a:p>
            <a:pPr indent="-222250" lvl="0" marL="457200" rtl="0" algn="l">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Time-dependent stress measurements reveal stepwise current growth and abrupt current jumps, characteristic of soft → hard breakdown transition in trap-rich high-k oxides.</a:t>
            </a:r>
            <a:endParaRPr sz="1700">
              <a:solidFill>
                <a:schemeClr val="dk1"/>
              </a:solidFill>
              <a:latin typeface="Georgia"/>
              <a:ea typeface="Georgia"/>
              <a:cs typeface="Georgia"/>
              <a:sym typeface="Georgia"/>
            </a:endParaRPr>
          </a:p>
          <a:p>
            <a:pPr indent="-222250" lvl="0" marL="457200" rtl="0" algn="l">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Overall, the data highlights the classical trade-off: higher capacitance density but weaker reliability for Al₂O₃, driven by its higher defect density and lower intrinsic breakdown strength.</a:t>
            </a:r>
            <a:endParaRPr sz="1700">
              <a:solidFill>
                <a:schemeClr val="dk1"/>
              </a:solidFill>
              <a:latin typeface="Georgia"/>
              <a:ea typeface="Georgia"/>
              <a:cs typeface="Georgia"/>
              <a:sym typeface="Georg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graphicFrame>
        <p:nvGraphicFramePr>
          <p:cNvPr id="995" name="Google Shape;995;g3a3ec9b3325_1_386"/>
          <p:cNvGraphicFramePr/>
          <p:nvPr/>
        </p:nvGraphicFramePr>
        <p:xfrm>
          <a:off x="156338" y="856838"/>
          <a:ext cx="3000000" cy="3000000"/>
        </p:xfrm>
        <a:graphic>
          <a:graphicData uri="http://schemas.openxmlformats.org/drawingml/2006/table">
            <a:tbl>
              <a:tblPr>
                <a:noFill/>
                <a:tableStyleId>{DCACC692-DAFA-4698-97F5-EBC0EA8BECD6}</a:tableStyleId>
              </a:tblPr>
              <a:tblGrid>
                <a:gridCol w="1650125"/>
                <a:gridCol w="5078850"/>
                <a:gridCol w="5151600"/>
              </a:tblGrid>
              <a:tr h="405925">
                <a:tc>
                  <a:txBody>
                    <a:bodyPr/>
                    <a:lstStyle/>
                    <a:p>
                      <a:pPr indent="0" lvl="0" marL="0" rtl="0" algn="l">
                        <a:spcBef>
                          <a:spcPts val="0"/>
                        </a:spcBef>
                        <a:spcAft>
                          <a:spcPts val="0"/>
                        </a:spcAft>
                        <a:buNone/>
                      </a:pPr>
                      <a:r>
                        <a:rPr b="1" lang="en-US">
                          <a:latin typeface="Georgia"/>
                          <a:ea typeface="Georgia"/>
                          <a:cs typeface="Georgia"/>
                          <a:sym typeface="Georgia"/>
                        </a:rPr>
                        <a:t>Categories</a:t>
                      </a:r>
                      <a:endParaRPr b="1">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latin typeface="Georgia"/>
                          <a:ea typeface="Georgia"/>
                          <a:cs typeface="Georgia"/>
                          <a:sym typeface="Georgia"/>
                        </a:rPr>
                        <a:t>SiO2 dielectric</a:t>
                      </a:r>
                      <a:endParaRPr b="1">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latin typeface="Georgia"/>
                          <a:ea typeface="Georgia"/>
                          <a:cs typeface="Georgia"/>
                          <a:sym typeface="Georgia"/>
                        </a:rPr>
                        <a:t>Al2O3 dielectric</a:t>
                      </a:r>
                      <a:endParaRPr b="1">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97200">
                <a:tc>
                  <a:txBody>
                    <a:bodyPr/>
                    <a:lstStyle/>
                    <a:p>
                      <a:pPr indent="0" lvl="0" marL="0" rtl="0" algn="l">
                        <a:spcBef>
                          <a:spcPts val="0"/>
                        </a:spcBef>
                        <a:spcAft>
                          <a:spcPts val="0"/>
                        </a:spcAft>
                        <a:buNone/>
                      </a:pPr>
                      <a:r>
                        <a:rPr lang="en-US">
                          <a:latin typeface="Georgia"/>
                          <a:ea typeface="Georgia"/>
                          <a:cs typeface="Georgia"/>
                          <a:sym typeface="Georgia"/>
                        </a:rPr>
                        <a:t>Leakage Behaviour</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latin typeface="Georgia"/>
                          <a:ea typeface="Georgia"/>
                          <a:cs typeface="Georgia"/>
                          <a:sym typeface="Georgia"/>
                        </a:rPr>
                        <a:t>Very low leakage</a:t>
                      </a:r>
                      <a:r>
                        <a:rPr lang="en-US">
                          <a:latin typeface="Georgia"/>
                          <a:ea typeface="Georgia"/>
                          <a:cs typeface="Georgia"/>
                          <a:sym typeface="Georgia"/>
                        </a:rPr>
                        <a:t> at low and moderate fields (10⁻¹³–10⁻¹¹ A range). Leakage increases smoothly until the soft-breakdown region near high voltage</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US">
                          <a:solidFill>
                            <a:schemeClr val="dk1"/>
                          </a:solidFill>
                          <a:latin typeface="Georgia"/>
                          <a:ea typeface="Georgia"/>
                          <a:cs typeface="Georgia"/>
                          <a:sym typeface="Georgia"/>
                        </a:rPr>
                        <a:t>Higher leakage even at low fields</a:t>
                      </a:r>
                      <a:r>
                        <a:rPr lang="en-US">
                          <a:solidFill>
                            <a:schemeClr val="dk1"/>
                          </a:solidFill>
                          <a:latin typeface="Georgia"/>
                          <a:ea typeface="Georgia"/>
                          <a:cs typeface="Georgia"/>
                          <a:sym typeface="Georgia"/>
                        </a:rPr>
                        <a:t> due to </a:t>
                      </a:r>
                      <a:r>
                        <a:rPr b="1" lang="en-US">
                          <a:solidFill>
                            <a:schemeClr val="dk1"/>
                          </a:solidFill>
                          <a:latin typeface="Georgia"/>
                          <a:ea typeface="Georgia"/>
                          <a:cs typeface="Georgia"/>
                          <a:sym typeface="Georgia"/>
                        </a:rPr>
                        <a:t>abundant trap-assisted conduction pathways</a:t>
                      </a:r>
                      <a:r>
                        <a:rPr lang="en-US">
                          <a:solidFill>
                            <a:schemeClr val="dk1"/>
                          </a:solidFill>
                          <a:latin typeface="Georgia"/>
                          <a:ea typeface="Georgia"/>
                          <a:cs typeface="Georgia"/>
                          <a:sym typeface="Georgia"/>
                        </a:rPr>
                        <a:t>. Leakage rises rapidly with gate bias, showing early departure from ideal insulating behaviour.</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791900">
                <a:tc>
                  <a:txBody>
                    <a:bodyPr/>
                    <a:lstStyle/>
                    <a:p>
                      <a:pPr indent="0" lvl="0" marL="0" rtl="0" algn="l">
                        <a:spcBef>
                          <a:spcPts val="0"/>
                        </a:spcBef>
                        <a:spcAft>
                          <a:spcPts val="0"/>
                        </a:spcAft>
                        <a:buNone/>
                      </a:pPr>
                      <a:r>
                        <a:rPr lang="en-US">
                          <a:latin typeface="Georgia"/>
                          <a:ea typeface="Georgia"/>
                          <a:cs typeface="Georgia"/>
                          <a:sym typeface="Georgia"/>
                        </a:rPr>
                        <a:t>Breakdown Voltage </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chemeClr val="dk1"/>
                          </a:solidFill>
                          <a:latin typeface="Georgia"/>
                          <a:ea typeface="Georgia"/>
                          <a:cs typeface="Georgia"/>
                          <a:sym typeface="Georgia"/>
                        </a:rPr>
                        <a:t>Breakdown </a:t>
                      </a:r>
                      <a:r>
                        <a:rPr lang="en-US">
                          <a:solidFill>
                            <a:schemeClr val="dk1"/>
                          </a:solidFill>
                          <a:latin typeface="Georgia"/>
                          <a:ea typeface="Georgia"/>
                          <a:cs typeface="Georgia"/>
                          <a:sym typeface="Georgia"/>
                        </a:rPr>
                        <a:t>consistently occurs near </a:t>
                      </a:r>
                      <a:r>
                        <a:rPr b="1" lang="en-US">
                          <a:solidFill>
                            <a:schemeClr val="dk1"/>
                          </a:solidFill>
                          <a:latin typeface="Georgia"/>
                          <a:ea typeface="Georgia"/>
                          <a:cs typeface="Georgia"/>
                          <a:sym typeface="Georgia"/>
                        </a:rPr>
                        <a:t>~9–10 V</a:t>
                      </a:r>
                      <a:r>
                        <a:rPr lang="en-US">
                          <a:solidFill>
                            <a:schemeClr val="dk1"/>
                          </a:solidFill>
                          <a:latin typeface="Georgia"/>
                          <a:ea typeface="Georgia"/>
                          <a:cs typeface="Georgia"/>
                          <a:sym typeface="Georgia"/>
                        </a:rPr>
                        <a:t>, corresponding to an effective field of ~9 MV/cm for the measured oxide thickness.  </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chemeClr val="dk1"/>
                          </a:solidFill>
                          <a:latin typeface="Georgia"/>
                          <a:ea typeface="Georgia"/>
                          <a:cs typeface="Georgia"/>
                          <a:sym typeface="Georgia"/>
                        </a:rPr>
                        <a:t>Breakdown</a:t>
                      </a:r>
                      <a:r>
                        <a:rPr lang="en-US">
                          <a:solidFill>
                            <a:schemeClr val="dk1"/>
                          </a:solidFill>
                          <a:latin typeface="Georgia"/>
                          <a:ea typeface="Georgia"/>
                          <a:cs typeface="Georgia"/>
                          <a:sym typeface="Georgia"/>
                        </a:rPr>
                        <a:t> onset appears at </a:t>
                      </a:r>
                      <a:r>
                        <a:rPr b="1" lang="en-US">
                          <a:solidFill>
                            <a:schemeClr val="dk1"/>
                          </a:solidFill>
                          <a:latin typeface="Georgia"/>
                          <a:ea typeface="Georgia"/>
                          <a:cs typeface="Georgia"/>
                          <a:sym typeface="Georgia"/>
                        </a:rPr>
                        <a:t>~2.5–3 V</a:t>
                      </a:r>
                      <a:r>
                        <a:rPr lang="en-US">
                          <a:solidFill>
                            <a:schemeClr val="dk1"/>
                          </a:solidFill>
                          <a:latin typeface="Georgia"/>
                          <a:ea typeface="Georgia"/>
                          <a:cs typeface="Georgia"/>
                          <a:sym typeface="Georgia"/>
                        </a:rPr>
                        <a:t>, reflecting a significantly lower breakdown field, typical of defect-rich high-k materials.</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97200">
                <a:tc>
                  <a:txBody>
                    <a:bodyPr/>
                    <a:lstStyle/>
                    <a:p>
                      <a:pPr indent="0" lvl="0" marL="0" rtl="0" algn="l">
                        <a:spcBef>
                          <a:spcPts val="0"/>
                        </a:spcBef>
                        <a:spcAft>
                          <a:spcPts val="0"/>
                        </a:spcAft>
                        <a:buNone/>
                      </a:pPr>
                      <a:r>
                        <a:rPr lang="en-US">
                          <a:latin typeface="Georgia"/>
                          <a:ea typeface="Georgia"/>
                          <a:cs typeface="Georgia"/>
                          <a:sym typeface="Georgia"/>
                        </a:rPr>
                        <a:t>SBD</a:t>
                      </a:r>
                      <a:r>
                        <a:rPr lang="en-US">
                          <a:latin typeface="Georgia"/>
                          <a:ea typeface="Georgia"/>
                          <a:cs typeface="Georgia"/>
                          <a:sym typeface="Georgia"/>
                        </a:rPr>
                        <a:t> and </a:t>
                      </a:r>
                      <a:r>
                        <a:rPr lang="en-US">
                          <a:latin typeface="Georgia"/>
                          <a:ea typeface="Georgia"/>
                          <a:cs typeface="Georgia"/>
                          <a:sym typeface="Georgia"/>
                        </a:rPr>
                        <a:t>HBD Signatures</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Georgia"/>
                          <a:ea typeface="Georgia"/>
                          <a:cs typeface="Georgia"/>
                          <a:sym typeface="Georgia"/>
                        </a:rPr>
                        <a:t>Clear </a:t>
                      </a:r>
                      <a:r>
                        <a:rPr b="1" lang="en-US">
                          <a:solidFill>
                            <a:schemeClr val="dk1"/>
                          </a:solidFill>
                          <a:latin typeface="Georgia"/>
                          <a:ea typeface="Georgia"/>
                          <a:cs typeface="Georgia"/>
                          <a:sym typeface="Georgia"/>
                        </a:rPr>
                        <a:t>soft-breakdown</a:t>
                      </a:r>
                      <a:r>
                        <a:rPr lang="en-US">
                          <a:solidFill>
                            <a:schemeClr val="dk1"/>
                          </a:solidFill>
                          <a:latin typeface="Georgia"/>
                          <a:ea typeface="Georgia"/>
                          <a:cs typeface="Georgia"/>
                          <a:sym typeface="Georgia"/>
                        </a:rPr>
                        <a:t> onset near </a:t>
                      </a:r>
                      <a:r>
                        <a:rPr b="1" lang="en-US">
                          <a:solidFill>
                            <a:schemeClr val="dk1"/>
                          </a:solidFill>
                          <a:latin typeface="Georgia"/>
                          <a:ea typeface="Georgia"/>
                          <a:cs typeface="Georgia"/>
                          <a:sym typeface="Georgia"/>
                        </a:rPr>
                        <a:t>~7–8 V</a:t>
                      </a:r>
                      <a:r>
                        <a:rPr lang="en-US">
                          <a:solidFill>
                            <a:schemeClr val="dk1"/>
                          </a:solidFill>
                          <a:latin typeface="Georgia"/>
                          <a:ea typeface="Georgia"/>
                          <a:cs typeface="Georgia"/>
                          <a:sym typeface="Georgia"/>
                        </a:rPr>
                        <a:t>. Fluctuations remain moderate until abrupt hard breakdown at the compliance limit. Post-BD leakage stabilizes at a high but controlled level.</a:t>
                      </a:r>
                      <a:endParaRPr>
                        <a:solidFill>
                          <a:schemeClr val="dk1"/>
                        </a:solidFill>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Georgia"/>
                          <a:ea typeface="Georgia"/>
                          <a:cs typeface="Georgia"/>
                          <a:sym typeface="Georgia"/>
                        </a:rPr>
                        <a:t>Strong SBD signatures (</a:t>
                      </a:r>
                      <a:r>
                        <a:rPr b="1" lang="en-US">
                          <a:solidFill>
                            <a:schemeClr val="dk1"/>
                          </a:solidFill>
                          <a:latin typeface="Georgia"/>
                          <a:ea typeface="Georgia"/>
                          <a:cs typeface="Georgia"/>
                          <a:sym typeface="Georgia"/>
                        </a:rPr>
                        <a:t>SBD @ 2.0-2.3 approx</a:t>
                      </a:r>
                      <a:r>
                        <a:rPr lang="en-US">
                          <a:solidFill>
                            <a:schemeClr val="dk1"/>
                          </a:solidFill>
                          <a:latin typeface="Georgia"/>
                          <a:ea typeface="Georgia"/>
                          <a:cs typeface="Georgia"/>
                          <a:sym typeface="Georgia"/>
                        </a:rPr>
                        <a:t>) with pronounced stepwise current jumps even under moderate stress. Hard breakdown produces a sustained </a:t>
                      </a:r>
                      <a:r>
                        <a:rPr b="1" lang="en-US">
                          <a:solidFill>
                            <a:schemeClr val="dk1"/>
                          </a:solidFill>
                          <a:latin typeface="Georgia"/>
                          <a:ea typeface="Georgia"/>
                          <a:cs typeface="Georgia"/>
                          <a:sym typeface="Georgia"/>
                        </a:rPr>
                        <a:t>high-current plateau</a:t>
                      </a:r>
                      <a:r>
                        <a:rPr lang="en-US">
                          <a:solidFill>
                            <a:schemeClr val="dk1"/>
                          </a:solidFill>
                          <a:latin typeface="Georgia"/>
                          <a:ea typeface="Georgia"/>
                          <a:cs typeface="Georgia"/>
                          <a:sym typeface="Georgia"/>
                        </a:rPr>
                        <a:t>, indicating </a:t>
                      </a:r>
                      <a:r>
                        <a:rPr b="1" lang="en-US">
                          <a:solidFill>
                            <a:schemeClr val="dk1"/>
                          </a:solidFill>
                          <a:latin typeface="Georgia"/>
                          <a:ea typeface="Georgia"/>
                          <a:cs typeface="Georgia"/>
                          <a:sym typeface="Georgia"/>
                        </a:rPr>
                        <a:t>stable filament formation</a:t>
                      </a:r>
                      <a:r>
                        <a:rPr lang="en-US">
                          <a:solidFill>
                            <a:schemeClr val="dk1"/>
                          </a:solidFill>
                          <a:latin typeface="Georgia"/>
                          <a:ea typeface="Georgia"/>
                          <a:cs typeface="Georgia"/>
                          <a:sym typeface="Georgia"/>
                        </a:rPr>
                        <a:t>.</a:t>
                      </a:r>
                      <a:endParaRPr>
                        <a:solidFill>
                          <a:schemeClr val="dk1"/>
                        </a:solidFill>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60050">
                <a:tc>
                  <a:txBody>
                    <a:bodyPr/>
                    <a:lstStyle/>
                    <a:p>
                      <a:pPr indent="0" lvl="0" marL="0" rtl="0" algn="l">
                        <a:spcBef>
                          <a:spcPts val="0"/>
                        </a:spcBef>
                        <a:spcAft>
                          <a:spcPts val="0"/>
                        </a:spcAft>
                        <a:buNone/>
                      </a:pPr>
                      <a:r>
                        <a:rPr lang="en-US">
                          <a:latin typeface="Georgia"/>
                          <a:ea typeface="Georgia"/>
                          <a:cs typeface="Georgia"/>
                          <a:sym typeface="Georgia"/>
                        </a:rPr>
                        <a:t>Defect Behaviour</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Georgia"/>
                          <a:ea typeface="Georgia"/>
                          <a:cs typeface="Georgia"/>
                          <a:sym typeface="Georgia"/>
                        </a:rPr>
                        <a:t>Relatively low intrinsic defect density; breakdown driven primarily by field-induced trap generation. Slower percolation path formation, reflected in delayed soft breakdown.  </a:t>
                      </a:r>
                      <a:endParaRPr>
                        <a:solidFill>
                          <a:schemeClr val="dk1"/>
                        </a:solidFill>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Georgia"/>
                          <a:ea typeface="Georgia"/>
                          <a:cs typeface="Georgia"/>
                          <a:sym typeface="Georgia"/>
                        </a:rPr>
                        <a:t>High density of oxygen vacancies and deep traps results in early trap-assisted tunneling. Faster percolation and filament formation under stress.</a:t>
                      </a:r>
                      <a:endParaRPr>
                        <a:solidFill>
                          <a:schemeClr val="dk1"/>
                        </a:solidFill>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60050">
                <a:tc>
                  <a:txBody>
                    <a:bodyPr/>
                    <a:lstStyle/>
                    <a:p>
                      <a:pPr indent="0" lvl="0" marL="0" rtl="0" algn="l">
                        <a:spcBef>
                          <a:spcPts val="0"/>
                        </a:spcBef>
                        <a:spcAft>
                          <a:spcPts val="0"/>
                        </a:spcAft>
                        <a:buNone/>
                      </a:pPr>
                      <a:r>
                        <a:rPr lang="en-US">
                          <a:latin typeface="Georgia"/>
                          <a:ea typeface="Georgia"/>
                          <a:cs typeface="Georgia"/>
                          <a:sym typeface="Georgia"/>
                        </a:rPr>
                        <a:t>Reliability Implications</a:t>
                      </a:r>
                      <a:endParaRPr>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latin typeface="Georgia"/>
                          <a:ea typeface="Georgia"/>
                          <a:cs typeface="Georgia"/>
                          <a:sym typeface="Georgia"/>
                        </a:rPr>
                        <a:t>Exhibits classic, predictable breakdown characteristics with strong field endurance. Serves as a robust reference oxide for benchmarking dielectric reliability.</a:t>
                      </a:r>
                      <a:endParaRPr>
                        <a:solidFill>
                          <a:schemeClr val="dk1"/>
                        </a:solidFill>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latin typeface="Georgia"/>
                          <a:ea typeface="Georgia"/>
                          <a:cs typeface="Georgia"/>
                          <a:sym typeface="Georgia"/>
                        </a:rPr>
                        <a:t>Higher capacitance density but significantly reduced reliability under electrical stress. Performance dominated by defect chemistry rather than geometric scaling benefits.</a:t>
                      </a:r>
                      <a:endParaRPr>
                        <a:solidFill>
                          <a:schemeClr val="dk1"/>
                        </a:solidFill>
                        <a:latin typeface="Georgia"/>
                        <a:ea typeface="Georgia"/>
                        <a:cs typeface="Georgia"/>
                        <a:sym typeface="Georgia"/>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pic>
        <p:nvPicPr>
          <p:cNvPr id="996" name="Google Shape;996;g3a3ec9b3325_1_38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997" name="Google Shape;997;g3a3ec9b3325_1_38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998" name="Google Shape;998;g3a3ec9b3325_1_38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999" name="Google Shape;999;g3a3ec9b3325_1_386"/>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lang="en-US" sz="3200">
                <a:solidFill>
                  <a:schemeClr val="dk1"/>
                </a:solidFill>
                <a:latin typeface="Times New Roman"/>
                <a:ea typeface="Times New Roman"/>
                <a:cs typeface="Times New Roman"/>
                <a:sym typeface="Times New Roman"/>
              </a:rPr>
              <a:t>High-K : KEY DIFFERENCES from plots</a:t>
            </a:r>
            <a:endParaRPr b="1" i="0" sz="2000" u="none" cap="none" strike="noStrike">
              <a:solidFill>
                <a:schemeClr val="dk1"/>
              </a:solidFill>
              <a:latin typeface="Calibri"/>
              <a:ea typeface="Calibri"/>
              <a:cs typeface="Calibri"/>
              <a:sym typeface="Calibri"/>
            </a:endParaRPr>
          </a:p>
        </p:txBody>
      </p:sp>
      <p:cxnSp>
        <p:nvCxnSpPr>
          <p:cNvPr id="1000" name="Google Shape;1000;g3a3ec9b3325_1_386"/>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001" name="Google Shape;1001;g3a3ec9b3325_1_38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02" name="Google Shape;1002;g3a3ec9b3325_1_38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3" name="Google Shape;1003;g3a3ec9b3325_1_38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04" name="Google Shape;1004;g3a3ec9b3325_1_38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05" name="Google Shape;1005;g3a3ec9b3325_1_38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6" name="Google Shape;1006;g3a3ec9b3325_1_38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07" name="Google Shape;1007;g3a3ec9b3325_1_38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08" name="Google Shape;1008;g3a3ec9b3325_1_38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09" name="Google Shape;1009;g3a3ec9b3325_1_38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0" name="Google Shape;1010;g3a3ec9b3325_1_38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11" name="Google Shape;1011;g3a3ec9b3325_1_38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12" name="Google Shape;1012;g3a3ec9b3325_1_38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3" name="Google Shape;1013;g3a3ec9b3325_1_38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14" name="Google Shape;1014;g3a3ec9b3325_1_38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15" name="Google Shape;1015;g3a3ec9b3325_1_38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16" name="Google Shape;1016;g3a3ec9b3325_1_38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17" name="Google Shape;1017;g3a3ec9b3325_1_38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018" name="Google Shape;1018;g3a3ec9b3325_1_38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19" name="Google Shape;1019;g3a3ec9b3325_1_38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20" name="Google Shape;1020;g3a3ec9b3325_1_386"/>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021" name="Google Shape;1021;g3a3ec9b3325_1_38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22" name="Google Shape;1022;g3a3ec9b3325_1_38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pic>
        <p:nvPicPr>
          <p:cNvPr id="1027" name="Google Shape;1027;g39a284b7f17_11_35"/>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028" name="Google Shape;1028;g39a284b7f17_11_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29" name="Google Shape;1029;g39a284b7f17_11_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030" name="Google Shape;1030;g39a284b7f17_11_35"/>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031" name="Google Shape;1031;g39a284b7f17_11_35"/>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032" name="Google Shape;1032;g39a284b7f17_11_3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33" name="Google Shape;1033;g39a284b7f17_11_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34" name="Google Shape;1034;g39a284b7f17_11_35"/>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35" name="Google Shape;1035;g39a284b7f17_11_35"/>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36" name="Google Shape;1036;g39a284b7f17_11_35"/>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37" name="Google Shape;1037;g39a284b7f17_11_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38" name="Google Shape;1038;g39a284b7f17_11_35"/>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1039" name="Google Shape;1039;g39a284b7f17_11_3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40" name="Google Shape;1040;g39a284b7f17_11_35"/>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1" name="Google Shape;1041;g39a284b7f17_11_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42" name="Google Shape;1042;g39a284b7f17_11_35"/>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43" name="Google Shape;1043;g39a284b7f17_11_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4" name="Google Shape;1044;g39a284b7f17_11_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45" name="Google Shape;1045;g39a284b7f17_11_35"/>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046" name="Google Shape;1046;g39a284b7f17_11_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47" name="Google Shape;1047;g39a284b7f17_11_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48" name="Google Shape;1048;g39a284b7f17_11_35"/>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049" name="Google Shape;1049;g39a284b7f17_11_35"/>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50" name="Google Shape;1050;g39a284b7f17_11_35"/>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1051" name="Google Shape;1051;g39a284b7f17_11_35"/>
          <p:cNvSpPr txBox="1"/>
          <p:nvPr/>
        </p:nvSpPr>
        <p:spPr>
          <a:xfrm>
            <a:off x="265800" y="1660150"/>
            <a:ext cx="11603400" cy="2904300"/>
          </a:xfrm>
          <a:prstGeom prst="rect">
            <a:avLst/>
          </a:prstGeom>
          <a:noFill/>
          <a:ln>
            <a:noFill/>
          </a:ln>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Introduction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Simulation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Experiments</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High-K dielectric</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Fabrication</a:t>
            </a:r>
            <a:endParaRPr sz="2000">
              <a:solidFill>
                <a:schemeClr val="dk1"/>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Discussions</a:t>
            </a:r>
            <a:endParaRPr sz="2000">
              <a:solidFill>
                <a:srgbClr val="B7B7B7"/>
              </a:solidFill>
              <a:latin typeface="Georgia"/>
              <a:ea typeface="Georgia"/>
              <a:cs typeface="Georgia"/>
              <a:sym typeface="Georgia"/>
            </a:endParaRPr>
          </a:p>
        </p:txBody>
      </p:sp>
      <p:pic>
        <p:nvPicPr>
          <p:cNvPr id="1052" name="Google Shape;1052;g39a284b7f17_11_35"/>
          <p:cNvPicPr preferRelativeResize="0"/>
          <p:nvPr/>
        </p:nvPicPr>
        <p:blipFill rotWithShape="1">
          <a:blip r:embed="rId10">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a3ec9b3325_1_99"/>
          <p:cNvSpPr txBox="1"/>
          <p:nvPr/>
        </p:nvSpPr>
        <p:spPr>
          <a:xfrm>
            <a:off x="3001674" y="960713"/>
            <a:ext cx="8564400" cy="2004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6550" lvl="0" marL="457200" marR="0" rtl="0" algn="l">
              <a:lnSpc>
                <a:spcPct val="115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Begin with a lightly doped p-type silicon wafer as the substrate.</a:t>
            </a:r>
            <a:endParaRPr sz="1700">
              <a:solidFill>
                <a:schemeClr val="dk1"/>
              </a:solidFill>
              <a:latin typeface="Georgia"/>
              <a:ea typeface="Georgia"/>
              <a:cs typeface="Georgia"/>
              <a:sym typeface="Georgia"/>
            </a:endParaRPr>
          </a:p>
          <a:p>
            <a:pPr indent="-336550" lvl="0" marL="457200" marR="0" rtl="0" algn="l">
              <a:lnSpc>
                <a:spcPct val="115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Grow the gate dielectric by thermal oxidation, forming a SiO₂ layer in the 5–10 nm thickness range.</a:t>
            </a:r>
            <a:endParaRPr sz="1700">
              <a:solidFill>
                <a:schemeClr val="dk1"/>
              </a:solidFill>
              <a:latin typeface="Georgia"/>
              <a:ea typeface="Georgia"/>
              <a:cs typeface="Georgia"/>
              <a:sym typeface="Georgia"/>
            </a:endParaRPr>
          </a:p>
          <a:p>
            <a:pPr indent="-336550" lvl="0" marL="457200" marR="0" rtl="0" algn="l">
              <a:lnSpc>
                <a:spcPct val="115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Define the capacitor area and deposit the gate metal (typically Al) using standard photolithography followed by lift-off or etching.</a:t>
            </a:r>
            <a:endParaRPr b="1" sz="1300">
              <a:solidFill>
                <a:schemeClr val="dk1"/>
              </a:solidFill>
            </a:endParaRPr>
          </a:p>
        </p:txBody>
      </p:sp>
      <p:pic>
        <p:nvPicPr>
          <p:cNvPr id="1058" name="Google Shape;1058;g3a3ec9b3325_1_99"/>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059" name="Google Shape;1059;g3a3ec9b3325_1_9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60" name="Google Shape;1060;g3a3ec9b3325_1_9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061" name="Google Shape;1061;g3a3ec9b3325_1_99"/>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Fabrication : MOS Capacitor Fabrication Overview</a:t>
            </a:r>
            <a:endParaRPr b="0" i="0" sz="3200" u="none" cap="none" strike="noStrike">
              <a:solidFill>
                <a:schemeClr val="dk1"/>
              </a:solidFill>
              <a:latin typeface="Times New Roman"/>
              <a:ea typeface="Times New Roman"/>
              <a:cs typeface="Times New Roman"/>
              <a:sym typeface="Times New Roman"/>
            </a:endParaRPr>
          </a:p>
        </p:txBody>
      </p:sp>
      <p:cxnSp>
        <p:nvCxnSpPr>
          <p:cNvPr id="1062" name="Google Shape;1062;g3a3ec9b3325_1_99"/>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063" name="Google Shape;1063;g3a3ec9b3325_1_9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64" name="Google Shape;1064;g3a3ec9b3325_1_9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65" name="Google Shape;1065;g3a3ec9b3325_1_99"/>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66" name="Google Shape;1066;g3a3ec9b3325_1_99"/>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67" name="Google Shape;1067;g3a3ec9b3325_1_99"/>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68" name="Google Shape;1068;g3a3ec9b3325_1_9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69" name="Google Shape;1069;g3a3ec9b3325_1_9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70" name="Google Shape;1070;g3a3ec9b3325_1_9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71" name="Google Shape;1071;g3a3ec9b3325_1_99"/>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72" name="Google Shape;1072;g3a3ec9b3325_1_9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73" name="Google Shape;1073;g3a3ec9b3325_1_99"/>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074" name="Google Shape;1074;g3a3ec9b3325_1_9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75" name="Google Shape;1075;g3a3ec9b3325_1_9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076" name="Google Shape;1076;g3a3ec9b3325_1_99"/>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077" name="Google Shape;1077;g3a3ec9b3325_1_9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78" name="Google Shape;1078;g3a3ec9b3325_1_9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79" name="Google Shape;1079;g3a3ec9b3325_1_99"/>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080" name="Google Shape;1080;g3a3ec9b3325_1_99"/>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081" name="Google Shape;1081;g3a3ec9b3325_1_99"/>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082" name="Google Shape;1082;g3a3ec9b3325_1_99"/>
          <p:cNvPicPr preferRelativeResize="0"/>
          <p:nvPr/>
        </p:nvPicPr>
        <p:blipFill rotWithShape="1">
          <a:blip r:embed="rId10">
            <a:alphaModFix/>
          </a:blip>
          <a:srcRect b="1934" l="8304" r="5100" t="-3210"/>
          <a:stretch/>
        </p:blipFill>
        <p:spPr>
          <a:xfrm>
            <a:off x="388200" y="1014250"/>
            <a:ext cx="2369500" cy="4767801"/>
          </a:xfrm>
          <a:prstGeom prst="rect">
            <a:avLst/>
          </a:prstGeom>
          <a:noFill/>
          <a:ln cap="flat" cmpd="sng" w="19050">
            <a:solidFill>
              <a:schemeClr val="dk1"/>
            </a:solidFill>
            <a:prstDash val="solid"/>
            <a:round/>
            <a:headEnd len="sm" w="sm" type="none"/>
            <a:tailEnd len="sm" w="sm" type="none"/>
          </a:ln>
        </p:spPr>
      </p:pic>
      <p:pic>
        <p:nvPicPr>
          <p:cNvPr id="1083" name="Google Shape;1083;g3a3ec9b3325_1_99"/>
          <p:cNvPicPr preferRelativeResize="0"/>
          <p:nvPr/>
        </p:nvPicPr>
        <p:blipFill rotWithShape="1">
          <a:blip r:embed="rId11">
            <a:alphaModFix/>
          </a:blip>
          <a:srcRect b="0" l="0" r="0" t="6646"/>
          <a:stretch/>
        </p:blipFill>
        <p:spPr>
          <a:xfrm>
            <a:off x="7595041" y="3244799"/>
            <a:ext cx="3971044" cy="2690600"/>
          </a:xfrm>
          <a:prstGeom prst="rect">
            <a:avLst/>
          </a:prstGeom>
          <a:noFill/>
          <a:ln cap="flat" cmpd="sng" w="19050">
            <a:solidFill>
              <a:schemeClr val="dk1"/>
            </a:solidFill>
            <a:prstDash val="solid"/>
            <a:round/>
            <a:headEnd len="sm" w="sm" type="none"/>
            <a:tailEnd len="sm" w="sm" type="none"/>
          </a:ln>
        </p:spPr>
      </p:pic>
      <p:sp>
        <p:nvSpPr>
          <p:cNvPr id="1084" name="Google Shape;1084;g3a3ec9b3325_1_99"/>
          <p:cNvSpPr txBox="1"/>
          <p:nvPr/>
        </p:nvSpPr>
        <p:spPr>
          <a:xfrm>
            <a:off x="3001675" y="3411688"/>
            <a:ext cx="4372500" cy="23802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Form a backside metal contact to ensure a stable, low-resistance connection to the substrate.</a:t>
            </a:r>
            <a:endParaRPr sz="1700">
              <a:solidFill>
                <a:schemeClr val="dk1"/>
              </a:solidFill>
              <a:latin typeface="Georgia"/>
              <a:ea typeface="Georgia"/>
              <a:cs typeface="Georgia"/>
              <a:sym typeface="Georgia"/>
            </a:endParaRPr>
          </a:p>
          <a:p>
            <a:pPr indent="-336550" lvl="0" marL="457200" rtl="0" algn="l">
              <a:lnSpc>
                <a:spcPct val="115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Completed devices present metal pads visible under the optical microscope, which serve as the gate terminals during measurement</a:t>
            </a:r>
            <a:r>
              <a:rPr lang="en-US" sz="1100">
                <a:solidFill>
                  <a:schemeClr val="dk1"/>
                </a:solidFill>
              </a:rPr>
              <a:t>.</a:t>
            </a:r>
            <a:endParaRPr sz="2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g3a3ec9b3325_1_316"/>
          <p:cNvSpPr txBox="1"/>
          <p:nvPr/>
        </p:nvSpPr>
        <p:spPr>
          <a:xfrm>
            <a:off x="435200" y="880850"/>
            <a:ext cx="4818300" cy="513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36550" lvl="0" marL="457200" marR="0" rtl="0" algn="l">
              <a:lnSpc>
                <a:spcPct val="115000"/>
              </a:lnSpc>
              <a:spcBef>
                <a:spcPts val="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High electric fields across the SiO₂ layer can generate broken Si–O bonds, oxygen vacancies, and other charged defect states.</a:t>
            </a:r>
            <a:endParaRPr sz="1700">
              <a:solidFill>
                <a:schemeClr val="dk1"/>
              </a:solidFill>
              <a:latin typeface="Georgia"/>
              <a:ea typeface="Georgia"/>
              <a:cs typeface="Georgia"/>
              <a:sym typeface="Georgia"/>
            </a:endParaRPr>
          </a:p>
          <a:p>
            <a:pPr indent="-336550" lvl="0" marL="457200" marR="0" rtl="0" algn="l">
              <a:lnSpc>
                <a:spcPct val="115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These defects increase trap-assisted tunneling and progressively weaken the insulating properties of the oxide.</a:t>
            </a:r>
            <a:endParaRPr sz="1700">
              <a:solidFill>
                <a:schemeClr val="dk1"/>
              </a:solidFill>
              <a:latin typeface="Georgia"/>
              <a:ea typeface="Georgia"/>
              <a:cs typeface="Georgia"/>
              <a:sym typeface="Georgia"/>
            </a:endParaRPr>
          </a:p>
          <a:p>
            <a:pPr indent="-336550" lvl="0" marL="457200" marR="0" rtl="0" algn="l">
              <a:lnSpc>
                <a:spcPct val="115000"/>
              </a:lnSpc>
              <a:spcBef>
                <a:spcPts val="1000"/>
              </a:spcBef>
              <a:spcAft>
                <a:spcPts val="0"/>
              </a:spcAft>
              <a:buClr>
                <a:schemeClr val="dk1"/>
              </a:buClr>
              <a:buSzPts val="1700"/>
              <a:buFont typeface="Georgia"/>
              <a:buChar char="●"/>
            </a:pPr>
            <a:r>
              <a:rPr lang="en-US" sz="1700">
                <a:solidFill>
                  <a:schemeClr val="dk1"/>
                </a:solidFill>
                <a:latin typeface="Georgia"/>
                <a:ea typeface="Georgia"/>
                <a:cs typeface="Georgia"/>
                <a:sym typeface="Georgia"/>
              </a:rPr>
              <a:t>As defect density grows, they begin to link into partial percolation paths, which are precursors to soft and eventually hard breakdown.</a:t>
            </a:r>
            <a:endParaRPr sz="1700">
              <a:solidFill>
                <a:schemeClr val="dk1"/>
              </a:solidFill>
              <a:latin typeface="Georgia"/>
              <a:ea typeface="Georgia"/>
              <a:cs typeface="Georgia"/>
              <a:sym typeface="Georgia"/>
            </a:endParaRPr>
          </a:p>
          <a:p>
            <a:pPr indent="-336550" lvl="0" marL="457200" marR="0" rtl="0" algn="l">
              <a:lnSpc>
                <a:spcPct val="115000"/>
              </a:lnSpc>
              <a:spcBef>
                <a:spcPts val="1000"/>
              </a:spcBef>
              <a:spcAft>
                <a:spcPts val="1000"/>
              </a:spcAft>
              <a:buClr>
                <a:schemeClr val="dk1"/>
              </a:buClr>
              <a:buSzPts val="1700"/>
              <a:buFont typeface="Georgia"/>
              <a:buChar char="●"/>
            </a:pPr>
            <a:r>
              <a:rPr lang="en-US" sz="1700">
                <a:solidFill>
                  <a:schemeClr val="dk1"/>
                </a:solidFill>
                <a:latin typeface="Georgia"/>
                <a:ea typeface="Georgia"/>
                <a:cs typeface="Georgia"/>
                <a:sym typeface="Georgia"/>
              </a:rPr>
              <a:t>Electrical stress during measurement effectively creates and modifies defects in real time, changing the oxide’s behaviour as voltage increases.</a:t>
            </a:r>
            <a:endParaRPr b="1" sz="1300">
              <a:solidFill>
                <a:schemeClr val="dk1"/>
              </a:solidFill>
            </a:endParaRPr>
          </a:p>
        </p:txBody>
      </p:sp>
      <p:pic>
        <p:nvPicPr>
          <p:cNvPr id="1090" name="Google Shape;1090;g3a3ec9b3325_1_316"/>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091" name="Google Shape;1091;g3a3ec9b3325_1_31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92" name="Google Shape;1092;g3a3ec9b3325_1_31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093" name="Google Shape;1093;g3a3ec9b3325_1_316"/>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New Roman"/>
                <a:ea typeface="Times New Roman"/>
                <a:cs typeface="Times New Roman"/>
                <a:sym typeface="Times New Roman"/>
              </a:rPr>
              <a:t>Fabrication </a:t>
            </a:r>
            <a:r>
              <a:rPr lang="en-US" sz="3200">
                <a:solidFill>
                  <a:schemeClr val="dk1"/>
                </a:solidFill>
                <a:latin typeface="Times New Roman"/>
                <a:ea typeface="Times New Roman"/>
                <a:cs typeface="Times New Roman"/>
                <a:sym typeface="Times New Roman"/>
              </a:rPr>
              <a:t>: Defect Generation in MOS Oxides</a:t>
            </a:r>
            <a:endParaRPr b="0" i="0" sz="3200" u="none" cap="none" strike="noStrike">
              <a:solidFill>
                <a:schemeClr val="dk1"/>
              </a:solidFill>
              <a:latin typeface="Times New Roman"/>
              <a:ea typeface="Times New Roman"/>
              <a:cs typeface="Times New Roman"/>
              <a:sym typeface="Times New Roman"/>
            </a:endParaRPr>
          </a:p>
        </p:txBody>
      </p:sp>
      <p:cxnSp>
        <p:nvCxnSpPr>
          <p:cNvPr id="1094" name="Google Shape;1094;g3a3ec9b3325_1_316"/>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095" name="Google Shape;1095;g3a3ec9b3325_1_31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96" name="Google Shape;1096;g3a3ec9b3325_1_31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097" name="Google Shape;1097;g3a3ec9b3325_1_316"/>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098" name="Google Shape;1098;g3a3ec9b3325_1_316"/>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099" name="Google Shape;1099;g3a3ec9b3325_1_316"/>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00" name="Google Shape;1100;g3a3ec9b3325_1_31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1" name="Google Shape;1101;g3a3ec9b3325_1_3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02" name="Google Shape;1102;g3a3ec9b3325_1_31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03" name="Google Shape;1103;g3a3ec9b3325_1_316"/>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4" name="Google Shape;1104;g3a3ec9b3325_1_3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05" name="Google Shape;1105;g3a3ec9b3325_1_316"/>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06" name="Google Shape;1106;g3a3ec9b3325_1_31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07" name="Google Shape;1107;g3a3ec9b3325_1_3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08" name="Google Shape;1108;g3a3ec9b3325_1_316"/>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109" name="Google Shape;1109;g3a3ec9b3325_1_3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10" name="Google Shape;1110;g3a3ec9b3325_1_31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11" name="Google Shape;1111;g3a3ec9b3325_1_316"/>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112" name="Google Shape;1112;g3a3ec9b3325_1_316"/>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13" name="Google Shape;1113;g3a3ec9b3325_1_316"/>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14" name="Google Shape;1114;g3a3ec9b3325_1_316"/>
          <p:cNvPicPr preferRelativeResize="0"/>
          <p:nvPr/>
        </p:nvPicPr>
        <p:blipFill>
          <a:blip r:embed="rId10">
            <a:alphaModFix/>
          </a:blip>
          <a:stretch>
            <a:fillRect/>
          </a:stretch>
        </p:blipFill>
        <p:spPr>
          <a:xfrm>
            <a:off x="5444675" y="1539239"/>
            <a:ext cx="6646175" cy="3817622"/>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pic>
        <p:nvPicPr>
          <p:cNvPr id="1119" name="Google Shape;1119;g3aab165c69e_0_50"/>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120" name="Google Shape;1120;g3aab165c69e_0_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21" name="Google Shape;1121;g3aab165c69e_0_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122" name="Google Shape;1122;g3aab165c69e_0_50"/>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lang="en-US" sz="3200">
                <a:solidFill>
                  <a:schemeClr val="dk1"/>
                </a:solidFill>
                <a:latin typeface="Times New Roman"/>
                <a:ea typeface="Times New Roman"/>
                <a:cs typeface="Times New Roman"/>
                <a:sym typeface="Times New Roman"/>
              </a:rPr>
              <a:t>Slide 15 – Passivation &amp; Annealing Concepts</a:t>
            </a:r>
            <a:endParaRPr b="1" sz="2600">
              <a:solidFill>
                <a:schemeClr val="dk1"/>
              </a:solidFill>
              <a:latin typeface="Times New Roman"/>
              <a:ea typeface="Times New Roman"/>
              <a:cs typeface="Times New Roman"/>
              <a:sym typeface="Times New Roman"/>
            </a:endParaRPr>
          </a:p>
        </p:txBody>
      </p:sp>
      <p:cxnSp>
        <p:nvCxnSpPr>
          <p:cNvPr id="1123" name="Google Shape;1123;g3aab165c69e_0_50"/>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124" name="Google Shape;1124;g3aab165c69e_0_5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25" name="Google Shape;1125;g3aab165c69e_0_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26" name="Google Shape;1126;g3aab165c69e_0_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27" name="Google Shape;1127;g3aab165c69e_0_5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28" name="Google Shape;1128;g3aab165c69e_0_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29" name="Google Shape;1129;g3aab165c69e_0_50"/>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130" name="Google Shape;1130;g3aab165c69e_0_50"/>
          <p:cNvSpPr txBox="1"/>
          <p:nvPr/>
        </p:nvSpPr>
        <p:spPr>
          <a:xfrm>
            <a:off x="212525" y="866926"/>
            <a:ext cx="11347800" cy="27582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Post-fabrication treatments such as forming-gas annealing and hydrogen passivation help neutralize dangling bonds at the Si/SiO₂ interface by forming stable Si–H bonds.</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These steps reduce both the interface trap density and the bulk trap density, improving oxide quality.</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Well-passivated oxides exhibit lower leakage and higher breakdown voltages, while insufficient passivation leads to earlier soft and hard breakdown.</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1000"/>
              </a:spcAft>
              <a:buClr>
                <a:schemeClr val="dk1"/>
              </a:buClr>
              <a:buSzPts val="1800"/>
              <a:buFont typeface="Georgia"/>
              <a:buChar char="●"/>
            </a:pPr>
            <a:r>
              <a:rPr lang="en-US" sz="1800">
                <a:solidFill>
                  <a:schemeClr val="dk1"/>
                </a:solidFill>
                <a:latin typeface="Georgia"/>
                <a:ea typeface="Georgia"/>
                <a:cs typeface="Georgia"/>
                <a:sym typeface="Georgia"/>
              </a:rPr>
              <a:t>In this experiment, the observed breakdown behaviour reflects how effectively the oxide was passivated and annealed before electrical stress was applied.</a:t>
            </a:r>
            <a:endParaRPr sz="2000">
              <a:solidFill>
                <a:schemeClr val="dk1"/>
              </a:solidFill>
              <a:latin typeface="Georgia"/>
              <a:ea typeface="Georgia"/>
              <a:cs typeface="Georgia"/>
              <a:sym typeface="Georgia"/>
            </a:endParaRPr>
          </a:p>
        </p:txBody>
      </p:sp>
      <p:pic>
        <p:nvPicPr>
          <p:cNvPr id="1131" name="Google Shape;1131;g3aab165c69e_0_50"/>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32" name="Google Shape;1132;g3aab165c69e_0_50"/>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33" name="Google Shape;1133;g3aab165c69e_0_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34" name="Google Shape;1134;g3aab165c69e_0_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35" name="Google Shape;1135;g3aab165c69e_0_5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36" name="Google Shape;1136;g3aab165c69e_0_50"/>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37" name="Google Shape;1137;g3aab165c69e_0_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38" name="Google Shape;1138;g3aab165c69e_0_50"/>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39" name="Google Shape;1139;g3aab165c69e_0_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40" name="Google Shape;1140;g3aab165c69e_0_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41" name="Google Shape;1141;g3aab165c69e_0_50"/>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142" name="Google Shape;1142;g3aab165c69e_0_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43" name="Google Shape;1143;g3aab165c69e_0_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44" name="Google Shape;1144;g3aab165c69e_0_50"/>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145" name="Google Shape;1145;g3aab165c69e_0_50"/>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46" name="Google Shape;1146;g3aab165c69e_0_50"/>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47" name="Google Shape;1147;g3aab165c69e_0_50"/>
          <p:cNvPicPr preferRelativeResize="0"/>
          <p:nvPr/>
        </p:nvPicPr>
        <p:blipFill>
          <a:blip r:embed="rId10">
            <a:alphaModFix/>
          </a:blip>
          <a:stretch>
            <a:fillRect/>
          </a:stretch>
        </p:blipFill>
        <p:spPr>
          <a:xfrm>
            <a:off x="31036" y="3969938"/>
            <a:ext cx="5533328" cy="1810500"/>
          </a:xfrm>
          <a:prstGeom prst="rect">
            <a:avLst/>
          </a:prstGeom>
          <a:noFill/>
          <a:ln cap="flat" cmpd="sng" w="19050">
            <a:solidFill>
              <a:schemeClr val="dk1"/>
            </a:solidFill>
            <a:prstDash val="solid"/>
            <a:round/>
            <a:headEnd len="sm" w="sm" type="none"/>
            <a:tailEnd len="sm" w="sm" type="none"/>
          </a:ln>
        </p:spPr>
      </p:pic>
      <p:pic>
        <p:nvPicPr>
          <p:cNvPr id="1148" name="Google Shape;1148;g3aab165c69e_0_50"/>
          <p:cNvPicPr preferRelativeResize="0"/>
          <p:nvPr/>
        </p:nvPicPr>
        <p:blipFill>
          <a:blip r:embed="rId11">
            <a:alphaModFix/>
          </a:blip>
          <a:stretch>
            <a:fillRect/>
          </a:stretch>
        </p:blipFill>
        <p:spPr>
          <a:xfrm>
            <a:off x="5564362" y="3969950"/>
            <a:ext cx="6596591" cy="181050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pic>
        <p:nvPicPr>
          <p:cNvPr id="1153" name="Google Shape;1153;g3a60c6796b4_0_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154" name="Google Shape;1154;g3a60c6796b4_0_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55" name="Google Shape;1155;g3a60c6796b4_0_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156" name="Google Shape;1156;g3a60c6796b4_0_2"/>
          <p:cNvSpPr txBox="1"/>
          <p:nvPr/>
        </p:nvSpPr>
        <p:spPr>
          <a:xfrm>
            <a:off x="0" y="0"/>
            <a:ext cx="12192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500" u="none" cap="none" strike="noStrike">
                <a:solidFill>
                  <a:schemeClr val="dk1"/>
                </a:solidFill>
                <a:latin typeface="Times New Roman"/>
                <a:ea typeface="Times New Roman"/>
                <a:cs typeface="Times New Roman"/>
                <a:sym typeface="Times New Roman"/>
              </a:rPr>
              <a:t>OUTLINE</a:t>
            </a:r>
            <a:endParaRPr b="0" i="0" sz="3500" u="none" cap="none" strike="noStrike">
              <a:solidFill>
                <a:schemeClr val="dk1"/>
              </a:solidFill>
              <a:latin typeface="Times New Roman"/>
              <a:ea typeface="Times New Roman"/>
              <a:cs typeface="Times New Roman"/>
              <a:sym typeface="Times New Roman"/>
            </a:endParaRPr>
          </a:p>
        </p:txBody>
      </p:sp>
      <p:cxnSp>
        <p:nvCxnSpPr>
          <p:cNvPr id="1157" name="Google Shape;1157;g3a60c6796b4_0_2"/>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158" name="Google Shape;1158;g3a60c6796b4_0_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59" name="Google Shape;1159;g3a60c6796b4_0_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60" name="Google Shape;1160;g3a60c6796b4_0_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61" name="Google Shape;1161;g3a60c6796b4_0_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62" name="Google Shape;1162;g3a60c6796b4_0_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63" name="Google Shape;1163;g3a60c6796b4_0_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64" name="Google Shape;1164;g3a60c6796b4_0_2"/>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1165" name="Google Shape;1165;g3a60c6796b4_0_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66" name="Google Shape;1166;g3a60c6796b4_0_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67" name="Google Shape;1167;g3a60c6796b4_0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68" name="Google Shape;1168;g3a60c6796b4_0_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69" name="Google Shape;1169;g3a60c6796b4_0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0" name="Google Shape;1170;g3a60c6796b4_0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71" name="Google Shape;1171;g3a60c6796b4_0_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172" name="Google Shape;1172;g3a60c6796b4_0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73" name="Google Shape;1173;g3a60c6796b4_0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74" name="Google Shape;1174;g3a60c6796b4_0_2"/>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175" name="Google Shape;1175;g3a60c6796b4_0_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176" name="Google Shape;1176;g3a60c6796b4_0_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1177" name="Google Shape;1177;g3a60c6796b4_0_2"/>
          <p:cNvSpPr txBox="1"/>
          <p:nvPr/>
        </p:nvSpPr>
        <p:spPr>
          <a:xfrm>
            <a:off x="265800" y="1660150"/>
            <a:ext cx="11603400" cy="2904300"/>
          </a:xfrm>
          <a:prstGeom prst="rect">
            <a:avLst/>
          </a:prstGeom>
          <a:noFill/>
          <a:ln>
            <a:noFill/>
          </a:ln>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Introduction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Simulation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Experiments</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High-K dielectric</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rgbClr val="B7B7B7"/>
              </a:buClr>
              <a:buSzPts val="2000"/>
              <a:buFont typeface="Georgia"/>
              <a:buAutoNum type="arabicPeriod"/>
            </a:pPr>
            <a:r>
              <a:rPr lang="en-US" sz="2000">
                <a:solidFill>
                  <a:srgbClr val="B7B7B7"/>
                </a:solidFill>
                <a:latin typeface="Georgia"/>
                <a:ea typeface="Georgia"/>
                <a:cs typeface="Georgia"/>
                <a:sym typeface="Georgia"/>
              </a:rPr>
              <a:t>Fabrication</a:t>
            </a:r>
            <a:endParaRPr sz="2000">
              <a:solidFill>
                <a:srgbClr val="B7B7B7"/>
              </a:solidFill>
              <a:latin typeface="Georgia"/>
              <a:ea typeface="Georgia"/>
              <a:cs typeface="Georgia"/>
              <a:sym typeface="Georgia"/>
            </a:endParaRPr>
          </a:p>
          <a:p>
            <a:pPr indent="-355600" lvl="0" marL="457200" marR="0" rtl="0" algn="l">
              <a:lnSpc>
                <a:spcPct val="150000"/>
              </a:lnSpc>
              <a:spcBef>
                <a:spcPts val="0"/>
              </a:spcBef>
              <a:spcAft>
                <a:spcPts val="0"/>
              </a:spcAft>
              <a:buClr>
                <a:schemeClr val="dk1"/>
              </a:buClr>
              <a:buSzPts val="2000"/>
              <a:buFont typeface="Georgia"/>
              <a:buAutoNum type="arabicPeriod"/>
            </a:pPr>
            <a:r>
              <a:rPr lang="en-US" sz="2000">
                <a:solidFill>
                  <a:schemeClr val="dk1"/>
                </a:solidFill>
                <a:latin typeface="Georgia"/>
                <a:ea typeface="Georgia"/>
                <a:cs typeface="Georgia"/>
                <a:sym typeface="Georgia"/>
              </a:rPr>
              <a:t>Discussions</a:t>
            </a:r>
            <a:endParaRPr sz="2000">
              <a:solidFill>
                <a:schemeClr val="dk1"/>
              </a:solidFill>
              <a:latin typeface="Georgia"/>
              <a:ea typeface="Georgia"/>
              <a:cs typeface="Georgia"/>
              <a:sym typeface="Georgia"/>
            </a:endParaRPr>
          </a:p>
        </p:txBody>
      </p:sp>
      <p:pic>
        <p:nvPicPr>
          <p:cNvPr id="1178" name="Google Shape;1178;g3a60c6796b4_0_2"/>
          <p:cNvPicPr preferRelativeResize="0"/>
          <p:nvPr/>
        </p:nvPicPr>
        <p:blipFill rotWithShape="1">
          <a:blip r:embed="rId10">
            <a:alphaModFix/>
          </a:blip>
          <a:srcRect b="12945" l="14987" r="14980" t="13665"/>
          <a:stretch/>
        </p:blipFill>
        <p:spPr>
          <a:xfrm>
            <a:off x="6959375" y="1853900"/>
            <a:ext cx="3201800" cy="2516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a60c6796b4_0_31"/>
          <p:cNvSpPr txBox="1"/>
          <p:nvPr/>
        </p:nvSpPr>
        <p:spPr>
          <a:xfrm>
            <a:off x="539150" y="960725"/>
            <a:ext cx="6459000" cy="4934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23850" lvl="0" marL="457200" marR="0" rtl="0" algn="l">
              <a:lnSpc>
                <a:spcPct val="115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I–V sweeps on the SiO₂ MOS capacitors show very low leakage (≈10⁻¹³–10⁻¹¹ A) at low and moderate fields, followed by a gradual slope increase and noisy current steps as the gate voltage approaches the high-field regime.</a:t>
            </a:r>
            <a:endParaRPr sz="1500">
              <a:solidFill>
                <a:schemeClr val="dk1"/>
              </a:solidFill>
              <a:latin typeface="Georgia"/>
              <a:ea typeface="Georgia"/>
              <a:cs typeface="Georgia"/>
              <a:sym typeface="Georgia"/>
            </a:endParaRPr>
          </a:p>
          <a:p>
            <a:pPr indent="-323850" lvl="0" marL="457200" marR="0" rtl="0" algn="l">
              <a:lnSpc>
                <a:spcPct val="115000"/>
              </a:lnSpc>
              <a:spcBef>
                <a:spcPts val="10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A sharp current jump near ≈9–10 V drives the current to the compliance limit, giving a hard-breakdown voltage V (HBD) ≈ 9–10 V, corresponding to a breakdown field of order 9–10 MV/cm for a 10 nm oxide.</a:t>
            </a:r>
            <a:endParaRPr sz="1500">
              <a:solidFill>
                <a:schemeClr val="dk1"/>
              </a:solidFill>
              <a:latin typeface="Georgia"/>
              <a:ea typeface="Georgia"/>
              <a:cs typeface="Georgia"/>
              <a:sym typeface="Georgia"/>
            </a:endParaRPr>
          </a:p>
          <a:p>
            <a:pPr indent="-323850" lvl="0" marL="457200" marR="0" rtl="0" algn="l">
              <a:lnSpc>
                <a:spcPct val="115000"/>
              </a:lnSpc>
              <a:spcBef>
                <a:spcPts val="1000"/>
              </a:spcBef>
              <a:spcAft>
                <a:spcPts val="1000"/>
              </a:spcAft>
              <a:buClr>
                <a:schemeClr val="dk1"/>
              </a:buClr>
              <a:buSzPts val="1500"/>
              <a:buFont typeface="Georgia"/>
              <a:buChar char="●"/>
            </a:pPr>
            <a:r>
              <a:rPr lang="en-US" sz="1500">
                <a:solidFill>
                  <a:schemeClr val="dk1"/>
                </a:solidFill>
                <a:latin typeface="Georgia"/>
                <a:ea typeface="Georgia"/>
                <a:cs typeface="Georgia"/>
                <a:sym typeface="Georgia"/>
              </a:rPr>
              <a:t>Constant-voltage stress (e.g. ~7 V) exhibits an initial decay of current, a noisy plateau dominated by trap-assisted conduction, and finally a large current spike after ≈50–60 s, defining the time-to-breakdown and confirming a soft-to-hard breakdown sequence driven by defect generation, trap percolation, and local Joule heating in the SiO₂.</a:t>
            </a:r>
            <a:endParaRPr b="1" sz="1500">
              <a:solidFill>
                <a:schemeClr val="dk1"/>
              </a:solidFill>
            </a:endParaRPr>
          </a:p>
        </p:txBody>
      </p:sp>
      <p:pic>
        <p:nvPicPr>
          <p:cNvPr id="1184" name="Google Shape;1184;g3a60c6796b4_0_3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185" name="Google Shape;1185;g3a60c6796b4_0_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86" name="Google Shape;1186;g3a60c6796b4_0_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187" name="Google Shape;1187;g3a60c6796b4_0_3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chemeClr val="dk1"/>
                </a:solidFill>
                <a:latin typeface="Times New Roman"/>
                <a:ea typeface="Times New Roman"/>
                <a:cs typeface="Times New Roman"/>
                <a:sym typeface="Times New Roman"/>
              </a:rPr>
              <a:t>Dielectric degradation and breakdown in 10 nm SiO₂</a:t>
            </a:r>
            <a:endParaRPr b="1" i="0" sz="3200" u="none" cap="none" strike="noStrike">
              <a:solidFill>
                <a:schemeClr val="dk1"/>
              </a:solidFill>
              <a:latin typeface="Times New Roman"/>
              <a:ea typeface="Times New Roman"/>
              <a:cs typeface="Times New Roman"/>
              <a:sym typeface="Times New Roman"/>
            </a:endParaRPr>
          </a:p>
        </p:txBody>
      </p:sp>
      <p:cxnSp>
        <p:nvCxnSpPr>
          <p:cNvPr id="1188" name="Google Shape;1188;g3a60c6796b4_0_3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189" name="Google Shape;1189;g3a60c6796b4_0_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90" name="Google Shape;1190;g3a60c6796b4_0_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91" name="Google Shape;1191;g3a60c6796b4_0_3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192" name="Google Shape;1192;g3a60c6796b4_0_3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193" name="Google Shape;1193;g3a60c6796b4_0_3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194" name="Google Shape;1194;g3a60c6796b4_0_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95" name="Google Shape;1195;g3a60c6796b4_0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96" name="Google Shape;1196;g3a60c6796b4_0_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197" name="Google Shape;1197;g3a60c6796b4_0_3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198" name="Google Shape;1198;g3a60c6796b4_0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199" name="Google Shape;1199;g3a60c6796b4_0_3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00" name="Google Shape;1200;g3a60c6796b4_0_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01" name="Google Shape;1201;g3a60c6796b4_0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02" name="Google Shape;1202;g3a60c6796b4_0_3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203" name="Google Shape;1203;g3a60c6796b4_0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04" name="Google Shape;1204;g3a60c6796b4_0_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05" name="Google Shape;1205;g3a60c6796b4_0_31"/>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206" name="Google Shape;1206;g3a60c6796b4_0_3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07" name="Google Shape;1207;g3a60c6796b4_0_3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08" name="Google Shape;1208;g3a60c6796b4_0_31" title="MTD2025DEVICE5.png"/>
          <p:cNvPicPr preferRelativeResize="0"/>
          <p:nvPr/>
        </p:nvPicPr>
        <p:blipFill rotWithShape="1">
          <a:blip r:embed="rId10">
            <a:alphaModFix/>
          </a:blip>
          <a:srcRect b="6803" l="0" r="0" t="0"/>
          <a:stretch/>
        </p:blipFill>
        <p:spPr>
          <a:xfrm>
            <a:off x="7402292" y="693987"/>
            <a:ext cx="4448216" cy="2663391"/>
          </a:xfrm>
          <a:prstGeom prst="rect">
            <a:avLst/>
          </a:prstGeom>
          <a:noFill/>
          <a:ln cap="flat" cmpd="sng" w="14825">
            <a:solidFill>
              <a:schemeClr val="dk2"/>
            </a:solidFill>
            <a:prstDash val="solid"/>
            <a:round/>
            <a:headEnd len="sm" w="sm" type="none"/>
            <a:tailEnd len="sm" w="sm" type="none"/>
          </a:ln>
        </p:spPr>
      </p:pic>
      <p:pic>
        <p:nvPicPr>
          <p:cNvPr id="1209" name="Google Shape;1209;g3a60c6796b4_0_31" title="MTD2025HBD7V.png"/>
          <p:cNvPicPr preferRelativeResize="0"/>
          <p:nvPr/>
        </p:nvPicPr>
        <p:blipFill rotWithShape="1">
          <a:blip r:embed="rId11">
            <a:alphaModFix/>
          </a:blip>
          <a:srcRect b="6015" l="0" r="0" t="0"/>
          <a:stretch/>
        </p:blipFill>
        <p:spPr>
          <a:xfrm>
            <a:off x="7402292" y="3416481"/>
            <a:ext cx="4448216" cy="2685832"/>
          </a:xfrm>
          <a:prstGeom prst="rect">
            <a:avLst/>
          </a:prstGeom>
          <a:noFill/>
          <a:ln cap="flat" cmpd="sng" w="14825">
            <a:solidFill>
              <a:schemeClr val="dk2"/>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pic>
        <p:nvPicPr>
          <p:cNvPr id="1214" name="Google Shape;1214;g3a60c6796b4_0_62"/>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sp>
        <p:nvSpPr>
          <p:cNvPr id="1215" name="Google Shape;1215;g3a60c6796b4_0_62"/>
          <p:cNvSpPr txBox="1"/>
          <p:nvPr/>
        </p:nvSpPr>
        <p:spPr>
          <a:xfrm>
            <a:off x="1675200" y="1325550"/>
            <a:ext cx="9000000" cy="4380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US" sz="1500">
                <a:solidFill>
                  <a:schemeClr val="dk1"/>
                </a:solidFill>
                <a:latin typeface="Georgia"/>
                <a:ea typeface="Georgia"/>
                <a:cs typeface="Georgia"/>
                <a:sym typeface="Georgia"/>
              </a:rPr>
              <a:t>(a) </a:t>
            </a:r>
            <a:r>
              <a:rPr i="1" lang="en-US" sz="1500">
                <a:solidFill>
                  <a:schemeClr val="dk1"/>
                </a:solidFill>
                <a:latin typeface="Georgia"/>
                <a:ea typeface="Georgia"/>
                <a:cs typeface="Georgia"/>
                <a:sym typeface="Georgia"/>
              </a:rPr>
              <a:t>Extracted Al₂O₃ Thickness from Breakdown : </a:t>
            </a:r>
            <a:br>
              <a:rPr lang="en-US" sz="1500">
                <a:solidFill>
                  <a:schemeClr val="dk1"/>
                </a:solidFill>
                <a:latin typeface="Georgia"/>
                <a:ea typeface="Georgia"/>
                <a:cs typeface="Georgia"/>
                <a:sym typeface="Georgia"/>
              </a:rPr>
            </a:br>
            <a:r>
              <a:rPr lang="en-US" sz="1500">
                <a:solidFill>
                  <a:schemeClr val="dk1"/>
                </a:solidFill>
                <a:latin typeface="Georgia"/>
                <a:ea typeface="Georgia"/>
                <a:cs typeface="Georgia"/>
                <a:sym typeface="Georgia"/>
              </a:rPr>
              <a:t>From the Al₂O₃ I–V curves, hard breakdown occurs at a gate voltage of approximately 2.5–3.0 V. </a:t>
            </a:r>
            <a:endParaRPr sz="1500">
              <a:solidFill>
                <a:schemeClr val="dk1"/>
              </a:solidFill>
              <a:latin typeface="Georgia"/>
              <a:ea typeface="Georgia"/>
              <a:cs typeface="Georgia"/>
              <a:sym typeface="Georgia"/>
            </a:endParaRPr>
          </a:p>
          <a:p>
            <a:pPr indent="0" lvl="0" marL="457200" marR="0" rtl="0" algn="l">
              <a:lnSpc>
                <a:spcPct val="115000"/>
              </a:lnSpc>
              <a:spcBef>
                <a:spcPts val="1000"/>
              </a:spcBef>
              <a:spcAft>
                <a:spcPts val="0"/>
              </a:spcAft>
              <a:buNone/>
            </a:pPr>
            <a:br>
              <a:rPr lang="en-US" sz="1500">
                <a:solidFill>
                  <a:schemeClr val="dk1"/>
                </a:solidFill>
                <a:latin typeface="Georgia"/>
                <a:ea typeface="Georgia"/>
                <a:cs typeface="Georgia"/>
                <a:sym typeface="Georgia"/>
              </a:rPr>
            </a:br>
            <a:endParaRPr sz="1500">
              <a:solidFill>
                <a:schemeClr val="dk1"/>
              </a:solidFill>
              <a:latin typeface="Georgia"/>
              <a:ea typeface="Georgia"/>
              <a:cs typeface="Georgia"/>
              <a:sym typeface="Georgia"/>
            </a:endParaRPr>
          </a:p>
          <a:p>
            <a:pPr indent="0" lvl="0" marL="0" marR="0" rtl="0" algn="l">
              <a:lnSpc>
                <a:spcPct val="115000"/>
              </a:lnSpc>
              <a:spcBef>
                <a:spcPts val="1000"/>
              </a:spcBef>
              <a:spcAft>
                <a:spcPts val="0"/>
              </a:spcAft>
              <a:buNone/>
            </a:pPr>
            <a:r>
              <a:rPr lang="en-US" sz="1500">
                <a:solidFill>
                  <a:schemeClr val="dk1"/>
                </a:solidFill>
                <a:latin typeface="Georgia"/>
                <a:ea typeface="Georgia"/>
                <a:cs typeface="Georgia"/>
                <a:sym typeface="Georgia"/>
              </a:rPr>
              <a:t>(b) </a:t>
            </a:r>
            <a:r>
              <a:rPr i="1" lang="en-US" sz="1500">
                <a:solidFill>
                  <a:schemeClr val="dk1"/>
                </a:solidFill>
                <a:latin typeface="Georgia"/>
                <a:ea typeface="Georgia"/>
                <a:cs typeface="Georgia"/>
                <a:sym typeface="Georgia"/>
              </a:rPr>
              <a:t>If the intended ALD thickness was 10 nm, discuss the possible reasons for any discrepancy between the target value and the experimentally extracted thickness : </a:t>
            </a:r>
            <a:endParaRPr sz="1500">
              <a:solidFill>
                <a:schemeClr val="dk1"/>
              </a:solidFill>
              <a:latin typeface="Georgia"/>
              <a:ea typeface="Georgia"/>
              <a:cs typeface="Georgia"/>
              <a:sym typeface="Georgia"/>
            </a:endParaRPr>
          </a:p>
          <a:p>
            <a:pPr indent="-323850" lvl="0" marL="457200" marR="0" rtl="0" algn="l">
              <a:lnSpc>
                <a:spcPct val="115000"/>
              </a:lnSpc>
              <a:spcBef>
                <a:spcPts val="100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The discrepancy between the intended 10 nm and the extracted ~3 nm can arise from ALD process factors such as nucleation delay on the substrate, incorrect growth-per-cycle calibration, rate drift, or incomplete surface coverage during the first cycles.</a:t>
            </a:r>
            <a:endParaRPr sz="1500">
              <a:solidFill>
                <a:schemeClr val="dk1"/>
              </a:solidFill>
              <a:latin typeface="Georgia"/>
              <a:ea typeface="Georgia"/>
              <a:cs typeface="Georgia"/>
              <a:sym typeface="Georgia"/>
            </a:endParaRPr>
          </a:p>
          <a:p>
            <a:pPr indent="-323850" lvl="0" marL="457200" marR="0" rtl="0" algn="l">
              <a:lnSpc>
                <a:spcPct val="115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Additional deviation can come from metrology: ellipsometry or model fitting that assumes bulk optical constants, neglects interfacial layers or porosity, or misinterprets a multi-layer stack as a single uniform Al₂O₃ film, all of which can distort the apparent thickness.</a:t>
            </a:r>
            <a:endParaRPr sz="1500">
              <a:solidFill>
                <a:schemeClr val="dk1"/>
              </a:solidFill>
              <a:latin typeface="Georgia"/>
              <a:ea typeface="Georgia"/>
              <a:cs typeface="Georgia"/>
              <a:sym typeface="Georgia"/>
            </a:endParaRPr>
          </a:p>
        </p:txBody>
      </p:sp>
      <p:pic>
        <p:nvPicPr>
          <p:cNvPr id="1216" name="Google Shape;1216;g3a60c6796b4_0_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17" name="Google Shape;1217;g3a60c6796b4_0_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218" name="Google Shape;1218;g3a60c6796b4_0_62"/>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chemeClr val="dk1"/>
                </a:solidFill>
                <a:latin typeface="Times New Roman"/>
                <a:ea typeface="Times New Roman"/>
                <a:cs typeface="Times New Roman"/>
                <a:sym typeface="Times New Roman"/>
              </a:rPr>
              <a:t>Analysis of the ALD-grown Al₂O₃ sample</a:t>
            </a:r>
            <a:endParaRPr b="1" i="0" sz="3200" u="none" cap="none" strike="noStrike">
              <a:solidFill>
                <a:schemeClr val="dk1"/>
              </a:solidFill>
              <a:latin typeface="Times New Roman"/>
              <a:ea typeface="Times New Roman"/>
              <a:cs typeface="Times New Roman"/>
              <a:sym typeface="Times New Roman"/>
            </a:endParaRPr>
          </a:p>
        </p:txBody>
      </p:sp>
      <p:cxnSp>
        <p:nvCxnSpPr>
          <p:cNvPr id="1219" name="Google Shape;1219;g3a60c6796b4_0_62"/>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220" name="Google Shape;1220;g3a60c6796b4_0_6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21" name="Google Shape;1221;g3a60c6796b4_0_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22" name="Google Shape;1222;g3a60c6796b4_0_62"/>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23" name="Google Shape;1223;g3a60c6796b4_0_62"/>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24" name="Google Shape;1224;g3a60c6796b4_0_62"/>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25" name="Google Shape;1225;g3a60c6796b4_0_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26" name="Google Shape;1226;g3a60c6796b4_0_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27" name="Google Shape;1227;g3a60c6796b4_0_6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28" name="Google Shape;1228;g3a60c6796b4_0_62"/>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29" name="Google Shape;1229;g3a60c6796b4_0_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30" name="Google Shape;1230;g3a60c6796b4_0_62"/>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31" name="Google Shape;1231;g3a60c6796b4_0_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32" name="Google Shape;1232;g3a60c6796b4_0_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33" name="Google Shape;1233;g3a60c6796b4_0_62"/>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234" name="Google Shape;1234;g3a60c6796b4_0_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35" name="Google Shape;1235;g3a60c6796b4_0_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36" name="Google Shape;1236;g3a60c6796b4_0_62"/>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237" name="Google Shape;1237;g3a60c6796b4_0_62"/>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38" name="Google Shape;1238;g3a60c6796b4_0_62"/>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39" name="Google Shape;1239;g3a60c6796b4_0_62"/>
          <p:cNvPicPr preferRelativeResize="0"/>
          <p:nvPr/>
        </p:nvPicPr>
        <p:blipFill>
          <a:blip r:embed="rId10">
            <a:alphaModFix/>
          </a:blip>
          <a:stretch>
            <a:fillRect/>
          </a:stretch>
        </p:blipFill>
        <p:spPr>
          <a:xfrm>
            <a:off x="4542426" y="2426175"/>
            <a:ext cx="3265549" cy="4313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pic>
        <p:nvPicPr>
          <p:cNvPr id="1244" name="Google Shape;1244;g3a60c6796b4_0_91"/>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245" name="Google Shape;1245;g3a60c6796b4_0_9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46" name="Google Shape;1246;g3a60c6796b4_0_9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247" name="Google Shape;1247;g3a60c6796b4_0_91"/>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b="1" lang="en-US" sz="3200">
                <a:solidFill>
                  <a:schemeClr val="dk1"/>
                </a:solidFill>
                <a:latin typeface="Times New Roman"/>
                <a:ea typeface="Times New Roman"/>
                <a:cs typeface="Times New Roman"/>
                <a:sym typeface="Times New Roman"/>
              </a:rPr>
              <a:t>Observation of damaged metal electrode pads</a:t>
            </a:r>
            <a:endParaRPr b="1" sz="2600">
              <a:solidFill>
                <a:schemeClr val="dk1"/>
              </a:solidFill>
              <a:latin typeface="Times New Roman"/>
              <a:ea typeface="Times New Roman"/>
              <a:cs typeface="Times New Roman"/>
              <a:sym typeface="Times New Roman"/>
            </a:endParaRPr>
          </a:p>
        </p:txBody>
      </p:sp>
      <p:cxnSp>
        <p:nvCxnSpPr>
          <p:cNvPr id="1248" name="Google Shape;1248;g3a60c6796b4_0_91"/>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249" name="Google Shape;1249;g3a60c6796b4_0_9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50" name="Google Shape;1250;g3a60c6796b4_0_9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51" name="Google Shape;1251;g3a60c6796b4_0_9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52" name="Google Shape;1252;g3a60c6796b4_0_9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53" name="Google Shape;1253;g3a60c6796b4_0_9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54" name="Google Shape;1254;g3a60c6796b4_0_91"/>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55" name="Google Shape;1255;g3a60c6796b4_0_91"/>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sp>
        <p:nvSpPr>
          <p:cNvPr id="1256" name="Google Shape;1256;g3a60c6796b4_0_91"/>
          <p:cNvSpPr txBox="1"/>
          <p:nvPr/>
        </p:nvSpPr>
        <p:spPr>
          <a:xfrm>
            <a:off x="244450" y="1127300"/>
            <a:ext cx="7346700" cy="45417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During hard breakdown, current is forced through a highly localized conductive filament in the oxide, producing extreme local power density and Joule heating that can partially melt or reflow the thin gate metal, leaving burnt or roughened regions on the pad.</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Large, localized current densities drive electromigration and thermal-mechanical stress in the metal film, which can generate voids, hillocks, cracking or partial delamination of the electrode near the breakdown site.</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1000"/>
              </a:spcAft>
              <a:buClr>
                <a:schemeClr val="dk1"/>
              </a:buClr>
              <a:buSzPts val="1800"/>
              <a:buFont typeface="Georgia"/>
              <a:buChar char="●"/>
            </a:pPr>
            <a:r>
              <a:rPr lang="en-US" sz="1800">
                <a:solidFill>
                  <a:schemeClr val="dk1"/>
                </a:solidFill>
                <a:latin typeface="Georgia"/>
                <a:ea typeface="Georgia"/>
                <a:cs typeface="Georgia"/>
                <a:sym typeface="Georgia"/>
              </a:rPr>
              <a:t>Sudden breakdown events can resemble micro-ESD (electrostatic discharge), creating small craters or lifted areas on the metal pads in combination with repeated mechanical probing, which explains the visibly damaged contacts after electrical characterization. </a:t>
            </a:r>
            <a:endParaRPr sz="2000">
              <a:solidFill>
                <a:schemeClr val="dk1"/>
              </a:solidFill>
              <a:latin typeface="Georgia"/>
              <a:ea typeface="Georgia"/>
              <a:cs typeface="Georgia"/>
              <a:sym typeface="Georgia"/>
            </a:endParaRPr>
          </a:p>
        </p:txBody>
      </p:sp>
      <p:pic>
        <p:nvPicPr>
          <p:cNvPr id="1257" name="Google Shape;1257;g3a60c6796b4_0_91"/>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58" name="Google Shape;1258;g3a60c6796b4_0_9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59" name="Google Shape;1259;g3a60c6796b4_0_9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60" name="Google Shape;1260;g3a60c6796b4_0_9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61" name="Google Shape;1261;g3a60c6796b4_0_91"/>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2" name="Google Shape;1262;g3a60c6796b4_0_9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63" name="Google Shape;1263;g3a60c6796b4_0_91"/>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64" name="Google Shape;1264;g3a60c6796b4_0_9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5" name="Google Shape;1265;g3a60c6796b4_0_9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66" name="Google Shape;1266;g3a60c6796b4_0_91"/>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267" name="Google Shape;1267;g3a60c6796b4_0_9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68" name="Google Shape;1268;g3a60c6796b4_0_9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69" name="Google Shape;1269;g3a60c6796b4_0_91"/>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270" name="Google Shape;1270;g3a60c6796b4_0_91"/>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271" name="Google Shape;1271;g3a60c6796b4_0_91"/>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72" name="Google Shape;1272;g3a60c6796b4_0_91"/>
          <p:cNvPicPr preferRelativeResize="0"/>
          <p:nvPr/>
        </p:nvPicPr>
        <p:blipFill rotWithShape="1">
          <a:blip r:embed="rId10">
            <a:alphaModFix/>
          </a:blip>
          <a:srcRect b="0" l="0" r="47641" t="0"/>
          <a:stretch/>
        </p:blipFill>
        <p:spPr>
          <a:xfrm>
            <a:off x="8581548" y="3132910"/>
            <a:ext cx="3610459" cy="3037382"/>
          </a:xfrm>
          <a:prstGeom prst="rect">
            <a:avLst/>
          </a:prstGeom>
          <a:noFill/>
          <a:ln>
            <a:noFill/>
          </a:ln>
        </p:spPr>
      </p:pic>
      <p:pic>
        <p:nvPicPr>
          <p:cNvPr id="1273" name="Google Shape;1273;g3a60c6796b4_0_91"/>
          <p:cNvPicPr preferRelativeResize="0"/>
          <p:nvPr/>
        </p:nvPicPr>
        <p:blipFill rotWithShape="1">
          <a:blip r:embed="rId10">
            <a:alphaModFix/>
          </a:blip>
          <a:srcRect b="0" l="57830" r="0" t="0"/>
          <a:stretch/>
        </p:blipFill>
        <p:spPr>
          <a:xfrm>
            <a:off x="8932831" y="54528"/>
            <a:ext cx="2907883" cy="303738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pic>
        <p:nvPicPr>
          <p:cNvPr id="1278" name="Google Shape;1278;g3af740ee302_1_27"/>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279" name="Google Shape;1279;g3af740ee302_1_2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80" name="Google Shape;1280;g3af740ee302_1_2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281" name="Google Shape;1281;g3af740ee302_1_27"/>
          <p:cNvSpPr txBox="1"/>
          <p:nvPr/>
        </p:nvSpPr>
        <p:spPr>
          <a:xfrm>
            <a:off x="0" y="0"/>
            <a:ext cx="12192000" cy="585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3200"/>
              <a:buFont typeface="Arial"/>
              <a:buNone/>
            </a:pPr>
            <a:r>
              <a:rPr b="1" lang="en-US" sz="3200">
                <a:solidFill>
                  <a:schemeClr val="dk1"/>
                </a:solidFill>
                <a:latin typeface="Times New Roman"/>
                <a:ea typeface="Times New Roman"/>
                <a:cs typeface="Times New Roman"/>
                <a:sym typeface="Times New Roman"/>
              </a:rPr>
              <a:t>Thickness deviation in e-beam-evaporated Ta₂O₅  </a:t>
            </a:r>
            <a:endParaRPr b="1" sz="2600">
              <a:solidFill>
                <a:schemeClr val="dk1"/>
              </a:solidFill>
              <a:latin typeface="Times New Roman"/>
              <a:ea typeface="Times New Roman"/>
              <a:cs typeface="Times New Roman"/>
              <a:sym typeface="Times New Roman"/>
            </a:endParaRPr>
          </a:p>
        </p:txBody>
      </p:sp>
      <p:cxnSp>
        <p:nvCxnSpPr>
          <p:cNvPr id="1282" name="Google Shape;1282;g3af740ee302_1_27"/>
          <p:cNvCxnSpPr/>
          <p:nvPr/>
        </p:nvCxnSpPr>
        <p:spPr>
          <a:xfrm flipH="1" rot="10800000">
            <a:off x="6" y="654189"/>
            <a:ext cx="6318000" cy="30600"/>
          </a:xfrm>
          <a:prstGeom prst="straightConnector1">
            <a:avLst/>
          </a:prstGeom>
          <a:noFill/>
          <a:ln cap="flat" cmpd="sng" w="9525">
            <a:solidFill>
              <a:srgbClr val="0E4D3B"/>
            </a:solidFill>
            <a:prstDash val="solid"/>
            <a:miter lim="800000"/>
            <a:headEnd len="sm" w="sm" type="none"/>
            <a:tailEnd len="sm" w="sm" type="none"/>
          </a:ln>
        </p:spPr>
      </p:cxnSp>
      <p:pic>
        <p:nvPicPr>
          <p:cNvPr id="1283" name="Google Shape;1283;g3af740ee302_1_2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84" name="Google Shape;1284;g3af740ee302_1_2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85" name="Google Shape;1285;g3af740ee302_1_2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86" name="Google Shape;1286;g3af740ee302_1_2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287" name="Google Shape;1287;g3af740ee302_1_2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88" name="Google Shape;1288;g3af740ee302_1_27"/>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289" name="Google Shape;1289;g3af740ee302_1_27"/>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sp>
        <p:nvSpPr>
          <p:cNvPr id="1290" name="Google Shape;1290;g3af740ee302_1_27"/>
          <p:cNvSpPr txBox="1"/>
          <p:nvPr/>
        </p:nvSpPr>
        <p:spPr>
          <a:xfrm>
            <a:off x="535500" y="1116525"/>
            <a:ext cx="11121000" cy="43515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The target thickness of 10 nm and the measured value of 25 nm suggest a substantial error in the deposition calibration, e.g. incorrect quartz-crystal microbalance settings, wrong density/tooling factor, or an unaccounted increase in deposition rate during the e-beam run.</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Additional material-related effects, such as non-stoichiometric evaporation followed by post-deposition oxidation, can change the film density and volume, making the physical thickness larger than predicted from mass-per-area alone.</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0"/>
              </a:spcAft>
              <a:buClr>
                <a:schemeClr val="dk1"/>
              </a:buClr>
              <a:buSzPts val="1800"/>
              <a:buFont typeface="Georgia"/>
              <a:buChar char="●"/>
            </a:pPr>
            <a:r>
              <a:rPr lang="en-US" sz="1800">
                <a:solidFill>
                  <a:schemeClr val="dk1"/>
                </a:solidFill>
                <a:latin typeface="Georgia"/>
                <a:ea typeface="Georgia"/>
                <a:cs typeface="Georgia"/>
                <a:sym typeface="Georgia"/>
              </a:rPr>
              <a:t>Thickness metrology can also contribute: ellipsometric fits that use inaccurate optical constants or oversimplified layer models, or profilometry across steps that include resist residues or multiple layers, can all inflate the apparent Ta₂O₅ thickness.</a:t>
            </a:r>
            <a:endParaRPr sz="1800">
              <a:solidFill>
                <a:schemeClr val="dk1"/>
              </a:solidFill>
              <a:latin typeface="Georgia"/>
              <a:ea typeface="Georgia"/>
              <a:cs typeface="Georgia"/>
              <a:sym typeface="Georgia"/>
            </a:endParaRPr>
          </a:p>
          <a:p>
            <a:pPr indent="-342900" lvl="0" marL="457200" marR="0" rtl="0" algn="l">
              <a:lnSpc>
                <a:spcPct val="115000"/>
              </a:lnSpc>
              <a:spcBef>
                <a:spcPts val="1000"/>
              </a:spcBef>
              <a:spcAft>
                <a:spcPts val="1000"/>
              </a:spcAft>
              <a:buClr>
                <a:schemeClr val="dk1"/>
              </a:buClr>
              <a:buSzPts val="1800"/>
              <a:buFont typeface="Georgia"/>
              <a:buChar char="●"/>
            </a:pPr>
            <a:r>
              <a:rPr lang="en-US" sz="1800">
                <a:solidFill>
                  <a:schemeClr val="dk1"/>
                </a:solidFill>
                <a:latin typeface="Georgia"/>
                <a:ea typeface="Georgia"/>
                <a:cs typeface="Georgia"/>
                <a:sym typeface="Georgia"/>
              </a:rPr>
              <a:t>Overall, the 25 nm result is consistent with a combination of deposition-rate miscalibration and modeling/measurement uncertainties, rather than with the intended, correctly controlled 10 nm process.</a:t>
            </a:r>
            <a:endParaRPr sz="2000">
              <a:solidFill>
                <a:schemeClr val="dk1"/>
              </a:solidFill>
              <a:latin typeface="Georgia"/>
              <a:ea typeface="Georgia"/>
              <a:cs typeface="Georgia"/>
              <a:sym typeface="Georgia"/>
            </a:endParaRPr>
          </a:p>
        </p:txBody>
      </p:sp>
      <p:pic>
        <p:nvPicPr>
          <p:cNvPr id="1291" name="Google Shape;1291;g3af740ee302_1_27"/>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292" name="Google Shape;1292;g3af740ee302_1_2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93" name="Google Shape;1293;g3af740ee302_1_2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94" name="Google Shape;1294;g3af740ee302_1_2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95" name="Google Shape;1295;g3af740ee302_1_27"/>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96" name="Google Shape;1296;g3af740ee302_1_2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297" name="Google Shape;1297;g3af740ee302_1_27"/>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298" name="Google Shape;1298;g3af740ee302_1_2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299" name="Google Shape;1299;g3af740ee302_1_2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300" name="Google Shape;1300;g3af740ee302_1_27"/>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301" name="Google Shape;1301;g3af740ee302_1_2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302" name="Google Shape;1302;g3af740ee302_1_2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03" name="Google Shape;1303;g3af740ee302_1_27"/>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304" name="Google Shape;1304;g3af740ee302_1_27"/>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305" name="Google Shape;1305;g3af740ee302_1_27"/>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pic>
        <p:nvPicPr>
          <p:cNvPr id="1310" name="Google Shape;1310;g39a284b7f17_9_4"/>
          <p:cNvPicPr preferRelativeResize="0"/>
          <p:nvPr/>
        </p:nvPicPr>
        <p:blipFill rotWithShape="1">
          <a:blip r:embed="rId3">
            <a:alphaModFix/>
          </a:blip>
          <a:srcRect b="0" l="0" r="0" t="0"/>
          <a:stretch/>
        </p:blipFill>
        <p:spPr>
          <a:xfrm>
            <a:off x="-4" y="6211289"/>
            <a:ext cx="12192003" cy="1285104"/>
          </a:xfrm>
          <a:prstGeom prst="rect">
            <a:avLst/>
          </a:prstGeom>
          <a:noFill/>
          <a:ln>
            <a:noFill/>
          </a:ln>
        </p:spPr>
      </p:pic>
      <p:pic>
        <p:nvPicPr>
          <p:cNvPr id="1311" name="Google Shape;1311;g39a284b7f17_9_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312" name="Google Shape;1312;g39a284b7f17_9_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sp>
        <p:nvSpPr>
          <p:cNvPr id="1313" name="Google Shape;1313;g39a284b7f17_9_4"/>
          <p:cNvSpPr txBox="1"/>
          <p:nvPr/>
        </p:nvSpPr>
        <p:spPr>
          <a:xfrm>
            <a:off x="2481300" y="1296725"/>
            <a:ext cx="7229400" cy="16446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6600"/>
              <a:buFont typeface="Arial"/>
              <a:buNone/>
            </a:pPr>
            <a:r>
              <a:rPr lang="en-US" sz="6600">
                <a:solidFill>
                  <a:schemeClr val="dk1"/>
                </a:solidFill>
                <a:latin typeface="Georgia"/>
                <a:ea typeface="Georgia"/>
                <a:cs typeface="Georgia"/>
                <a:sym typeface="Georgia"/>
              </a:rPr>
              <a:t>Thank You !!</a:t>
            </a:r>
            <a:endParaRPr b="0" i="0" sz="6600" u="none" cap="none" strike="noStrike">
              <a:solidFill>
                <a:schemeClr val="dk1"/>
              </a:solidFill>
              <a:latin typeface="Georgia"/>
              <a:ea typeface="Georgia"/>
              <a:cs typeface="Georgia"/>
              <a:sym typeface="Georgia"/>
            </a:endParaRPr>
          </a:p>
        </p:txBody>
      </p:sp>
      <p:pic>
        <p:nvPicPr>
          <p:cNvPr id="1314" name="Google Shape;1314;g39a284b7f17_9_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315" name="Google Shape;1315;g39a284b7f17_9_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316" name="Google Shape;1316;g39a284b7f17_9_4"/>
          <p:cNvSpPr txBox="1"/>
          <p:nvPr/>
        </p:nvSpPr>
        <p:spPr>
          <a:xfrm>
            <a:off x="-1" y="6288587"/>
            <a:ext cx="598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Term Paper Presentation | Ronit Dutta</a:t>
            </a:r>
            <a:endParaRPr b="0" i="0" sz="1800" u="none" cap="none" strike="noStrike">
              <a:solidFill>
                <a:schemeClr val="lt1"/>
              </a:solidFill>
              <a:latin typeface="Times New Roman"/>
              <a:ea typeface="Times New Roman"/>
              <a:cs typeface="Times New Roman"/>
              <a:sym typeface="Times New Roman"/>
            </a:endParaRPr>
          </a:p>
        </p:txBody>
      </p:sp>
      <p:pic>
        <p:nvPicPr>
          <p:cNvPr id="1317" name="Google Shape;1317;g39a284b7f17_9_4"/>
          <p:cNvPicPr preferRelativeResize="0"/>
          <p:nvPr/>
        </p:nvPicPr>
        <p:blipFill rotWithShape="1">
          <a:blip r:embed="rId5">
            <a:alphaModFix/>
          </a:blip>
          <a:srcRect b="0" l="0" r="0" t="0"/>
          <a:stretch/>
        </p:blipFill>
        <p:spPr>
          <a:xfrm>
            <a:off x="-4" y="6211289"/>
            <a:ext cx="12192003" cy="1285104"/>
          </a:xfrm>
          <a:prstGeom prst="rect">
            <a:avLst/>
          </a:prstGeom>
          <a:noFill/>
          <a:ln>
            <a:noFill/>
          </a:ln>
        </p:spPr>
      </p:pic>
      <p:pic>
        <p:nvPicPr>
          <p:cNvPr id="1318" name="Google Shape;1318;g39a284b7f17_9_4"/>
          <p:cNvPicPr preferRelativeResize="0"/>
          <p:nvPr/>
        </p:nvPicPr>
        <p:blipFill rotWithShape="1">
          <a:blip r:embed="rId4">
            <a:alphaModFix/>
          </a:blip>
          <a:srcRect b="0" l="0" r="0" t="0"/>
          <a:stretch/>
        </p:blipFill>
        <p:spPr>
          <a:xfrm>
            <a:off x="10590934" y="6330522"/>
            <a:ext cx="1499906" cy="585000"/>
          </a:xfrm>
          <a:prstGeom prst="rect">
            <a:avLst/>
          </a:prstGeom>
          <a:noFill/>
          <a:ln>
            <a:noFill/>
          </a:ln>
        </p:spPr>
      </p:pic>
      <p:sp>
        <p:nvSpPr>
          <p:cNvPr id="1319" name="Google Shape;1319;g39a284b7f17_9_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20" name="Google Shape;1320;g39a284b7f17_9_4"/>
          <p:cNvPicPr preferRelativeResize="0"/>
          <p:nvPr/>
        </p:nvPicPr>
        <p:blipFill rotWithShape="1">
          <a:blip r:embed="rId6">
            <a:alphaModFix/>
          </a:blip>
          <a:srcRect b="0" l="0" r="0" t="0"/>
          <a:stretch/>
        </p:blipFill>
        <p:spPr>
          <a:xfrm>
            <a:off x="10590875" y="6341462"/>
            <a:ext cx="1500023" cy="585000"/>
          </a:xfrm>
          <a:prstGeom prst="rect">
            <a:avLst/>
          </a:prstGeom>
          <a:noFill/>
          <a:ln>
            <a:noFill/>
          </a:ln>
        </p:spPr>
      </p:pic>
      <p:pic>
        <p:nvPicPr>
          <p:cNvPr id="1321" name="Google Shape;1321;g39a284b7f17_9_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322" name="Google Shape;1322;g39a284b7f17_9_4"/>
          <p:cNvSpPr txBox="1"/>
          <p:nvPr/>
        </p:nvSpPr>
        <p:spPr>
          <a:xfrm>
            <a:off x="-1" y="6288587"/>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23" name="Google Shape;1323;g39a284b7f17_9_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324" name="Google Shape;1324;g39a284b7f17_9_4"/>
          <p:cNvPicPr preferRelativeResize="0"/>
          <p:nvPr/>
        </p:nvPicPr>
        <p:blipFill rotWithShape="1">
          <a:blip r:embed="rId7">
            <a:alphaModFix/>
          </a:blip>
          <a:srcRect b="0" l="0" r="0" t="0"/>
          <a:stretch/>
        </p:blipFill>
        <p:spPr>
          <a:xfrm>
            <a:off x="-4" y="6211289"/>
            <a:ext cx="12192003" cy="1285104"/>
          </a:xfrm>
          <a:prstGeom prst="rect">
            <a:avLst/>
          </a:prstGeom>
          <a:noFill/>
          <a:ln>
            <a:noFill/>
          </a:ln>
        </p:spPr>
      </p:pic>
      <p:sp>
        <p:nvSpPr>
          <p:cNvPr id="1325" name="Google Shape;1325;g39a284b7f17_9_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Times New Roman"/>
                <a:ea typeface="Times New Roman"/>
                <a:cs typeface="Times New Roman"/>
                <a:sym typeface="Times New Roman"/>
              </a:rPr>
              <a:t>Machine Learning Professional</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26" name="Google Shape;1326;g39a284b7f17_9_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pic>
        <p:nvPicPr>
          <p:cNvPr id="1327" name="Google Shape;1327;g39a284b7f17_9_4"/>
          <p:cNvPicPr preferRelativeResize="0"/>
          <p:nvPr/>
        </p:nvPicPr>
        <p:blipFill rotWithShape="1">
          <a:blip r:embed="rId8">
            <a:alphaModFix/>
          </a:blip>
          <a:srcRect b="0" l="0" r="0" t="0"/>
          <a:stretch/>
        </p:blipFill>
        <p:spPr>
          <a:xfrm>
            <a:off x="-4" y="6211289"/>
            <a:ext cx="12192003" cy="1285104"/>
          </a:xfrm>
          <a:prstGeom prst="rect">
            <a:avLst/>
          </a:prstGeom>
          <a:noFill/>
          <a:ln>
            <a:noFill/>
          </a:ln>
        </p:spPr>
      </p:pic>
      <p:pic>
        <p:nvPicPr>
          <p:cNvPr id="1328" name="Google Shape;1328;g39a284b7f17_9_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329" name="Google Shape;1329;g39a284b7f17_9_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pic>
        <p:nvPicPr>
          <p:cNvPr id="1330" name="Google Shape;1330;g39a284b7f17_9_4"/>
          <p:cNvPicPr preferRelativeResize="0"/>
          <p:nvPr/>
        </p:nvPicPr>
        <p:blipFill rotWithShape="1">
          <a:blip r:embed="rId9">
            <a:alphaModFix/>
          </a:blip>
          <a:srcRect b="0" l="0" r="0" t="0"/>
          <a:stretch/>
        </p:blipFill>
        <p:spPr>
          <a:xfrm>
            <a:off x="-4" y="6211289"/>
            <a:ext cx="12192003" cy="1285104"/>
          </a:xfrm>
          <a:prstGeom prst="rect">
            <a:avLst/>
          </a:prstGeom>
          <a:noFill/>
          <a:ln>
            <a:noFill/>
          </a:ln>
        </p:spPr>
      </p:pic>
      <p:pic>
        <p:nvPicPr>
          <p:cNvPr id="1331" name="Google Shape;1331;g39a284b7f17_9_4"/>
          <p:cNvPicPr preferRelativeResize="0"/>
          <p:nvPr/>
        </p:nvPicPr>
        <p:blipFill rotWithShape="1">
          <a:blip r:embed="rId6">
            <a:alphaModFix/>
          </a:blip>
          <a:srcRect b="0" l="0" r="0" t="0"/>
          <a:stretch/>
        </p:blipFill>
        <p:spPr>
          <a:xfrm>
            <a:off x="10590875" y="6330524"/>
            <a:ext cx="1500023" cy="585000"/>
          </a:xfrm>
          <a:prstGeom prst="rect">
            <a:avLst/>
          </a:prstGeom>
          <a:noFill/>
          <a:ln>
            <a:noFill/>
          </a:ln>
        </p:spPr>
      </p:pic>
      <p:sp>
        <p:nvSpPr>
          <p:cNvPr id="1332" name="Google Shape;1332;g39a284b7f17_9_4"/>
          <p:cNvSpPr txBox="1"/>
          <p:nvPr/>
        </p:nvSpPr>
        <p:spPr>
          <a:xfrm>
            <a:off x="-1" y="6234672"/>
            <a:ext cx="5981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lt1"/>
                </a:solidFill>
                <a:latin typeface="Times New Roman"/>
                <a:ea typeface="Times New Roman"/>
                <a:cs typeface="Times New Roman"/>
                <a:sym typeface="Times New Roman"/>
              </a:rPr>
              <a:t>Nanoelectronics</a:t>
            </a:r>
            <a:br>
              <a:rPr b="0" i="0" lang="en-US" sz="1800" u="none" cap="none" strike="noStrike">
                <a:solidFill>
                  <a:schemeClr val="lt1"/>
                </a:solidFill>
                <a:latin typeface="Times New Roman"/>
                <a:ea typeface="Times New Roman"/>
                <a:cs typeface="Times New Roman"/>
                <a:sym typeface="Times New Roman"/>
              </a:rPr>
            </a:br>
            <a:r>
              <a:rPr b="0" i="0" lang="en-US" sz="1800" u="none" cap="none" strike="noStrike">
                <a:solidFill>
                  <a:schemeClr val="lt1"/>
                </a:solidFill>
                <a:latin typeface="Times New Roman"/>
                <a:ea typeface="Times New Roman"/>
                <a:cs typeface="Times New Roman"/>
                <a:sym typeface="Times New Roman"/>
              </a:rPr>
              <a:t>Project Presentation</a:t>
            </a:r>
            <a:endParaRPr b="0" i="0" sz="1800" u="none" cap="none" strike="noStrike">
              <a:solidFill>
                <a:schemeClr val="lt1"/>
              </a:solidFill>
              <a:latin typeface="Times New Roman"/>
              <a:ea typeface="Times New Roman"/>
              <a:cs typeface="Times New Roman"/>
              <a:sym typeface="Times New Roman"/>
            </a:endParaRPr>
          </a:p>
        </p:txBody>
      </p:sp>
      <p:sp>
        <p:nvSpPr>
          <p:cNvPr id="1333" name="Google Shape;1333;g39a284b7f17_9_4"/>
          <p:cNvSpPr txBox="1"/>
          <p:nvPr/>
        </p:nvSpPr>
        <p:spPr>
          <a:xfrm>
            <a:off x="2481300" y="3493950"/>
            <a:ext cx="7229400" cy="16446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6600"/>
              <a:buFont typeface="Arial"/>
              <a:buNone/>
            </a:pPr>
            <a:r>
              <a:rPr b="0" i="0" lang="en-US" sz="6600" u="none" cap="none" strike="noStrike">
                <a:solidFill>
                  <a:schemeClr val="dk1"/>
                </a:solidFill>
                <a:latin typeface="Georgia"/>
                <a:ea typeface="Georgia"/>
                <a:cs typeface="Georgia"/>
                <a:sym typeface="Georgia"/>
              </a:rPr>
              <a:t>Q&amp;A</a:t>
            </a:r>
            <a:endParaRPr b="0" i="0" sz="6600" u="none" cap="none" strike="noStrike">
              <a:solidFill>
                <a:schemeClr val="dk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2022-11-19T15:54:29Z</dcterms:created>
  <dc:creator>Shobhit Saheb Dey</dc:creator>
</cp:coreProperties>
</file>